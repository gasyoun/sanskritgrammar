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09" r:id="rId6"/>
    <p:sldId id="304" r:id="rId7"/>
    <p:sldId id="307" r:id="rId8"/>
    <p:sldId id="305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303" r:id="rId48"/>
    <p:sldId id="299" r:id="rId49"/>
    <p:sldId id="300" r:id="rId50"/>
    <p:sldId id="308" r:id="rId51"/>
    <p:sldId id="301" r:id="rId52"/>
    <p:sldId id="302" r:id="rId5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106" d="100"/>
          <a:sy n="106" d="100"/>
        </p:scale>
        <p:origin x="180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" y="6238494"/>
            <a:ext cx="9143365" cy="619760"/>
          </a:xfrm>
          <a:custGeom>
            <a:avLst/>
            <a:gdLst/>
            <a:ahLst/>
            <a:cxnLst/>
            <a:rect l="l" t="t" r="r" b="b"/>
            <a:pathLst>
              <a:path w="9143365" h="619759">
                <a:moveTo>
                  <a:pt x="9143238" y="0"/>
                </a:moveTo>
                <a:lnTo>
                  <a:pt x="0" y="0"/>
                </a:lnTo>
                <a:lnTo>
                  <a:pt x="0" y="619505"/>
                </a:lnTo>
                <a:lnTo>
                  <a:pt x="9143238" y="619505"/>
                </a:lnTo>
                <a:lnTo>
                  <a:pt x="9143238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" y="6238494"/>
            <a:ext cx="9144000" cy="620395"/>
          </a:xfrm>
          <a:custGeom>
            <a:avLst/>
            <a:gdLst/>
            <a:ahLst/>
            <a:cxnLst/>
            <a:rect l="l" t="t" r="r" b="b"/>
            <a:pathLst>
              <a:path w="9144000" h="620395">
                <a:moveTo>
                  <a:pt x="0" y="0"/>
                </a:moveTo>
                <a:lnTo>
                  <a:pt x="9144000" y="0"/>
                </a:lnTo>
                <a:lnTo>
                  <a:pt x="9144000" y="620267"/>
                </a:lnTo>
                <a:lnTo>
                  <a:pt x="0" y="620267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483" y="461581"/>
            <a:ext cx="802005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20877"/>
            <a:ext cx="6599555" cy="419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2251" y="6463728"/>
            <a:ext cx="448691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buddhism-dict.net/ddb/monier-" TargetMode="External"/><Relationship Id="rId2" Type="http://schemas.openxmlformats.org/officeDocument/2006/relationships/hyperlink" Target="https://sanskrit.inria.fr/MW/1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uninst.net/SED-MW/download-prem/a.htm%202003" TargetMode="External"/><Relationship Id="rId4" Type="http://schemas.openxmlformats.org/officeDocument/2006/relationships/hyperlink" Target="https://hu.wiktionary.org/wiki/F%C3%BCggel%C3%A9k:Szanszkrit-English/a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ninst.net/SED-MW/download-prem/a.htm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vedaweb.uni-koeln.de/rigveda/view/index/0" TargetMode="External"/><Relationship Id="rId2" Type="http://schemas.openxmlformats.org/officeDocument/2006/relationships/hyperlink" Target="http://sanskrit-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ws.uzi.uni-halle.de/" TargetMode="External"/><Relationship Id="rId4" Type="http://schemas.openxmlformats.org/officeDocument/2006/relationships/hyperlink" Target="https://ambuda.org/texts/ramayanam/6.43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52046" y="2166937"/>
            <a:ext cx="483870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225" marR="5080" indent="-264160" algn="ctr">
              <a:lnSpc>
                <a:spcPct val="100000"/>
              </a:lnSpc>
              <a:spcBef>
                <a:spcPts val="105"/>
              </a:spcBef>
            </a:pPr>
            <a:r>
              <a:rPr lang="en-US" sz="4400" dirty="0">
                <a:solidFill>
                  <a:srgbClr val="FFFFFF"/>
                </a:solidFill>
                <a:latin typeface="Arial"/>
                <a:cs typeface="Arial"/>
              </a:rPr>
              <a:t>The Development of Cologne Digital Lexicons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61746" y="5450146"/>
            <a:ext cx="2381854" cy="96936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31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  <a:cs typeface="Arial"/>
              </a:rPr>
              <a:t>Mārcis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 err="1">
                <a:solidFill>
                  <a:srgbClr val="FFFFFF"/>
                </a:solidFill>
                <a:latin typeface="Arial"/>
                <a:cs typeface="Arial"/>
              </a:rPr>
              <a:t>Gasūns</a:t>
            </a:r>
            <a:br>
              <a:rPr lang="en-US" sz="180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1800" dirty="0">
                <a:solidFill>
                  <a:srgbClr val="FFFFFF"/>
                </a:solidFill>
                <a:latin typeface="Arial"/>
                <a:cs typeface="Arial"/>
              </a:rPr>
              <a:t> 7</a:t>
            </a:r>
            <a:r>
              <a:rPr lang="en-US" baseline="30000" dirty="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 ISCLS, </a:t>
            </a:r>
            <a:r>
              <a:rPr lang="en-US" sz="1800" dirty="0" err="1">
                <a:solidFill>
                  <a:srgbClr val="FFFFFF"/>
                </a:solidFill>
                <a:latin typeface="Arial"/>
                <a:cs typeface="Arial"/>
              </a:rPr>
              <a:t>Auroville</a:t>
            </a:r>
            <a:endParaRPr lang="en-US" sz="18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110000"/>
              </a:lnSpc>
              <a:spcBef>
                <a:spcPts val="315"/>
              </a:spcBef>
            </a:pPr>
            <a:r>
              <a:rPr lang="en-US" sz="1800" dirty="0">
                <a:solidFill>
                  <a:srgbClr val="FFFFFF"/>
                </a:solidFill>
                <a:latin typeface="Arial"/>
                <a:cs typeface="Arial"/>
              </a:rPr>
              <a:t>16.02.2024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191" y="0"/>
            <a:ext cx="9170035" cy="6871970"/>
            <a:chOff x="-12191" y="0"/>
            <a:chExt cx="9170035" cy="6871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2194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2" y="6238494"/>
              <a:ext cx="9143365" cy="619760"/>
            </a:xfrm>
            <a:custGeom>
              <a:avLst/>
              <a:gdLst/>
              <a:ahLst/>
              <a:cxnLst/>
              <a:rect l="l" t="t" r="r" b="b"/>
              <a:pathLst>
                <a:path w="9143365" h="619759">
                  <a:moveTo>
                    <a:pt x="9143238" y="0"/>
                  </a:moveTo>
                  <a:lnTo>
                    <a:pt x="0" y="0"/>
                  </a:lnTo>
                  <a:lnTo>
                    <a:pt x="0" y="619505"/>
                  </a:lnTo>
                  <a:lnTo>
                    <a:pt x="9143238" y="619505"/>
                  </a:lnTo>
                  <a:lnTo>
                    <a:pt x="9143238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" y="6238494"/>
              <a:ext cx="9144000" cy="620395"/>
            </a:xfrm>
            <a:custGeom>
              <a:avLst/>
              <a:gdLst/>
              <a:ahLst/>
              <a:cxnLst/>
              <a:rect l="l" t="t" r="r" b="b"/>
              <a:pathLst>
                <a:path w="9144000" h="620395">
                  <a:moveTo>
                    <a:pt x="0" y="0"/>
                  </a:moveTo>
                  <a:lnTo>
                    <a:pt x="9144000" y="0"/>
                  </a:lnTo>
                  <a:lnTo>
                    <a:pt x="9144000" y="620267"/>
                  </a:lnTo>
                  <a:lnTo>
                    <a:pt x="0" y="620267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61802" y="461581"/>
            <a:ext cx="2525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376092"/>
                </a:solidFill>
                <a:latin typeface="Calibri"/>
                <a:cs typeface="Calibri"/>
              </a:rPr>
              <a:t>Who</a:t>
            </a:r>
            <a:r>
              <a:rPr sz="4400" b="1" spc="-15" dirty="0">
                <a:solidFill>
                  <a:srgbClr val="376092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376092"/>
                </a:solidFill>
                <a:latin typeface="Calibri"/>
                <a:cs typeface="Calibri"/>
              </a:rPr>
              <a:t>am</a:t>
            </a:r>
            <a:r>
              <a:rPr sz="4400" b="1" spc="5" dirty="0">
                <a:solidFill>
                  <a:srgbClr val="376092"/>
                </a:solidFill>
                <a:latin typeface="Calibri"/>
                <a:cs typeface="Calibri"/>
              </a:rPr>
              <a:t> </a:t>
            </a:r>
            <a:r>
              <a:rPr sz="4400" b="1" spc="-25" dirty="0">
                <a:solidFill>
                  <a:srgbClr val="376092"/>
                </a:solidFill>
                <a:latin typeface="Calibri"/>
                <a:cs typeface="Calibri"/>
              </a:rPr>
              <a:t>I?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46136" y="461581"/>
            <a:ext cx="2434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@gasyoun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33372" y="2019300"/>
            <a:ext cx="5514340" cy="1902460"/>
            <a:chOff x="1833372" y="2019300"/>
            <a:chExt cx="5514340" cy="1902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552" y="2019300"/>
              <a:ext cx="4920995" cy="1231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3372" y="2689859"/>
              <a:ext cx="5513831" cy="12313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65762" y="2166937"/>
            <a:ext cx="481139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97180">
              <a:lnSpc>
                <a:spcPct val="100000"/>
              </a:lnSpc>
              <a:spcBef>
                <a:spcPts val="105"/>
              </a:spcBef>
              <a:tabLst>
                <a:tab pos="2110740" algn="l"/>
                <a:tab pos="2374900" algn="l"/>
              </a:tabLst>
            </a:pP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Origin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	of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Digital Sanskrit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Lexicons</a:t>
            </a:r>
            <a:endParaRPr sz="4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185" algn="ctr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Cologne Dictionaries Homepage</a:t>
            </a:r>
            <a:br>
              <a:rPr lang="en-US" sz="4400" dirty="0"/>
            </a:br>
            <a:r>
              <a:rPr lang="en-US" sz="4400" dirty="0"/>
              <a:t>sanskrit-lexicon.uni-koeln.de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464" y="2269316"/>
            <a:ext cx="7306467" cy="33584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F57D-5D52-5F88-B9B2-35E0D194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5D1FFD-F02C-8ED4-3C46-6403D0F09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Brief Cologne Dictionary Timeline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75C0C0-13E6-F81A-A289-784103F3C37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9A17E8-24A0-208B-52F6-CB7C3FFFFBF3}"/>
              </a:ext>
            </a:extLst>
          </p:cNvPr>
          <p:cNvSpPr txBox="1"/>
          <p:nvPr/>
        </p:nvSpPr>
        <p:spPr>
          <a:xfrm>
            <a:off x="535940" y="1566163"/>
            <a:ext cx="6976745" cy="42594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Thomas </a:t>
            </a:r>
            <a:r>
              <a:rPr lang="en-US" sz="1900" dirty="0" err="1">
                <a:latin typeface="Calibri"/>
                <a:cs typeface="Calibri"/>
              </a:rPr>
              <a:t>Malten</a:t>
            </a:r>
            <a:r>
              <a:rPr lang="en-US" sz="1900" dirty="0">
                <a:latin typeface="Calibri"/>
                <a:cs typeface="Calibri"/>
              </a:rPr>
              <a:t>  1997 mw. PWK, PWG, Schmidt 1998-2006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endParaRPr lang="en-US"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2. 2004 Scharf, Hyman, Funderburk begin collaboration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with </a:t>
            </a:r>
            <a:r>
              <a:rPr lang="en-US" sz="1900" dirty="0" err="1">
                <a:latin typeface="Calibri"/>
                <a:cs typeface="Calibri"/>
              </a:rPr>
              <a:t>Malten</a:t>
            </a:r>
            <a:r>
              <a:rPr lang="en-US" sz="1900" dirty="0">
                <a:latin typeface="Calibri"/>
                <a:cs typeface="Calibri"/>
              </a:rPr>
              <a:t>. Other early </a:t>
            </a:r>
            <a:r>
              <a:rPr lang="en-US" sz="1900" dirty="0" err="1">
                <a:latin typeface="Calibri"/>
                <a:cs typeface="Calibri"/>
              </a:rPr>
              <a:t>digitizations</a:t>
            </a:r>
            <a:r>
              <a:rPr lang="en-US" sz="1900" dirty="0">
                <a:latin typeface="Calibri"/>
                <a:cs typeface="Calibri"/>
              </a:rPr>
              <a:t> : 2005-2008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endParaRPr lang="en-US"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3. 2008 Begin hosting on Cologne server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endParaRPr lang="en-US"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4. DFG-NEH Project 2010-2013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Additional dictionaries (see home-page '*')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 err="1">
                <a:latin typeface="Calibri"/>
                <a:cs typeface="Calibri"/>
              </a:rPr>
              <a:t>Sampada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dirty="0" err="1">
                <a:latin typeface="Calibri"/>
                <a:cs typeface="Calibri"/>
              </a:rPr>
              <a:t>Savardekar</a:t>
            </a:r>
            <a:r>
              <a:rPr lang="en-US" sz="1900" dirty="0">
                <a:latin typeface="Calibri"/>
                <a:cs typeface="Calibri"/>
              </a:rPr>
              <a:t> 2013-2023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endParaRPr lang="en-US"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5. 2014 </a:t>
            </a:r>
            <a:r>
              <a:rPr lang="en-US" sz="1900" dirty="0" err="1">
                <a:latin typeface="Calibri"/>
                <a:cs typeface="Calibri"/>
              </a:rPr>
              <a:t>Github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dirty="0" err="1">
                <a:latin typeface="Calibri"/>
                <a:cs typeface="Calibri"/>
              </a:rPr>
              <a:t>sanskrit</a:t>
            </a:r>
            <a:r>
              <a:rPr lang="en-US" sz="1900" dirty="0">
                <a:latin typeface="Calibri"/>
                <a:cs typeface="Calibri"/>
              </a:rPr>
              <a:t>-lexicon organization started by </a:t>
            </a:r>
            <a:r>
              <a:rPr lang="en-US" sz="1900" dirty="0" err="1">
                <a:latin typeface="Calibri"/>
                <a:cs typeface="Calibri"/>
              </a:rPr>
              <a:t>Mārcis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dirty="0" err="1">
                <a:latin typeface="Calibri"/>
                <a:cs typeface="Calibri"/>
              </a:rPr>
              <a:t>Gasūns</a:t>
            </a:r>
            <a:r>
              <a:rPr lang="en-US" sz="1900" dirty="0">
                <a:latin typeface="Calibri"/>
                <a:cs typeface="Calibri"/>
              </a:rPr>
              <a:t>. 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en-US" sz="1900" dirty="0">
                <a:latin typeface="Calibri"/>
                <a:cs typeface="Calibri"/>
              </a:rPr>
              <a:t>Development of </a:t>
            </a:r>
            <a:r>
              <a:rPr lang="en-US" sz="1900" dirty="0" err="1">
                <a:latin typeface="Calibri"/>
                <a:cs typeface="Calibri"/>
              </a:rPr>
              <a:t>sanskrit</a:t>
            </a:r>
            <a:r>
              <a:rPr lang="en-US" sz="1900" dirty="0">
                <a:latin typeface="Calibri"/>
                <a:cs typeface="Calibri"/>
              </a:rPr>
              <a:t>-lexicon begins on </a:t>
            </a:r>
            <a:r>
              <a:rPr lang="en-US" sz="1900" dirty="0" err="1">
                <a:latin typeface="Calibri"/>
                <a:cs typeface="Calibri"/>
              </a:rPr>
              <a:t>Github</a:t>
            </a:r>
            <a:r>
              <a:rPr lang="en-US" sz="1900" dirty="0">
                <a:latin typeface="Calibri"/>
                <a:cs typeface="Calibri"/>
              </a:rPr>
              <a:t>, with major inputs by Dhaval Patel and others.</a:t>
            </a:r>
            <a:endParaRPr sz="1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968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C0F4-753B-53B6-6F6B-B71C0D76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9FC900-728B-579E-45B2-13024CE88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Jim</a:t>
            </a:r>
            <a:r>
              <a:rPr sz="4400" spc="-25" dirty="0"/>
              <a:t> </a:t>
            </a:r>
            <a:r>
              <a:rPr sz="4400" dirty="0"/>
              <a:t>Funderburk</a:t>
            </a:r>
            <a:r>
              <a:rPr sz="4400" spc="-25" dirty="0"/>
              <a:t> </a:t>
            </a:r>
            <a:r>
              <a:rPr sz="4400" spc="-10" dirty="0"/>
              <a:t>@funderburkjim</a:t>
            </a:r>
            <a:endParaRPr sz="44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DE6D960-2A6F-39B7-F271-0B326E2B08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464" y="1770601"/>
            <a:ext cx="7306467" cy="435587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C2E2975-C981-1937-A6B1-ED00FB2E9DE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04249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C1A4-EB0A-789A-DD66-C6064BD0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883FD1-5F97-5FB1-8EDA-020DEFAEE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61581"/>
            <a:ext cx="8839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4680" algn="ctr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Funderburk</a:t>
            </a:r>
            <a:r>
              <a:rPr lang="ru-RU" sz="4400" dirty="0"/>
              <a:t> </a:t>
            </a:r>
            <a:r>
              <a:rPr lang="en-US" sz="4400" dirty="0"/>
              <a:t>at Cologne 2004-20</a:t>
            </a:r>
            <a:r>
              <a:rPr lang="ru-RU" sz="4400" dirty="0"/>
              <a:t>2</a:t>
            </a:r>
            <a:r>
              <a:rPr lang="en-US" sz="4400" dirty="0"/>
              <a:t>4</a:t>
            </a:r>
            <a:endParaRPr sz="44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5DF7E2-4436-9F3A-3273-958FC85C45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CFE14D1-AAC8-3257-B04A-BF60576367A8}"/>
              </a:ext>
            </a:extLst>
          </p:cNvPr>
          <p:cNvSpPr txBox="1"/>
          <p:nvPr/>
        </p:nvSpPr>
        <p:spPr>
          <a:xfrm>
            <a:off x="535940" y="1523492"/>
            <a:ext cx="8046593" cy="4331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100" spc="-20" dirty="0">
                <a:solidFill>
                  <a:schemeClr val="tx1"/>
                </a:solidFill>
                <a:latin typeface="Calibri"/>
                <a:cs typeface="Calibri"/>
              </a:rPr>
              <a:t>Participated in the initial collaboration between </a:t>
            </a:r>
            <a:r>
              <a:rPr lang="en-US" sz="3100" spc="-20" dirty="0" err="1">
                <a:solidFill>
                  <a:schemeClr val="tx1"/>
                </a:solidFill>
                <a:latin typeface="Calibri"/>
                <a:cs typeface="Calibri"/>
              </a:rPr>
              <a:t>Malten</a:t>
            </a:r>
            <a:r>
              <a:rPr lang="en-US" sz="3100" spc="-20" dirty="0">
                <a:solidFill>
                  <a:schemeClr val="tx1"/>
                </a:solidFill>
                <a:latin typeface="Calibri"/>
                <a:cs typeface="Calibri"/>
              </a:rPr>
              <a:t> and Scharf/Hyman from about 2004. 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100" spc="-20" dirty="0">
                <a:solidFill>
                  <a:schemeClr val="tx1"/>
                </a:solidFill>
                <a:latin typeface="Calibri"/>
                <a:cs typeface="Calibri"/>
              </a:rPr>
              <a:t>Since about 2008 the displays have been hosted at the </a:t>
            </a:r>
            <a:r>
              <a:rPr lang="en-US" sz="3100" b="1" spc="-20" dirty="0">
                <a:solidFill>
                  <a:schemeClr val="tx1"/>
                </a:solidFill>
                <a:latin typeface="Calibri"/>
                <a:cs typeface="Calibri"/>
              </a:rPr>
              <a:t>sanskrit-lexicon.uni-koeln.de</a:t>
            </a:r>
            <a:r>
              <a:rPr lang="en-US" sz="3100" spc="-20" dirty="0">
                <a:solidFill>
                  <a:schemeClr val="tx1"/>
                </a:solidFill>
                <a:latin typeface="Calibri"/>
                <a:cs typeface="Calibri"/>
              </a:rPr>
              <a:t> web-site, Jim’s primary responsibility for developing and maintaining the site.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100" spc="-20" dirty="0">
                <a:solidFill>
                  <a:schemeClr val="tx1"/>
                </a:solidFill>
                <a:latin typeface="Calibri"/>
                <a:cs typeface="Calibri"/>
              </a:rPr>
              <a:t>In the next couple of years, Jim plans to retire from this responsibility, and </a:t>
            </a:r>
            <a:r>
              <a:rPr lang="en-US" sz="3100" b="1" spc="-20" dirty="0">
                <a:solidFill>
                  <a:schemeClr val="tx1"/>
                </a:solidFill>
                <a:latin typeface="Calibri"/>
                <a:cs typeface="Calibri"/>
              </a:rPr>
              <a:t>Dhaval Patel </a:t>
            </a:r>
            <a:r>
              <a:rPr lang="en-US" sz="3100" spc="-20" dirty="0">
                <a:solidFill>
                  <a:schemeClr val="tx1"/>
                </a:solidFill>
                <a:latin typeface="Calibri"/>
                <a:cs typeface="Calibri"/>
              </a:rPr>
              <a:t>will assume this role.</a:t>
            </a:r>
            <a:endParaRPr sz="31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573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E361-EA7A-AA00-848F-155C8A2F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7D8104-F589-3664-B32C-192A7DE675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54303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Major Indian Contributors to Cologne Sanskrit Dictionaries</a:t>
            </a:r>
            <a:br>
              <a:rPr lang="en-US" sz="4400" dirty="0"/>
            </a:br>
            <a:br>
              <a:rPr lang="en-US" sz="4400" dirty="0"/>
            </a:br>
            <a:r>
              <a:rPr lang="en-US" sz="4400" b="0" spc="-10" dirty="0">
                <a:solidFill>
                  <a:schemeClr val="tx1"/>
                </a:solidFill>
              </a:rPr>
              <a:t>Dr. Dhaval Patel</a:t>
            </a:r>
            <a:br>
              <a:rPr lang="en-US" sz="4400" spc="-10" dirty="0">
                <a:solidFill>
                  <a:schemeClr val="tx1"/>
                </a:solidFill>
              </a:rPr>
            </a:br>
            <a:r>
              <a:rPr lang="en-US" sz="4400" spc="-10" dirty="0">
                <a:solidFill>
                  <a:schemeClr val="tx1"/>
                </a:solidFill>
              </a:rPr>
              <a:t>@drdhaval2785</a:t>
            </a:r>
            <a:br>
              <a:rPr lang="ru-RU" sz="4400" dirty="0">
                <a:solidFill>
                  <a:schemeClr val="tx1"/>
                </a:solidFill>
              </a:rPr>
            </a:br>
            <a:br>
              <a:rPr lang="ru-RU" sz="4400" dirty="0">
                <a:solidFill>
                  <a:schemeClr val="tx1"/>
                </a:solidFill>
              </a:rPr>
            </a:br>
            <a:r>
              <a:rPr lang="en-US" sz="4400" b="0" dirty="0" err="1">
                <a:solidFill>
                  <a:schemeClr val="tx1"/>
                </a:solidFill>
              </a:rPr>
              <a:t>Nāgabhūṣaṇarāvu</a:t>
            </a:r>
            <a:r>
              <a:rPr lang="en-US" sz="4400" b="0" dirty="0">
                <a:solidFill>
                  <a:schemeClr val="tx1"/>
                </a:solidFill>
              </a:rPr>
              <a:t> </a:t>
            </a:r>
            <a:r>
              <a:rPr lang="en-US" sz="4400" b="0" dirty="0" err="1">
                <a:solidFill>
                  <a:schemeClr val="tx1"/>
                </a:solidFill>
              </a:rPr>
              <a:t>Kālepu</a:t>
            </a:r>
            <a:r>
              <a:rPr sz="4400" b="0" spc="-25" dirty="0">
                <a:solidFill>
                  <a:schemeClr val="tx1"/>
                </a:solidFill>
              </a:rPr>
              <a:t> </a:t>
            </a:r>
            <a:r>
              <a:rPr sz="4400" spc="-10" dirty="0">
                <a:solidFill>
                  <a:schemeClr val="tx1"/>
                </a:solidFill>
              </a:rPr>
              <a:t>@</a:t>
            </a:r>
            <a:r>
              <a:rPr lang="en-US" sz="4400" spc="-10" dirty="0">
                <a:solidFill>
                  <a:schemeClr val="tx1"/>
                </a:solidFill>
              </a:rPr>
              <a:t>Andhrabharati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1B63FE9-9B14-4951-F1F6-550D68F0008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3802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42</a:t>
            </a:r>
            <a:r>
              <a:rPr sz="4400" spc="-75" dirty="0"/>
              <a:t> </a:t>
            </a:r>
            <a:r>
              <a:rPr sz="4400" dirty="0"/>
              <a:t>Digital</a:t>
            </a:r>
            <a:r>
              <a:rPr sz="4400" spc="-50" dirty="0"/>
              <a:t> </a:t>
            </a:r>
            <a:r>
              <a:rPr sz="4400" dirty="0"/>
              <a:t>Lexicons</a:t>
            </a:r>
            <a:r>
              <a:rPr sz="4400" spc="-60" dirty="0"/>
              <a:t> </a:t>
            </a:r>
            <a:r>
              <a:rPr sz="4400" dirty="0"/>
              <a:t>2024</a:t>
            </a:r>
            <a:r>
              <a:rPr sz="4400" spc="-65" dirty="0"/>
              <a:t> </a:t>
            </a:r>
            <a:r>
              <a:rPr sz="4400" spc="-10" dirty="0"/>
              <a:t>Stats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3492"/>
            <a:ext cx="5714365" cy="4277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20" dirty="0">
                <a:solidFill>
                  <a:srgbClr val="E46C0A"/>
                </a:solidFill>
                <a:latin typeface="Calibri"/>
                <a:cs typeface="Calibri"/>
              </a:rPr>
              <a:t>Sanskrit-</a:t>
            </a:r>
            <a:r>
              <a:rPr sz="3100" dirty="0">
                <a:solidFill>
                  <a:srgbClr val="E46C0A"/>
                </a:solidFill>
                <a:latin typeface="Calibri"/>
                <a:cs typeface="Calibri"/>
              </a:rPr>
              <a:t>English</a:t>
            </a:r>
            <a:r>
              <a:rPr sz="3100" spc="-5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E46C0A"/>
                </a:solidFill>
                <a:latin typeface="Calibri"/>
                <a:cs typeface="Calibri"/>
              </a:rPr>
              <a:t>Dictionaries:</a:t>
            </a:r>
            <a:r>
              <a:rPr sz="3100" spc="-5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E46C0A"/>
                </a:solidFill>
                <a:latin typeface="Calibri"/>
                <a:cs typeface="Calibri"/>
              </a:rPr>
              <a:t>14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20" dirty="0">
                <a:solidFill>
                  <a:srgbClr val="3E3E3E"/>
                </a:solidFill>
                <a:latin typeface="Calibri"/>
                <a:cs typeface="Calibri"/>
              </a:rPr>
              <a:t>English-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31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Dictionaries: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 3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2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French</a:t>
            </a:r>
            <a:r>
              <a:rPr sz="31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Dictionaries:</a:t>
            </a:r>
            <a:r>
              <a:rPr sz="31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20" dirty="0">
                <a:solidFill>
                  <a:srgbClr val="E46C0A"/>
                </a:solidFill>
                <a:latin typeface="Calibri"/>
                <a:cs typeface="Calibri"/>
              </a:rPr>
              <a:t>Sanskrit-</a:t>
            </a:r>
            <a:r>
              <a:rPr sz="3100" dirty="0">
                <a:solidFill>
                  <a:srgbClr val="E46C0A"/>
                </a:solidFill>
                <a:latin typeface="Calibri"/>
                <a:cs typeface="Calibri"/>
              </a:rPr>
              <a:t>German</a:t>
            </a:r>
            <a:r>
              <a:rPr sz="3100" spc="-6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E46C0A"/>
                </a:solidFill>
                <a:latin typeface="Calibri"/>
                <a:cs typeface="Calibri"/>
              </a:rPr>
              <a:t>Dictionaries:</a:t>
            </a:r>
            <a:r>
              <a:rPr sz="3100" spc="-4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E46C0A"/>
                </a:solidFill>
                <a:latin typeface="Calibri"/>
                <a:cs typeface="Calibri"/>
              </a:rPr>
              <a:t>5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2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Latin</a:t>
            </a:r>
            <a:r>
              <a:rPr sz="31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Dictionaries:</a:t>
            </a:r>
            <a:r>
              <a:rPr sz="31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25" dirty="0">
                <a:solidFill>
                  <a:srgbClr val="E46C0A"/>
                </a:solidFill>
                <a:latin typeface="Calibri"/>
                <a:cs typeface="Calibri"/>
              </a:rPr>
              <a:t>Sanskrit-</a:t>
            </a:r>
            <a:r>
              <a:rPr sz="3100" b="1" dirty="0">
                <a:solidFill>
                  <a:srgbClr val="E46C0A"/>
                </a:solidFill>
                <a:latin typeface="Calibri"/>
                <a:cs typeface="Calibri"/>
              </a:rPr>
              <a:t>Sanskrit</a:t>
            </a:r>
            <a:r>
              <a:rPr sz="3100" b="1" spc="-4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E46C0A"/>
                </a:solidFill>
                <a:latin typeface="Calibri"/>
                <a:cs typeface="Calibri"/>
              </a:rPr>
              <a:t>Dictionaries:</a:t>
            </a:r>
            <a:r>
              <a:rPr sz="3100" b="1" spc="-3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b="1" spc="-50" dirty="0">
                <a:solidFill>
                  <a:srgbClr val="E46C0A"/>
                </a:solidFill>
                <a:latin typeface="Calibri"/>
                <a:cs typeface="Calibri"/>
              </a:rPr>
              <a:t>6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25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3100" b="1" dirty="0">
                <a:solidFill>
                  <a:srgbClr val="3E3E3E"/>
                </a:solidFill>
                <a:latin typeface="Calibri"/>
                <a:cs typeface="Calibri"/>
              </a:rPr>
              <a:t>Russian</a:t>
            </a:r>
            <a:r>
              <a:rPr sz="31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Dictionaries:</a:t>
            </a:r>
            <a:r>
              <a:rPr sz="31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spc="-25" dirty="0">
                <a:solidFill>
                  <a:srgbClr val="3E3E3E"/>
                </a:solidFill>
                <a:latin typeface="Calibri"/>
                <a:cs typeface="Calibri"/>
              </a:rPr>
              <a:t>*5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Specialized</a:t>
            </a:r>
            <a:r>
              <a:rPr sz="3100" spc="-1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Dictionaries:</a:t>
            </a:r>
            <a:r>
              <a:rPr sz="31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E3E3E"/>
                </a:solidFill>
                <a:latin typeface="Calibri"/>
                <a:cs typeface="Calibri"/>
              </a:rPr>
              <a:t>11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20" dirty="0">
                <a:solidFill>
                  <a:srgbClr val="3E3E3E"/>
                </a:solidFill>
                <a:latin typeface="Calibri"/>
                <a:cs typeface="Calibri"/>
              </a:rPr>
              <a:t>Deprecated</a:t>
            </a:r>
            <a:r>
              <a:rPr sz="31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Editions</a:t>
            </a:r>
            <a:r>
              <a:rPr sz="31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&amp;</a:t>
            </a:r>
            <a:r>
              <a:rPr sz="31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Miscellany</a:t>
            </a:r>
            <a:endParaRPr sz="3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8</a:t>
            </a:r>
            <a:r>
              <a:rPr sz="4400" spc="-45" dirty="0"/>
              <a:t> </a:t>
            </a:r>
            <a:r>
              <a:rPr sz="4400" dirty="0"/>
              <a:t>Main</a:t>
            </a:r>
            <a:r>
              <a:rPr sz="4400" spc="-35" dirty="0"/>
              <a:t> </a:t>
            </a:r>
            <a:r>
              <a:rPr sz="4400" dirty="0"/>
              <a:t>Priority</a:t>
            </a:r>
            <a:r>
              <a:rPr sz="4400" spc="-45" dirty="0"/>
              <a:t> </a:t>
            </a:r>
            <a:r>
              <a:rPr sz="4400" dirty="0"/>
              <a:t>Digital</a:t>
            </a:r>
            <a:r>
              <a:rPr sz="4400" spc="-35" dirty="0"/>
              <a:t> </a:t>
            </a:r>
            <a:r>
              <a:rPr sz="4400" spc="-10" dirty="0"/>
              <a:t>Lexicons</a:t>
            </a:r>
            <a:endParaRPr sz="4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54622"/>
              </p:ext>
            </p:extLst>
          </p:nvPr>
        </p:nvGraphicFramePr>
        <p:xfrm>
          <a:off x="516890" y="1524000"/>
          <a:ext cx="8061959" cy="1812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760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spc="-2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WIL</a:t>
                      </a:r>
                      <a:endParaRPr sz="25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760"/>
                        </a:lnSpc>
                      </a:pPr>
                      <a:r>
                        <a:rPr sz="2500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1832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760"/>
                        </a:lnSpc>
                      </a:pP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Wilson</a:t>
                      </a:r>
                      <a:r>
                        <a:rPr sz="2500" spc="-8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Sanskrit-</a:t>
                      </a: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r>
                        <a:rPr sz="2500" spc="-8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520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b="1" spc="-2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MW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marL="374650">
                        <a:lnSpc>
                          <a:spcPts val="2700"/>
                        </a:lnSpc>
                      </a:pP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820"/>
                        </a:lnSpc>
                      </a:pPr>
                      <a:r>
                        <a:rPr sz="2500" b="1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1899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820"/>
                        </a:lnSpc>
                      </a:pPr>
                      <a:r>
                        <a:rPr sz="2500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Monier-</a:t>
                      </a: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Williams</a:t>
                      </a:r>
                      <a:r>
                        <a:rPr sz="2500" spc="-4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Sanskrit-English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815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b="1" spc="-2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AP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815"/>
                        </a:lnSpc>
                      </a:pPr>
                      <a:r>
                        <a:rPr sz="2500" b="1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1957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815"/>
                        </a:lnSpc>
                      </a:pP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Practical</a:t>
                      </a:r>
                      <a:r>
                        <a:rPr sz="2500" spc="-5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Sanskrit-</a:t>
                      </a: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r>
                        <a:rPr sz="2500" spc="-7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820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b="1" spc="-2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PWG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820"/>
                        </a:lnSpc>
                      </a:pPr>
                      <a:r>
                        <a:rPr sz="2500" b="1" spc="-2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1855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820"/>
                        </a:lnSpc>
                      </a:pP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Böhtlingk</a:t>
                      </a:r>
                      <a:r>
                        <a:rPr sz="2500" spc="-9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500" spc="-9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Roth</a:t>
                      </a:r>
                      <a:r>
                        <a:rPr sz="2500" spc="-114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Grosses</a:t>
                      </a:r>
                      <a:r>
                        <a:rPr sz="2500" spc="-11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Petersburger</a:t>
                      </a:r>
                      <a:endParaRPr sz="25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79103" y="3297574"/>
            <a:ext cx="15786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3E3E3E"/>
                </a:solidFill>
                <a:latin typeface="Calibri"/>
                <a:cs typeface="Calibri"/>
              </a:rPr>
              <a:t>Wörterbuch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670245"/>
            <a:ext cx="2548890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65" marR="59055" indent="-342265" algn="r">
              <a:lnSpc>
                <a:spcPts val="2700"/>
              </a:lnSpc>
              <a:spcBef>
                <a:spcPts val="95"/>
              </a:spcBef>
              <a:buFont typeface="Arial"/>
              <a:buChar char="•"/>
              <a:tabLst>
                <a:tab pos="342265" algn="l"/>
                <a:tab pos="342900" algn="l"/>
                <a:tab pos="1828164" algn="l"/>
              </a:tabLst>
            </a:pPr>
            <a:r>
              <a:rPr sz="2500" b="1" spc="-25" dirty="0">
                <a:solidFill>
                  <a:srgbClr val="3E3E3E"/>
                </a:solidFill>
                <a:latin typeface="Calibri"/>
                <a:cs typeface="Calibri"/>
              </a:rPr>
              <a:t>PW</a:t>
            </a:r>
            <a:r>
              <a:rPr sz="2500" b="1" dirty="0">
                <a:solidFill>
                  <a:srgbClr val="3E3E3E"/>
                </a:solidFill>
                <a:latin typeface="Calibri"/>
                <a:cs typeface="Calibri"/>
              </a:rPr>
              <a:t>	</a:t>
            </a:r>
            <a:r>
              <a:rPr sz="2500" b="1" spc="-20" dirty="0">
                <a:solidFill>
                  <a:srgbClr val="3E3E3E"/>
                </a:solidFill>
                <a:latin typeface="Calibri"/>
                <a:cs typeface="Calibri"/>
              </a:rPr>
              <a:t>1879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103" y="3703621"/>
            <a:ext cx="5571839" cy="61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ts val="2300"/>
              </a:lnSpc>
              <a:spcBef>
                <a:spcPts val="95"/>
              </a:spcBef>
            </a:pPr>
            <a:r>
              <a:rPr sz="2500" dirty="0">
                <a:solidFill>
                  <a:srgbClr val="3E3E3E"/>
                </a:solidFill>
                <a:latin typeface="Calibri"/>
                <a:cs typeface="Calibri"/>
              </a:rPr>
              <a:t>Böhtlingk</a:t>
            </a:r>
            <a:r>
              <a:rPr sz="25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2500" spc="-20" dirty="0" err="1">
                <a:solidFill>
                  <a:srgbClr val="3E3E3E"/>
                </a:solidFill>
                <a:latin typeface="Calibri"/>
                <a:cs typeface="Calibri"/>
              </a:rPr>
              <a:t>Wörterbuch</a:t>
            </a:r>
            <a:r>
              <a:rPr sz="25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lang="ru-RU" sz="2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500" spc="-10" dirty="0" err="1">
                <a:solidFill>
                  <a:srgbClr val="3E3E3E"/>
                </a:solidFill>
                <a:latin typeface="Calibri"/>
                <a:cs typeface="Calibri"/>
              </a:rPr>
              <a:t>Kürzerer</a:t>
            </a:r>
            <a:r>
              <a:rPr lang="en-US" sz="2500" spc="-1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500" spc="-10" dirty="0" err="1">
                <a:solidFill>
                  <a:srgbClr val="3E3E3E"/>
                </a:solidFill>
                <a:latin typeface="Calibri"/>
                <a:cs typeface="Calibri"/>
              </a:rPr>
              <a:t>Fassung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300673"/>
            <a:ext cx="2664460" cy="40203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  <a:tab pos="1840864" algn="l"/>
                <a:tab pos="2755265" algn="l"/>
              </a:tabLst>
            </a:pPr>
            <a:r>
              <a:rPr sz="2500" b="1" spc="-25" dirty="0">
                <a:solidFill>
                  <a:srgbClr val="3E3E3E"/>
                </a:solidFill>
                <a:latin typeface="Calibri"/>
                <a:cs typeface="Calibri"/>
              </a:rPr>
              <a:t>SCH</a:t>
            </a:r>
            <a:r>
              <a:rPr sz="2500" b="1" dirty="0">
                <a:solidFill>
                  <a:srgbClr val="3E3E3E"/>
                </a:solidFill>
                <a:latin typeface="Calibri"/>
                <a:cs typeface="Calibri"/>
              </a:rPr>
              <a:t>	</a:t>
            </a:r>
            <a:r>
              <a:rPr sz="2500" b="1" spc="-20" dirty="0">
                <a:solidFill>
                  <a:srgbClr val="3E3E3E"/>
                </a:solidFill>
                <a:latin typeface="Calibri"/>
                <a:cs typeface="Calibri"/>
              </a:rPr>
              <a:t>1928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308600"/>
            <a:ext cx="110680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VCP</a:t>
            </a:r>
            <a:r>
              <a:rPr sz="2500" spc="-8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E46C0A"/>
                </a:solidFill>
                <a:latin typeface="Calibri"/>
                <a:cs typeface="Calibri"/>
              </a:rPr>
              <a:t>*</a:t>
            </a:r>
            <a:endParaRPr sz="2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SKD</a:t>
            </a:r>
            <a:r>
              <a:rPr sz="2500" spc="-4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E46C0A"/>
                </a:solidFill>
                <a:latin typeface="Calibri"/>
                <a:cs typeface="Calibri"/>
              </a:rPr>
              <a:t>*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4581" y="5308600"/>
            <a:ext cx="3351529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z="2500" spc="-20" dirty="0">
                <a:solidFill>
                  <a:srgbClr val="E46C0A"/>
                </a:solidFill>
                <a:latin typeface="Calibri"/>
                <a:cs typeface="Calibri"/>
              </a:rPr>
              <a:t>1873</a:t>
            </a: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E46C0A"/>
                </a:solidFill>
                <a:latin typeface="Calibri"/>
                <a:cs typeface="Calibri"/>
              </a:rPr>
              <a:t>Vacaspatyam</a:t>
            </a:r>
            <a:endParaRPr sz="2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27100" algn="l"/>
              </a:tabLst>
            </a:pPr>
            <a:r>
              <a:rPr sz="2500" spc="-20" dirty="0">
                <a:solidFill>
                  <a:srgbClr val="E46C0A"/>
                </a:solidFill>
                <a:latin typeface="Calibri"/>
                <a:cs typeface="Calibri"/>
              </a:rPr>
              <a:t>1886</a:t>
            </a: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	</a:t>
            </a:r>
            <a:r>
              <a:rPr sz="2500" spc="-20" dirty="0">
                <a:solidFill>
                  <a:srgbClr val="E46C0A"/>
                </a:solidFill>
                <a:latin typeface="Calibri"/>
                <a:cs typeface="Calibri"/>
              </a:rPr>
              <a:t>Sabda-</a:t>
            </a:r>
            <a:r>
              <a:rPr sz="2500" spc="-10" dirty="0">
                <a:solidFill>
                  <a:srgbClr val="E46C0A"/>
                </a:solidFill>
                <a:latin typeface="Calibri"/>
                <a:cs typeface="Calibri"/>
              </a:rPr>
              <a:t>kalpadruma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242468ED-A468-4C5B-9F26-51CD2FA2F3B5}"/>
              </a:ext>
            </a:extLst>
          </p:cNvPr>
          <p:cNvSpPr txBox="1"/>
          <p:nvPr/>
        </p:nvSpPr>
        <p:spPr>
          <a:xfrm>
            <a:off x="3279102" y="4300673"/>
            <a:ext cx="5712498" cy="10175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065" marR="5080">
              <a:lnSpc>
                <a:spcPts val="2400"/>
              </a:lnSpc>
              <a:spcBef>
                <a:spcPts val="675"/>
              </a:spcBef>
              <a:tabLst>
                <a:tab pos="354965" algn="l"/>
                <a:tab pos="355600" algn="l"/>
                <a:tab pos="1840864" algn="l"/>
                <a:tab pos="2755265" algn="l"/>
              </a:tabLst>
            </a:pP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Schmidt</a:t>
            </a:r>
            <a:r>
              <a:rPr lang="de-DE" sz="25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Nachträge</a:t>
            </a:r>
            <a:r>
              <a:rPr lang="de-DE" sz="25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zum</a:t>
            </a:r>
            <a:r>
              <a:rPr lang="de-DE" sz="25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lang="de-DE" sz="2500" spc="-20" dirty="0">
                <a:solidFill>
                  <a:srgbClr val="3E3E3E"/>
                </a:solidFill>
                <a:latin typeface="Calibri"/>
                <a:cs typeface="Calibri"/>
              </a:rPr>
              <a:t>   Wörterbuch</a:t>
            </a:r>
            <a:r>
              <a:rPr lang="de-DE" sz="2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+</a:t>
            </a:r>
            <a:r>
              <a:rPr lang="de-DE" sz="2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Nachträge</a:t>
            </a:r>
            <a:r>
              <a:rPr lang="de-DE" sz="2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und</a:t>
            </a:r>
            <a:r>
              <a:rPr lang="de-DE" sz="2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Verbesserungen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30</a:t>
            </a:r>
            <a:r>
              <a:rPr sz="4400" spc="-95" dirty="0"/>
              <a:t> </a:t>
            </a:r>
            <a:r>
              <a:rPr sz="4400" spc="-45" dirty="0"/>
              <a:t>Years</a:t>
            </a:r>
            <a:r>
              <a:rPr sz="4400" spc="-85" dirty="0"/>
              <a:t> </a:t>
            </a:r>
            <a:r>
              <a:rPr sz="4400" dirty="0"/>
              <a:t>After</a:t>
            </a:r>
            <a:r>
              <a:rPr sz="4400" spc="-90" dirty="0"/>
              <a:t> </a:t>
            </a:r>
            <a:r>
              <a:rPr sz="4400" dirty="0"/>
              <a:t>Cologne</a:t>
            </a:r>
            <a:r>
              <a:rPr sz="4400" spc="-75" dirty="0"/>
              <a:t> </a:t>
            </a:r>
            <a:r>
              <a:rPr sz="4400" spc="-10" dirty="0"/>
              <a:t>Started…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999095" cy="42208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965" marR="103060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Digital</a:t>
            </a:r>
            <a:r>
              <a:rPr sz="32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copies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32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r>
              <a:rPr sz="32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32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still </a:t>
            </a:r>
            <a:r>
              <a:rPr sz="3200" b="1" spc="-25" dirty="0">
                <a:solidFill>
                  <a:srgbClr val="3E3E3E"/>
                </a:solidFill>
                <a:latin typeface="Calibri"/>
                <a:cs typeface="Calibri"/>
              </a:rPr>
              <a:t>not </a:t>
            </a:r>
            <a:r>
              <a:rPr sz="3200" b="1" dirty="0">
                <a:solidFill>
                  <a:srgbClr val="3E3E3E"/>
                </a:solidFill>
                <a:latin typeface="Calibri"/>
                <a:cs typeface="Calibri"/>
              </a:rPr>
              <a:t>identical</a:t>
            </a:r>
            <a:r>
              <a:rPr sz="3200" b="1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32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32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original</a:t>
            </a:r>
            <a:r>
              <a:rPr sz="32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printed</a:t>
            </a:r>
            <a:r>
              <a:rPr sz="32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E3E3E"/>
                </a:solidFill>
                <a:latin typeface="Calibri"/>
                <a:cs typeface="Calibri"/>
              </a:rPr>
              <a:t>books;</a:t>
            </a:r>
            <a:endParaRPr sz="3200">
              <a:latin typeface="Calibri"/>
              <a:cs typeface="Calibri"/>
            </a:endParaRPr>
          </a:p>
          <a:p>
            <a:pPr marL="354965" marR="508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We</a:t>
            </a:r>
            <a:r>
              <a:rPr sz="32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do</a:t>
            </a:r>
            <a:r>
              <a:rPr sz="32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not</a:t>
            </a:r>
            <a:r>
              <a:rPr sz="32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know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how</a:t>
            </a:r>
            <a:r>
              <a:rPr sz="32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many</a:t>
            </a:r>
            <a:r>
              <a:rPr sz="32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E3E3E"/>
                </a:solidFill>
                <a:latin typeface="Calibri"/>
                <a:cs typeface="Calibri"/>
              </a:rPr>
              <a:t>entries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actually</a:t>
            </a:r>
            <a:r>
              <a:rPr sz="32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contain,</a:t>
            </a:r>
            <a:r>
              <a:rPr sz="32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as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sopasarga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E3E3E"/>
                </a:solidFill>
                <a:latin typeface="Calibri"/>
                <a:cs typeface="Calibri"/>
              </a:rPr>
              <a:t>and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samāsa</a:t>
            </a:r>
            <a:r>
              <a:rPr sz="32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entries</a:t>
            </a:r>
            <a:r>
              <a:rPr sz="32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mostly</a:t>
            </a:r>
            <a:r>
              <a:rPr sz="32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3E3E3E"/>
                </a:solidFill>
                <a:latin typeface="Calibri"/>
                <a:cs typeface="Calibri"/>
              </a:rPr>
              <a:t>unidentified</a:t>
            </a:r>
            <a:r>
              <a:rPr sz="3200" b="1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E3E3E"/>
                </a:solidFill>
                <a:latin typeface="Calibri"/>
                <a:cs typeface="Calibri"/>
              </a:rPr>
              <a:t>yet;</a:t>
            </a:r>
            <a:endParaRPr sz="3200">
              <a:latin typeface="Calibri"/>
              <a:cs typeface="Calibri"/>
            </a:endParaRPr>
          </a:p>
          <a:p>
            <a:pPr marL="354965" marR="339725" indent="-342900">
              <a:lnSpc>
                <a:spcPts val="3460"/>
              </a:lnSpc>
              <a:spcBef>
                <a:spcPts val="7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Not</a:t>
            </a:r>
            <a:r>
              <a:rPr sz="32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only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we’ve</a:t>
            </a:r>
            <a:r>
              <a:rPr sz="32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unintentionally</a:t>
            </a:r>
            <a:r>
              <a:rPr sz="3200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added</a:t>
            </a:r>
            <a:r>
              <a:rPr sz="32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E3E3E"/>
                </a:solidFill>
                <a:latin typeface="Calibri"/>
                <a:cs typeface="Calibri"/>
              </a:rPr>
              <a:t>new </a:t>
            </a:r>
            <a:r>
              <a:rPr sz="3200" b="1" dirty="0">
                <a:solidFill>
                  <a:srgbClr val="3E3E3E"/>
                </a:solidFill>
                <a:latin typeface="Calibri"/>
                <a:cs typeface="Calibri"/>
              </a:rPr>
              <a:t>digital</a:t>
            </a:r>
            <a:r>
              <a:rPr sz="3200" b="1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3E3E3E"/>
                </a:solidFill>
                <a:latin typeface="Calibri"/>
                <a:cs typeface="Calibri"/>
              </a:rPr>
              <a:t>typoes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32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32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original</a:t>
            </a:r>
            <a:r>
              <a:rPr sz="3200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list</a:t>
            </a:r>
            <a:r>
              <a:rPr sz="3200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32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E3E3E"/>
                </a:solidFill>
                <a:latin typeface="Calibri"/>
                <a:cs typeface="Calibri"/>
              </a:rPr>
              <a:t>corrections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available</a:t>
            </a:r>
            <a:r>
              <a:rPr sz="32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32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printed</a:t>
            </a:r>
            <a:r>
              <a:rPr sz="32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books</a:t>
            </a:r>
            <a:r>
              <a:rPr sz="32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32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E3E3E"/>
                </a:solidFill>
                <a:latin typeface="Calibri"/>
                <a:cs typeface="Calibri"/>
              </a:rPr>
              <a:t>not </a:t>
            </a:r>
            <a:r>
              <a:rPr sz="3200" spc="-10" dirty="0">
                <a:solidFill>
                  <a:srgbClr val="3E3E3E"/>
                </a:solidFill>
                <a:latin typeface="Calibri"/>
                <a:cs typeface="Calibri"/>
              </a:rPr>
              <a:t>integrated</a:t>
            </a:r>
            <a:r>
              <a:rPr sz="32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(done</a:t>
            </a:r>
            <a:r>
              <a:rPr sz="32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only</a:t>
            </a:r>
            <a:r>
              <a:rPr sz="32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2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GRA</a:t>
            </a:r>
            <a:r>
              <a:rPr sz="32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3200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E3E3E"/>
                </a:solidFill>
                <a:latin typeface="Calibri"/>
                <a:cs typeface="Calibri"/>
              </a:rPr>
              <a:t>MW).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Not</a:t>
            </a:r>
            <a:r>
              <a:rPr sz="4400" spc="-60" dirty="0"/>
              <a:t> </a:t>
            </a:r>
            <a:r>
              <a:rPr sz="4400" dirty="0"/>
              <a:t>All</a:t>
            </a:r>
            <a:r>
              <a:rPr sz="4400" spc="-65" dirty="0"/>
              <a:t> </a:t>
            </a:r>
            <a:r>
              <a:rPr sz="4400" dirty="0"/>
              <a:t>Subheadwords</a:t>
            </a:r>
            <a:r>
              <a:rPr sz="4400" spc="-70" dirty="0"/>
              <a:t> </a:t>
            </a:r>
            <a:r>
              <a:rPr sz="4400" dirty="0"/>
              <a:t>Equal</a:t>
            </a:r>
            <a:r>
              <a:rPr sz="4400" spc="-55" dirty="0"/>
              <a:t> </a:t>
            </a:r>
            <a:r>
              <a:rPr sz="4400" b="0" spc="-10" dirty="0">
                <a:latin typeface="Calibri"/>
                <a:cs typeface="Calibri"/>
              </a:rPr>
              <a:t>(1/2)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Not</a:t>
            </a:r>
            <a:r>
              <a:rPr sz="4400" spc="-60" dirty="0"/>
              <a:t> </a:t>
            </a:r>
            <a:r>
              <a:rPr sz="4400" dirty="0"/>
              <a:t>All</a:t>
            </a:r>
            <a:r>
              <a:rPr sz="4400" spc="-65" dirty="0"/>
              <a:t> </a:t>
            </a:r>
            <a:r>
              <a:rPr sz="4400" dirty="0"/>
              <a:t>Subheadwords</a:t>
            </a:r>
            <a:r>
              <a:rPr sz="4400" spc="-70" dirty="0"/>
              <a:t> </a:t>
            </a:r>
            <a:r>
              <a:rPr sz="4400" dirty="0"/>
              <a:t>Equal</a:t>
            </a:r>
            <a:r>
              <a:rPr sz="4400" spc="-55" dirty="0"/>
              <a:t> </a:t>
            </a:r>
            <a:r>
              <a:rPr sz="4400" b="0" spc="-10" dirty="0">
                <a:latin typeface="Calibri"/>
                <a:cs typeface="Calibri"/>
              </a:rPr>
              <a:t>(2/2)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467"/>
            <a:ext cx="7825740" cy="41605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latin typeface="Calibri"/>
                <a:cs typeface="Calibri"/>
              </a:rPr>
              <a:t>8000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substantives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MD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subheadwords</a:t>
            </a:r>
            <a:endParaRPr sz="3200">
              <a:latin typeface="Calibri"/>
              <a:cs typeface="Calibri"/>
            </a:endParaRPr>
          </a:p>
          <a:p>
            <a:pPr marL="355600" marR="295275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Previous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MW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much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help,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other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391300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lemmas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hwnorm1c.txt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“ativatsala”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H1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“ativallabha”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H2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“ativallabhatva” </a:t>
            </a:r>
            <a:r>
              <a:rPr sz="2800" b="1" spc="-25" dirty="0">
                <a:latin typeface="Calibri"/>
                <a:cs typeface="Calibri"/>
              </a:rPr>
              <a:t>H3</a:t>
            </a:r>
            <a:endParaRPr sz="2800">
              <a:latin typeface="Calibri"/>
              <a:cs typeface="Calibri"/>
            </a:endParaRPr>
          </a:p>
          <a:p>
            <a:pPr marL="756285" marR="36068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most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obvious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always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*“ati-</a:t>
            </a:r>
            <a:r>
              <a:rPr sz="2800" spc="-20" dirty="0">
                <a:latin typeface="Calibri"/>
                <a:cs typeface="Calibri"/>
              </a:rPr>
              <a:t>tva” </a:t>
            </a:r>
            <a:r>
              <a:rPr sz="2800" spc="-25" dirty="0">
                <a:latin typeface="Calibri"/>
                <a:cs typeface="Calibri"/>
              </a:rPr>
              <a:t>(non-</a:t>
            </a:r>
            <a:r>
              <a:rPr sz="2800" spc="-10" dirty="0">
                <a:latin typeface="Calibri"/>
                <a:cs typeface="Calibri"/>
              </a:rPr>
              <a:t>alphabetical 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tā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tva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hint)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5</a:t>
            </a:r>
            <a:r>
              <a:rPr sz="4400" spc="-35" dirty="0"/>
              <a:t> </a:t>
            </a:r>
            <a:r>
              <a:rPr sz="4400" spc="-10" dirty="0"/>
              <a:t>Sanskrit-</a:t>
            </a:r>
            <a:r>
              <a:rPr sz="4400" dirty="0"/>
              <a:t>Russian</a:t>
            </a:r>
            <a:r>
              <a:rPr sz="4400" spc="-40" dirty="0"/>
              <a:t> </a:t>
            </a:r>
            <a:r>
              <a:rPr sz="4400" dirty="0"/>
              <a:t>Digital</a:t>
            </a:r>
            <a:r>
              <a:rPr sz="4400" spc="-25" dirty="0"/>
              <a:t> </a:t>
            </a:r>
            <a:r>
              <a:rPr sz="4400" spc="-10" dirty="0"/>
              <a:t>Lexicons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6163"/>
            <a:ext cx="6976745" cy="407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К.А.</a:t>
            </a:r>
            <a:r>
              <a:rPr sz="19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Коссович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25" dirty="0">
                <a:solidFill>
                  <a:srgbClr val="3E3E3E"/>
                </a:solidFill>
                <a:latin typeface="Calibri"/>
                <a:cs typeface="Calibri"/>
              </a:rPr>
              <a:t> Санскрито-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русский</a:t>
            </a: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(1854)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lexicon/kossowich/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Д.Н.</a:t>
            </a:r>
            <a:r>
              <a:rPr sz="19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3E3E3E"/>
                </a:solidFill>
                <a:latin typeface="Calibri"/>
                <a:cs typeface="Calibri"/>
              </a:rPr>
              <a:t>Кудрявский</a:t>
            </a: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3E3E3E"/>
                </a:solidFill>
                <a:latin typeface="Calibri"/>
                <a:cs typeface="Calibri"/>
              </a:rPr>
              <a:t>Санскрито-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русский</a:t>
            </a:r>
            <a:r>
              <a:rPr sz="1900" spc="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(1903)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lexicon/kudriavskiy/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spc="-20" dirty="0">
                <a:solidFill>
                  <a:srgbClr val="3E3E3E"/>
                </a:solidFill>
                <a:latin typeface="Calibri"/>
                <a:cs typeface="Calibri"/>
              </a:rPr>
              <a:t>Ф.И.</a:t>
            </a:r>
            <a:r>
              <a:rPr sz="1900" b="1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Кнауэр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из</a:t>
            </a:r>
            <a:r>
              <a:rPr sz="19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«Учебника</a:t>
            </a:r>
            <a:r>
              <a:rPr sz="19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санскритского</a:t>
            </a:r>
            <a:r>
              <a:rPr sz="19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языка»</a:t>
            </a:r>
            <a:r>
              <a:rPr sz="19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(1908)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lexicon/small/knauer_sm.html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О.</a:t>
            </a:r>
            <a:r>
              <a:rPr sz="19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Фриш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Санскритская</a:t>
            </a:r>
            <a:r>
              <a:rPr sz="19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хрестоматия.</a:t>
            </a:r>
            <a:r>
              <a:rPr sz="19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3E3E3E"/>
                </a:solidFill>
                <a:latin typeface="Calibri"/>
                <a:cs typeface="Calibri"/>
              </a:rPr>
              <a:t>Т.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II.</a:t>
            </a:r>
            <a:r>
              <a:rPr sz="1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(1956)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lexicon/small/frish_sm.html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В.А.</a:t>
            </a:r>
            <a:r>
              <a:rPr sz="19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Кочергина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3E3E3E"/>
                </a:solidFill>
                <a:latin typeface="Calibri"/>
                <a:cs typeface="Calibri"/>
              </a:rPr>
              <a:t>Санскритско-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русский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(1987)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lexicon/small/kochergina_sm.html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4" y="2354579"/>
            <a:ext cx="6847331" cy="12313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99742" y="2502217"/>
            <a:ext cx="6144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4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Open is</a:t>
            </a:r>
            <a:r>
              <a:rPr sz="4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Cologne?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96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Proprietary</a:t>
            </a:r>
            <a:r>
              <a:rPr sz="4400" spc="-80" dirty="0"/>
              <a:t> </a:t>
            </a:r>
            <a:r>
              <a:rPr sz="4400" dirty="0"/>
              <a:t>vs.</a:t>
            </a:r>
            <a:r>
              <a:rPr sz="4400" spc="-60" dirty="0"/>
              <a:t> </a:t>
            </a:r>
            <a:r>
              <a:rPr sz="4400" dirty="0"/>
              <a:t>Open</a:t>
            </a:r>
            <a:r>
              <a:rPr sz="4400" spc="-65" dirty="0"/>
              <a:t> </a:t>
            </a:r>
            <a:r>
              <a:rPr sz="4400" spc="-10" dirty="0"/>
              <a:t>Source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3492"/>
            <a:ext cx="7914640" cy="437134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8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b="1" spc="-30" dirty="0">
                <a:solidFill>
                  <a:srgbClr val="3E3E3E"/>
                </a:solidFill>
                <a:latin typeface="Calibri"/>
                <a:cs typeface="Calibri"/>
              </a:rPr>
              <a:t>Apte’s</a:t>
            </a:r>
            <a:r>
              <a:rPr sz="3100" b="1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Revised</a:t>
            </a:r>
            <a:r>
              <a:rPr sz="31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edition</a:t>
            </a:r>
            <a:r>
              <a:rPr sz="31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E3E3E"/>
                </a:solidFill>
                <a:latin typeface="Calibri"/>
                <a:cs typeface="Calibri"/>
              </a:rPr>
              <a:t>1957</a:t>
            </a:r>
            <a:r>
              <a:rPr sz="3100" b="1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Practical</a:t>
            </a:r>
            <a:r>
              <a:rPr sz="3100" b="1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Sanskrit-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English</a:t>
            </a:r>
            <a:r>
              <a:rPr sz="31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E3E3E"/>
                </a:solidFill>
                <a:latin typeface="Calibri"/>
                <a:cs typeface="Calibri"/>
              </a:rPr>
              <a:t>Dictionary</a:t>
            </a:r>
            <a:r>
              <a:rPr sz="31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31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31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3E3E3E"/>
                </a:solidFill>
                <a:latin typeface="Calibri"/>
                <a:cs typeface="Calibri"/>
              </a:rPr>
              <a:t>never-</a:t>
            </a:r>
            <a:r>
              <a:rPr sz="3100" spc="-40" dirty="0">
                <a:solidFill>
                  <a:srgbClr val="3E3E3E"/>
                </a:solidFill>
                <a:latin typeface="Calibri"/>
                <a:cs typeface="Calibri"/>
              </a:rPr>
              <a:t>to-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be</a:t>
            </a:r>
            <a:r>
              <a:rPr sz="31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finished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An</a:t>
            </a:r>
            <a:r>
              <a:rPr sz="31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Encyclopedic</a:t>
            </a:r>
            <a:r>
              <a:rPr sz="31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Dictionary</a:t>
            </a:r>
            <a:r>
              <a:rPr sz="31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31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31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E3E3E"/>
                </a:solidFill>
                <a:latin typeface="Calibri"/>
                <a:cs typeface="Calibri"/>
              </a:rPr>
              <a:t>on 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Historical</a:t>
            </a:r>
            <a:r>
              <a:rPr sz="3100" b="1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E3E3E"/>
                </a:solidFill>
                <a:latin typeface="Calibri"/>
                <a:cs typeface="Calibri"/>
              </a:rPr>
              <a:t>Principles</a:t>
            </a:r>
            <a:r>
              <a:rPr sz="3100" b="1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that</a:t>
            </a:r>
            <a:r>
              <a:rPr sz="31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started</a:t>
            </a:r>
            <a:r>
              <a:rPr sz="31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1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E3E3E"/>
                </a:solidFill>
                <a:latin typeface="Calibri"/>
                <a:cs typeface="Calibri"/>
              </a:rPr>
              <a:t>1976</a:t>
            </a:r>
            <a:r>
              <a:rPr sz="3100" b="1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E3E3E"/>
                </a:solidFill>
                <a:latin typeface="Calibri"/>
                <a:cs typeface="Calibri"/>
              </a:rPr>
              <a:t>are 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copyright</a:t>
            </a:r>
            <a:r>
              <a:rPr sz="3100" b="1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protected</a:t>
            </a:r>
            <a:r>
              <a:rPr sz="3100" b="1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from</a:t>
            </a:r>
            <a:r>
              <a:rPr sz="31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homepage,</a:t>
            </a:r>
            <a:r>
              <a:rPr sz="31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but</a:t>
            </a:r>
            <a:r>
              <a:rPr sz="31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still searchable</a:t>
            </a:r>
            <a:endParaRPr sz="3100">
              <a:latin typeface="Calibri"/>
              <a:cs typeface="Calibri"/>
            </a:endParaRPr>
          </a:p>
          <a:p>
            <a:pPr marL="354965" marR="154940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Manfred</a:t>
            </a:r>
            <a:r>
              <a:rPr sz="31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Mayrhofer.</a:t>
            </a:r>
            <a:r>
              <a:rPr sz="31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31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Concise</a:t>
            </a:r>
            <a:r>
              <a:rPr sz="31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Etymological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31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3E3E3E"/>
                </a:solidFill>
                <a:latin typeface="Calibri"/>
                <a:cs typeface="Calibri"/>
              </a:rPr>
              <a:t>Dictionary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31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E3E3E"/>
                </a:solidFill>
                <a:latin typeface="Calibri"/>
                <a:cs typeface="Calibri"/>
              </a:rPr>
              <a:t>1953-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1980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out</a:t>
            </a:r>
            <a:r>
              <a:rPr sz="31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31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Cologne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scope,</a:t>
            </a:r>
            <a:r>
              <a:rPr sz="31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but</a:t>
            </a:r>
            <a:r>
              <a:rPr sz="31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with</a:t>
            </a:r>
            <a:r>
              <a:rPr sz="31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30" dirty="0">
                <a:solidFill>
                  <a:srgbClr val="3E3E3E"/>
                </a:solidFill>
                <a:latin typeface="Calibri"/>
                <a:cs typeface="Calibri"/>
              </a:rPr>
              <a:t>authors’s</a:t>
            </a:r>
            <a:r>
              <a:rPr sz="31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permission</a:t>
            </a:r>
            <a:r>
              <a:rPr sz="31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available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at</a:t>
            </a:r>
            <a:r>
              <a:rPr sz="3100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3E3E3E"/>
                </a:solidFill>
                <a:latin typeface="Calibri"/>
                <a:cs typeface="Calibri"/>
              </a:rPr>
              <a:t>Zealots’</a:t>
            </a:r>
            <a:r>
              <a:rPr sz="31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website </a:t>
            </a:r>
            <a:r>
              <a:rPr sz="3100" spc="-3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lexicon/</a:t>
            </a:r>
            <a:r>
              <a:rPr sz="3100" b="1" spc="-10" dirty="0">
                <a:solidFill>
                  <a:srgbClr val="3E3E3E"/>
                </a:solidFill>
                <a:latin typeface="Calibri"/>
                <a:cs typeface="Calibri"/>
              </a:rPr>
              <a:t>KEWA</a:t>
            </a:r>
            <a:r>
              <a:rPr sz="3100" spc="-10" dirty="0">
                <a:solidFill>
                  <a:srgbClr val="3E3E3E"/>
                </a:solidFill>
                <a:latin typeface="Calibri"/>
                <a:cs typeface="Calibri"/>
              </a:rPr>
              <a:t>/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158" y="501205"/>
            <a:ext cx="7619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2440" algn="l"/>
              </a:tabLst>
            </a:pPr>
            <a:r>
              <a:rPr lang="hi-IN" spc="-459" dirty="0">
                <a:latin typeface="Adobe Devanagari"/>
                <a:cs typeface="Adobe Devanagari"/>
              </a:rPr>
              <a:t>कुपमण्डुकन्याया </a:t>
            </a:r>
            <a:r>
              <a:rPr lang="en-US" spc="-459" dirty="0">
                <a:latin typeface="Adobe Devanagari"/>
                <a:cs typeface="Adobe Devanagari"/>
              </a:rPr>
              <a:t>  </a:t>
            </a:r>
            <a:r>
              <a:rPr dirty="0" err="1"/>
              <a:t>kūpamaṇḍūkanyāya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081783"/>
            <a:ext cx="8229599" cy="33676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Brill</a:t>
            </a:r>
            <a:r>
              <a:rPr sz="4400" spc="-50" dirty="0"/>
              <a:t> </a:t>
            </a:r>
            <a:r>
              <a:rPr sz="4400" b="0" dirty="0">
                <a:latin typeface="Calibri"/>
                <a:cs typeface="Calibri"/>
              </a:rPr>
              <a:t>vs.</a:t>
            </a:r>
            <a:r>
              <a:rPr sz="4400" b="0" spc="-2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Cologne</a:t>
            </a:r>
            <a:r>
              <a:rPr sz="4400" b="0" spc="-3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&amp;</a:t>
            </a:r>
            <a:r>
              <a:rPr sz="4400" b="0" spc="-1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Zealots</a:t>
            </a:r>
            <a:r>
              <a:rPr sz="4400" b="0" spc="-30" dirty="0">
                <a:latin typeface="Calibri"/>
                <a:cs typeface="Calibri"/>
              </a:rPr>
              <a:t> </a:t>
            </a:r>
            <a:r>
              <a:rPr sz="4400" spc="-20" dirty="0"/>
              <a:t>2023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0255"/>
            <a:ext cx="7866311" cy="421140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55600" marR="54610" indent="-342900">
              <a:lnSpc>
                <a:spcPts val="432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E3E3E"/>
                </a:solidFill>
                <a:latin typeface="Calibri"/>
                <a:cs typeface="Calibri"/>
              </a:rPr>
              <a:t>Indo-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European</a:t>
            </a:r>
            <a:r>
              <a:rPr sz="40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Etymological Dictionaries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Online</a:t>
            </a:r>
            <a:r>
              <a:rPr sz="40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(IEDO)</a:t>
            </a:r>
            <a:r>
              <a:rPr sz="40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E3E3E"/>
                </a:solidFill>
                <a:latin typeface="Calibri"/>
                <a:cs typeface="Calibri"/>
              </a:rPr>
              <a:t>is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subscription</a:t>
            </a:r>
            <a:r>
              <a:rPr sz="4000" b="1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based</a:t>
            </a:r>
            <a:r>
              <a:rPr sz="4000" spc="-1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4000" spc="-1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4000" spc="-1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3E3E3E"/>
                </a:solidFill>
                <a:latin typeface="Calibri"/>
                <a:cs typeface="Calibri"/>
              </a:rPr>
              <a:t>libraries</a:t>
            </a:r>
            <a:endParaRPr sz="4000" dirty="0">
              <a:latin typeface="Calibri"/>
              <a:cs typeface="Calibri"/>
            </a:endParaRPr>
          </a:p>
          <a:p>
            <a:pPr marL="355600" indent="-342900">
              <a:lnSpc>
                <a:spcPts val="456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Online</a:t>
            </a:r>
            <a:r>
              <a:rPr sz="40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4000" spc="-1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available</a:t>
            </a:r>
            <a:endParaRPr sz="4000" dirty="0">
              <a:latin typeface="Calibri"/>
              <a:cs typeface="Calibri"/>
            </a:endParaRPr>
          </a:p>
          <a:p>
            <a:pPr marL="355600">
              <a:lnSpc>
                <a:spcPts val="4560"/>
              </a:lnSpc>
            </a:pP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individually</a:t>
            </a:r>
            <a:r>
              <a:rPr sz="4000" b="1" spc="-1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1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first</a:t>
            </a:r>
            <a:r>
              <a:rPr sz="4000" b="1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3E3E3E"/>
                </a:solidFill>
                <a:latin typeface="Calibri"/>
                <a:cs typeface="Calibri"/>
              </a:rPr>
              <a:t>time</a:t>
            </a:r>
            <a:endParaRPr sz="4000" dirty="0">
              <a:latin typeface="Calibri"/>
              <a:cs typeface="Calibri"/>
            </a:endParaRPr>
          </a:p>
          <a:p>
            <a:pPr marL="342900" indent="-342900" algn="ctr">
              <a:lnSpc>
                <a:spcPts val="4560"/>
              </a:lnSpc>
              <a:spcBef>
                <a:spcPts val="480"/>
              </a:spcBef>
              <a:buFont typeface="Arial"/>
              <a:buChar char="•"/>
              <a:tabLst>
                <a:tab pos="3429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R̥gveda: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complete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text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with</a:t>
            </a:r>
            <a:endParaRPr sz="4000" dirty="0">
              <a:latin typeface="Calibri"/>
              <a:cs typeface="Calibri"/>
            </a:endParaRPr>
          </a:p>
          <a:p>
            <a:pPr marL="124460" algn="ctr">
              <a:lnSpc>
                <a:spcPts val="4560"/>
              </a:lnSpc>
            </a:pP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Geldner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's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Griffith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's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translation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Brill</a:t>
            </a:r>
            <a:r>
              <a:rPr sz="4400" b="0" spc="-4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vs.</a:t>
            </a:r>
            <a:r>
              <a:rPr sz="4400" b="0" spc="-40" dirty="0">
                <a:latin typeface="Calibri"/>
                <a:cs typeface="Calibri"/>
              </a:rPr>
              <a:t> </a:t>
            </a:r>
            <a:r>
              <a:rPr sz="4400" dirty="0"/>
              <a:t>Cologne</a:t>
            </a:r>
            <a:r>
              <a:rPr sz="4400" spc="-40" dirty="0"/>
              <a:t> </a:t>
            </a:r>
            <a:r>
              <a:rPr sz="4400" dirty="0"/>
              <a:t>&amp;</a:t>
            </a:r>
            <a:r>
              <a:rPr sz="4400" spc="-25" dirty="0"/>
              <a:t> </a:t>
            </a:r>
            <a:r>
              <a:rPr sz="4400" dirty="0"/>
              <a:t>Zealots</a:t>
            </a:r>
            <a:r>
              <a:rPr sz="4400" spc="-45" dirty="0"/>
              <a:t> </a:t>
            </a:r>
            <a:r>
              <a:rPr sz="4400" spc="-20" dirty="0"/>
              <a:t>2013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1216"/>
            <a:ext cx="7894320" cy="3926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303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Cologne</a:t>
            </a:r>
            <a:r>
              <a:rPr sz="4000" spc="-1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Digital</a:t>
            </a:r>
            <a:r>
              <a:rPr sz="4000" spc="-1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4000" spc="-1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Dictionaries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(CDSD)</a:t>
            </a:r>
            <a:r>
              <a:rPr sz="40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is</a:t>
            </a:r>
            <a:r>
              <a:rPr sz="40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free</a:t>
            </a:r>
            <a:r>
              <a:rPr sz="4000" b="1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from</a:t>
            </a:r>
            <a:r>
              <a:rPr sz="40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3E3E3E"/>
                </a:solidFill>
                <a:latin typeface="Calibri"/>
                <a:cs typeface="Calibri"/>
              </a:rPr>
              <a:t>home</a:t>
            </a:r>
            <a:endParaRPr sz="4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Online</a:t>
            </a:r>
            <a:r>
              <a:rPr sz="40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4000" spc="-1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available</a:t>
            </a:r>
            <a:endParaRPr sz="4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individually</a:t>
            </a:r>
            <a:r>
              <a:rPr sz="4000" b="1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since</a:t>
            </a:r>
            <a:r>
              <a:rPr sz="4000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1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3E3E3E"/>
                </a:solidFill>
                <a:latin typeface="Calibri"/>
                <a:cs typeface="Calibri"/>
              </a:rPr>
              <a:t>beginning</a:t>
            </a:r>
            <a:endParaRPr sz="4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Geldner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's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Griffith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's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R̥gveda translation</a:t>
            </a:r>
            <a:r>
              <a:rPr sz="4000" spc="-1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since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2013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(10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years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ago)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Zealots’</a:t>
            </a:r>
            <a:r>
              <a:rPr sz="4400" spc="-50" dirty="0"/>
              <a:t> </a:t>
            </a:r>
            <a:r>
              <a:rPr sz="4400" dirty="0"/>
              <a:t>Rigveda</a:t>
            </a:r>
            <a:r>
              <a:rPr sz="4400" spc="-80" dirty="0"/>
              <a:t> </a:t>
            </a:r>
            <a:r>
              <a:rPr sz="4400" dirty="0"/>
              <a:t>Since</a:t>
            </a:r>
            <a:r>
              <a:rPr sz="4400" spc="-75" dirty="0"/>
              <a:t> </a:t>
            </a:r>
            <a:r>
              <a:rPr sz="4400" spc="-20" dirty="0"/>
              <a:t>2013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63" y="1710429"/>
            <a:ext cx="6944110" cy="41887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25628"/>
            <a:ext cx="2329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samskrtam.ru/parallel-corpus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5631" y="2019300"/>
            <a:ext cx="7449820" cy="1902460"/>
            <a:chOff x="865631" y="2019300"/>
            <a:chExt cx="7449820" cy="1902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6711" y="2019300"/>
              <a:ext cx="5408674" cy="1231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631" y="2689859"/>
              <a:ext cx="7449311" cy="12313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7991" y="2166937"/>
            <a:ext cx="756500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2108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Volunteers</a:t>
            </a:r>
            <a:r>
              <a:rPr sz="4400" spc="-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united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44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Artificial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 Intelligence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65" dirty="0"/>
              <a:t> </a:t>
            </a:r>
            <a:r>
              <a:rPr sz="4400" dirty="0"/>
              <a:t>Professor</a:t>
            </a:r>
            <a:r>
              <a:rPr sz="4400" spc="-70" dirty="0"/>
              <a:t> </a:t>
            </a:r>
            <a:r>
              <a:rPr sz="4400" dirty="0"/>
              <a:t>and</a:t>
            </a:r>
            <a:r>
              <a:rPr sz="4400" spc="-40" dirty="0"/>
              <a:t> </a:t>
            </a:r>
            <a:r>
              <a:rPr sz="4400" dirty="0"/>
              <a:t>the</a:t>
            </a:r>
            <a:r>
              <a:rPr sz="4400" spc="-40" dirty="0"/>
              <a:t> </a:t>
            </a:r>
            <a:r>
              <a:rPr sz="4400" spc="-10" dirty="0"/>
              <a:t>Madman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27651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600200"/>
            <a:ext cx="8046719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Russia-</a:t>
            </a:r>
            <a:r>
              <a:rPr dirty="0"/>
              <a:t>Born</a:t>
            </a:r>
            <a:r>
              <a:rPr spc="-95" dirty="0"/>
              <a:t> </a:t>
            </a:r>
            <a:r>
              <a:rPr dirty="0"/>
              <a:t>Sanskrit</a:t>
            </a:r>
            <a:r>
              <a:rPr spc="-100" dirty="0"/>
              <a:t> </a:t>
            </a:r>
            <a:r>
              <a:rPr dirty="0"/>
              <a:t>Search</a:t>
            </a:r>
            <a:r>
              <a:rPr spc="-95" dirty="0"/>
              <a:t> </a:t>
            </a:r>
            <a:r>
              <a:rPr spc="-10" dirty="0"/>
              <a:t>Engine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691" y="1658229"/>
            <a:ext cx="7782068" cy="4468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23291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samskrtam.ru/parallel-corpus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Russia-</a:t>
            </a:r>
            <a:r>
              <a:rPr dirty="0"/>
              <a:t>Born</a:t>
            </a:r>
            <a:r>
              <a:rPr spc="-95" dirty="0"/>
              <a:t> </a:t>
            </a:r>
            <a:r>
              <a:rPr dirty="0"/>
              <a:t>Sanskrit</a:t>
            </a:r>
            <a:r>
              <a:rPr spc="-100" dirty="0"/>
              <a:t> </a:t>
            </a:r>
            <a:r>
              <a:rPr dirty="0"/>
              <a:t>Search</a:t>
            </a:r>
            <a:r>
              <a:rPr spc="-95" dirty="0"/>
              <a:t> </a:t>
            </a:r>
            <a:r>
              <a:rPr spc="-10" dirty="0"/>
              <a:t>Engine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01" y="1600200"/>
            <a:ext cx="8096998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23291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samskrtam.ru/parallel-corpus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129027" y="2019300"/>
            <a:ext cx="5076825" cy="1902460"/>
            <a:chOff x="2129027" y="2019300"/>
            <a:chExt cx="5076825" cy="1902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9027" y="2019300"/>
              <a:ext cx="5076443" cy="1231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4684" y="2689860"/>
              <a:ext cx="4332731" cy="12313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61418" y="2166937"/>
            <a:ext cx="4220210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4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Correction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vs.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4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4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Data</a:t>
            </a:r>
            <a:r>
              <a:rPr sz="4400" spc="-95" dirty="0"/>
              <a:t> </a:t>
            </a:r>
            <a:r>
              <a:rPr sz="4400" dirty="0"/>
              <a:t>Correction</a:t>
            </a:r>
            <a:r>
              <a:rPr sz="4400" spc="-114" dirty="0"/>
              <a:t> </a:t>
            </a:r>
            <a:r>
              <a:rPr sz="4400" spc="-10" dirty="0"/>
              <a:t>Champions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1216"/>
            <a:ext cx="7727315" cy="3804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We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at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Cologne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great</a:t>
            </a:r>
            <a:r>
              <a:rPr sz="4000" spc="-1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at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weeding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out</a:t>
            </a:r>
            <a:r>
              <a:rPr sz="40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dirt.</a:t>
            </a:r>
            <a:r>
              <a:rPr sz="40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biggest</a:t>
            </a:r>
            <a:r>
              <a:rPr sz="40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Sanskrit </a:t>
            </a:r>
            <a:r>
              <a:rPr sz="4000" b="1" spc="-10" dirty="0">
                <a:solidFill>
                  <a:srgbClr val="3E3E3E"/>
                </a:solidFill>
                <a:latin typeface="Calibri"/>
                <a:cs typeface="Calibri"/>
              </a:rPr>
              <a:t>recycling</a:t>
            </a:r>
            <a:r>
              <a:rPr sz="4000" b="1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plant</a:t>
            </a:r>
            <a:r>
              <a:rPr sz="4000" b="1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40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Milky</a:t>
            </a:r>
            <a:r>
              <a:rPr sz="40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Way.</a:t>
            </a:r>
            <a:endParaRPr sz="4000">
              <a:latin typeface="Calibri"/>
              <a:cs typeface="Calibri"/>
            </a:endParaRPr>
          </a:p>
          <a:p>
            <a:pPr marL="354965" marR="885825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There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no</a:t>
            </a:r>
            <a:r>
              <a:rPr sz="4000" b="1" spc="-1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3E3E3E"/>
                </a:solidFill>
                <a:latin typeface="Calibri"/>
                <a:cs typeface="Calibri"/>
              </a:rPr>
              <a:t>alternatives</a:t>
            </a:r>
            <a:r>
              <a:rPr sz="4000" b="1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E3E3E"/>
                </a:solidFill>
                <a:latin typeface="Calibri"/>
                <a:cs typeface="Calibri"/>
              </a:rPr>
              <a:t>for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continuously</a:t>
            </a:r>
            <a:r>
              <a:rPr sz="4000" spc="-1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corrected</a:t>
            </a:r>
            <a:r>
              <a:rPr sz="4000" spc="-1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Sanskrit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dictionary</a:t>
            </a:r>
            <a:r>
              <a:rPr sz="4000" spc="-1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data</a:t>
            </a:r>
            <a:r>
              <a:rPr sz="4000" spc="-1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since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1997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44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NonStop</a:t>
            </a:r>
            <a:r>
              <a:rPr sz="4400" spc="-90" dirty="0"/>
              <a:t> </a:t>
            </a:r>
            <a:r>
              <a:rPr sz="4400" dirty="0"/>
              <a:t>Error</a:t>
            </a:r>
            <a:r>
              <a:rPr sz="4400" spc="-80" dirty="0"/>
              <a:t> </a:t>
            </a:r>
            <a:r>
              <a:rPr sz="4400" spc="-10" dirty="0"/>
              <a:t>Correction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1216"/>
            <a:ext cx="7896225" cy="441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Every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other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website</a:t>
            </a:r>
            <a:r>
              <a:rPr sz="4000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/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offline software,</a:t>
            </a:r>
            <a:r>
              <a:rPr sz="4000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that</a:t>
            </a:r>
            <a:r>
              <a:rPr sz="4000" spc="-1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contains</a:t>
            </a:r>
            <a:r>
              <a:rPr sz="4000" spc="-1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copy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/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uses </a:t>
            </a:r>
            <a:r>
              <a:rPr sz="4000" b="1" spc="-30" dirty="0">
                <a:solidFill>
                  <a:srgbClr val="3E3E3E"/>
                </a:solidFill>
                <a:latin typeface="Calibri"/>
                <a:cs typeface="Calibri"/>
              </a:rPr>
              <a:t>Monier-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Williams</a:t>
            </a:r>
            <a:r>
              <a:rPr sz="4000" b="1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dictionary</a:t>
            </a:r>
            <a:r>
              <a:rPr sz="4000" spc="-1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data,</a:t>
            </a:r>
            <a:r>
              <a:rPr sz="4000" spc="-1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E3E3E"/>
                </a:solidFill>
                <a:latin typeface="Calibri"/>
                <a:cs typeface="Calibri"/>
              </a:rPr>
              <a:t>is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taken</a:t>
            </a:r>
            <a:r>
              <a:rPr sz="4000" spc="-1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from</a:t>
            </a:r>
            <a:r>
              <a:rPr sz="4000" spc="-1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Cologne.</a:t>
            </a:r>
            <a:endParaRPr sz="4000">
              <a:latin typeface="Calibri"/>
              <a:cs typeface="Calibri"/>
            </a:endParaRPr>
          </a:p>
          <a:p>
            <a:pPr marL="354965" marR="62865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Some</a:t>
            </a:r>
            <a:r>
              <a:rPr sz="40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30,</a:t>
            </a:r>
            <a:r>
              <a:rPr sz="40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20,</a:t>
            </a:r>
            <a:r>
              <a:rPr sz="40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r>
              <a:rPr sz="40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or</a:t>
            </a:r>
            <a:r>
              <a:rPr sz="40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40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years</a:t>
            </a:r>
            <a:r>
              <a:rPr sz="40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ago.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Depending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on</a:t>
            </a:r>
            <a:r>
              <a:rPr sz="4000" spc="-1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errors</a:t>
            </a:r>
            <a:r>
              <a:rPr sz="4000" b="1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3E3E3E"/>
                </a:solidFill>
                <a:latin typeface="Calibri"/>
                <a:cs typeface="Calibri"/>
              </a:rPr>
              <a:t>left</a:t>
            </a:r>
            <a:r>
              <a:rPr sz="4000" b="1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4000" spc="-1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date</a:t>
            </a:r>
            <a:r>
              <a:rPr sz="4000" spc="-1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3E3E3E"/>
                </a:solidFill>
                <a:latin typeface="Calibri"/>
                <a:cs typeface="Calibri"/>
              </a:rPr>
              <a:t>of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replication</a:t>
            </a:r>
            <a:r>
              <a:rPr sz="40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can</a:t>
            </a:r>
            <a:r>
              <a:rPr sz="40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be</a:t>
            </a:r>
            <a:r>
              <a:rPr sz="40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calculated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926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Correction</a:t>
            </a:r>
            <a:r>
              <a:rPr sz="4400" spc="-80" dirty="0"/>
              <a:t> </a:t>
            </a:r>
            <a:r>
              <a:rPr sz="4400" dirty="0"/>
              <a:t>of</a:t>
            </a:r>
            <a:r>
              <a:rPr sz="4400" spc="-50" dirty="0"/>
              <a:t> </a:t>
            </a:r>
            <a:r>
              <a:rPr sz="4400" spc="-10" dirty="0"/>
              <a:t>Errors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8037"/>
            <a:ext cx="6743700" cy="454787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355600" algn="l"/>
              </a:tabLst>
            </a:pP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one-</a:t>
            </a:r>
            <a:r>
              <a:rPr sz="4400" spc="-20" dirty="0">
                <a:solidFill>
                  <a:srgbClr val="3E3E3E"/>
                </a:solidFill>
                <a:latin typeface="Calibri"/>
                <a:cs typeface="Calibri"/>
              </a:rPr>
              <a:t>by-</a:t>
            </a:r>
            <a:r>
              <a:rPr sz="4400" spc="-25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endParaRPr sz="4400">
              <a:latin typeface="Calibri"/>
              <a:cs typeface="Calibri"/>
            </a:endParaRPr>
          </a:p>
          <a:p>
            <a:pPr marL="870585" lvl="1" indent="-401320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871219" algn="l"/>
              </a:tabLst>
            </a:pP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headwords</a:t>
            </a:r>
            <a:endParaRPr sz="4000">
              <a:latin typeface="Calibri"/>
              <a:cs typeface="Calibri"/>
            </a:endParaRPr>
          </a:p>
          <a:p>
            <a:pPr marL="870585" lvl="1" indent="-401320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871219" algn="l"/>
              </a:tabLst>
            </a:pPr>
            <a:r>
              <a:rPr sz="4000" spc="-10" dirty="0">
                <a:solidFill>
                  <a:srgbClr val="3E3E3E"/>
                </a:solidFill>
                <a:latin typeface="Calibri"/>
                <a:cs typeface="Calibri"/>
              </a:rPr>
              <a:t>entries</a:t>
            </a:r>
            <a:endParaRPr sz="40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155700" algn="l"/>
              </a:tabLst>
            </a:pP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Sanksrit</a:t>
            </a:r>
            <a:endParaRPr sz="3600">
              <a:latin typeface="Calibri"/>
              <a:cs typeface="Calibri"/>
            </a:endParaRPr>
          </a:p>
          <a:p>
            <a:pPr marL="1155065" marR="5080" lvl="2" indent="-228600">
              <a:lnSpc>
                <a:spcPts val="3890"/>
              </a:lnSpc>
              <a:spcBef>
                <a:spcPts val="919"/>
              </a:spcBef>
              <a:buFont typeface="Arial"/>
              <a:buChar char="•"/>
              <a:tabLst>
                <a:tab pos="1155700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nonSanskrit</a:t>
            </a:r>
            <a:r>
              <a:rPr sz="36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(English,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 German,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French,</a:t>
            </a:r>
            <a:r>
              <a:rPr sz="36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Russian,</a:t>
            </a:r>
            <a:r>
              <a:rPr sz="36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Greek,</a:t>
            </a:r>
            <a:r>
              <a:rPr sz="36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Latin)</a:t>
            </a:r>
            <a:endParaRPr sz="3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</a:tabLst>
            </a:pPr>
            <a:r>
              <a:rPr sz="4400" b="1" dirty="0">
                <a:solidFill>
                  <a:srgbClr val="3E3E3E"/>
                </a:solidFill>
                <a:latin typeface="Calibri"/>
                <a:cs typeface="Calibri"/>
              </a:rPr>
              <a:t>batch</a:t>
            </a:r>
            <a:r>
              <a:rPr sz="4400" b="1" spc="-11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b="1" spc="-20" dirty="0">
                <a:solidFill>
                  <a:srgbClr val="3E3E3E"/>
                </a:solidFill>
                <a:latin typeface="Calibri"/>
                <a:cs typeface="Calibri"/>
              </a:rPr>
              <a:t>mode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Older</a:t>
            </a:r>
            <a:r>
              <a:rPr sz="4400" spc="-70" dirty="0"/>
              <a:t> </a:t>
            </a:r>
            <a:r>
              <a:rPr sz="4400" spc="-20" dirty="0"/>
              <a:t>Versions</a:t>
            </a:r>
            <a:r>
              <a:rPr sz="4400" spc="-60" dirty="0"/>
              <a:t> </a:t>
            </a:r>
            <a:r>
              <a:rPr sz="4400" dirty="0"/>
              <a:t>of</a:t>
            </a:r>
            <a:r>
              <a:rPr sz="4400" spc="-50" dirty="0"/>
              <a:t> </a:t>
            </a:r>
            <a:r>
              <a:rPr sz="4400" spc="-10" dirty="0"/>
              <a:t>Monier-Williams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4536"/>
            <a:ext cx="8063865" cy="43053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5600" algn="l"/>
                <a:tab pos="7123430" algn="l"/>
              </a:tabLst>
            </a:pP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  <a:hlinkClick r:id="rId2"/>
              </a:rPr>
              <a:t>https://sanskrit.inria.fr/MW/1.html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	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</a:rPr>
              <a:t>2012</a:t>
            </a:r>
            <a:endParaRPr sz="3600" dirty="0">
              <a:latin typeface="Calibri"/>
              <a:cs typeface="Calibri"/>
            </a:endParaRPr>
          </a:p>
          <a:p>
            <a:pPr marL="355600" marR="48895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3600" spc="-10" dirty="0">
                <a:solidFill>
                  <a:srgbClr val="3E3E3E"/>
                </a:solidFill>
                <a:latin typeface="Calibri"/>
                <a:cs typeface="Calibri"/>
                <a:hlinkClick r:id="rId3"/>
              </a:rPr>
              <a:t>http://buddhism-dict.net/ddb/monier-williams/mw-01.html</a:t>
            </a:r>
            <a:endParaRPr sz="3600" dirty="0">
              <a:latin typeface="Calibri"/>
              <a:cs typeface="Calibri"/>
            </a:endParaRPr>
          </a:p>
          <a:p>
            <a:pPr marL="355600" marR="89535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3600" spc="-20" dirty="0">
                <a:solidFill>
                  <a:srgbClr val="3E3E3E"/>
                </a:solidFill>
                <a:latin typeface="Calibri"/>
                <a:cs typeface="Calibri"/>
                <a:hlinkClick r:id="rId4"/>
              </a:rPr>
              <a:t>https://hu.wiktionary.org/wiki/F%C3%BCggel%C3%A9k:Szanszkrit-English/a</a:t>
            </a:r>
            <a:endParaRPr sz="3600" dirty="0">
              <a:latin typeface="Calibri"/>
              <a:cs typeface="Calibri"/>
            </a:endParaRPr>
          </a:p>
          <a:p>
            <a:pPr marL="354965" marR="146431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  <a:hlinkClick r:id="rId5"/>
              </a:rPr>
              <a:t>https://www.tuninst.net/SED- MW/download-prem/a.htm</a:t>
            </a:r>
            <a:r>
              <a:rPr sz="3600" spc="-30" dirty="0">
                <a:solidFill>
                  <a:srgbClr val="3E3E3E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  <a:hlinkClick r:id="rId5"/>
              </a:rPr>
              <a:t>2003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Original</a:t>
            </a:r>
            <a:r>
              <a:rPr spc="-105" dirty="0"/>
              <a:t> </a:t>
            </a:r>
            <a:r>
              <a:rPr dirty="0"/>
              <a:t>Recipe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dirty="0"/>
              <a:t>Sauces</a:t>
            </a:r>
            <a:r>
              <a:rPr spc="-100" dirty="0"/>
              <a:t> </a:t>
            </a:r>
            <a:r>
              <a:rPr b="0" spc="-10" dirty="0">
                <a:latin typeface="Calibri"/>
                <a:cs typeface="Calibri"/>
              </a:rPr>
              <a:t>(1/5)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2794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Original</a:t>
            </a:r>
            <a:r>
              <a:rPr spc="-105" dirty="0"/>
              <a:t> </a:t>
            </a:r>
            <a:r>
              <a:rPr dirty="0"/>
              <a:t>Recipe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dirty="0"/>
              <a:t>Sauces</a:t>
            </a:r>
            <a:r>
              <a:rPr spc="-100" dirty="0"/>
              <a:t> </a:t>
            </a:r>
            <a:r>
              <a:rPr b="0" spc="-10" dirty="0">
                <a:latin typeface="Calibri"/>
                <a:cs typeface="Calibri"/>
              </a:rPr>
              <a:t>(2/5)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36131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  <a:hlinkClick r:id="rId3"/>
              </a:rPr>
              <a:t>www.tuninst.net/SED-MW/download-prem/a.htm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Original</a:t>
            </a:r>
            <a:r>
              <a:rPr spc="-105" dirty="0"/>
              <a:t> </a:t>
            </a:r>
            <a:r>
              <a:rPr dirty="0"/>
              <a:t>Recipe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dirty="0"/>
              <a:t>Sauces</a:t>
            </a:r>
            <a:r>
              <a:rPr spc="-100" dirty="0"/>
              <a:t> </a:t>
            </a:r>
            <a:r>
              <a:rPr b="0" spc="-10" dirty="0">
                <a:latin typeface="Calibri"/>
                <a:cs typeface="Calibri"/>
              </a:rPr>
              <a:t>(3/5)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554" y="1600200"/>
            <a:ext cx="7931245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380682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buddhism-dict.net/ddb/monier-williams/mw-01.html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Original</a:t>
            </a:r>
            <a:r>
              <a:rPr spc="-105" dirty="0"/>
              <a:t> </a:t>
            </a:r>
            <a:r>
              <a:rPr dirty="0"/>
              <a:t>Recipe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dirty="0"/>
              <a:t>Sauces</a:t>
            </a:r>
            <a:r>
              <a:rPr spc="-100" dirty="0"/>
              <a:t> </a:t>
            </a:r>
            <a:r>
              <a:rPr b="0" spc="-10" dirty="0">
                <a:latin typeface="Calibri"/>
                <a:cs typeface="Calibri"/>
              </a:rPr>
              <a:t>(4/5)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226" y="1600200"/>
            <a:ext cx="8113573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4689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hu.wiktionary.org/wiki/F%C3%BCggel%C3%A9k:Szanszkrit-English/a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dirty="0"/>
              <a:t>Original</a:t>
            </a:r>
            <a:r>
              <a:rPr spc="-105" dirty="0"/>
              <a:t> </a:t>
            </a:r>
            <a:r>
              <a:rPr dirty="0"/>
              <a:t>Recipe</a:t>
            </a:r>
            <a:r>
              <a:rPr spc="-12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dirty="0"/>
              <a:t>Sauces</a:t>
            </a:r>
            <a:r>
              <a:rPr spc="-100" dirty="0"/>
              <a:t> </a:t>
            </a:r>
            <a:r>
              <a:rPr b="0" spc="-10" dirty="0">
                <a:latin typeface="Calibri"/>
                <a:cs typeface="Calibri"/>
              </a:rPr>
              <a:t>(5/5)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22142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sanskrit.inria.fr/MW/1.html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923288" y="2019300"/>
            <a:ext cx="5335905" cy="1902460"/>
            <a:chOff x="1923288" y="2019300"/>
            <a:chExt cx="5335905" cy="1902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6272" y="2019300"/>
              <a:ext cx="2095499" cy="1231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299" y="2019300"/>
              <a:ext cx="3462527" cy="12313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3288" y="2689860"/>
              <a:ext cx="5335523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55646" y="2166937"/>
            <a:ext cx="4907153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Derivation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44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Aids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250359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Added</a:t>
            </a:r>
            <a:r>
              <a:rPr sz="4400" spc="-105" dirty="0"/>
              <a:t> </a:t>
            </a:r>
            <a:r>
              <a:rPr sz="4400" spc="-10" dirty="0"/>
              <a:t>Value</a:t>
            </a:r>
            <a:r>
              <a:rPr sz="4400" spc="-95" dirty="0"/>
              <a:t> </a:t>
            </a:r>
            <a:r>
              <a:rPr sz="4400" dirty="0"/>
              <a:t>to</a:t>
            </a:r>
            <a:r>
              <a:rPr sz="4400" spc="-80" dirty="0"/>
              <a:t> </a:t>
            </a:r>
            <a:r>
              <a:rPr sz="4400" dirty="0"/>
              <a:t>Derived</a:t>
            </a:r>
            <a:r>
              <a:rPr sz="4400" spc="-105" dirty="0"/>
              <a:t> </a:t>
            </a:r>
            <a:r>
              <a:rPr sz="4400" dirty="0"/>
              <a:t>Data</a:t>
            </a:r>
            <a:r>
              <a:rPr sz="4400" spc="-80" dirty="0"/>
              <a:t> </a:t>
            </a:r>
            <a:r>
              <a:rPr sz="4400" b="0" spc="-10" dirty="0">
                <a:latin typeface="Calibri"/>
                <a:cs typeface="Calibri"/>
              </a:rPr>
              <a:t>(1/5)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279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607312"/>
            <a:ext cx="7905750" cy="37325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  <a:hlinkClick r:id="rId2"/>
              </a:rPr>
              <a:t>http://sanskrit-</a:t>
            </a:r>
            <a:r>
              <a:rPr lang="ru-UA" sz="3200" spc="-10" dirty="0">
                <a:latin typeface="Calibri"/>
                <a:cs typeface="Calibri"/>
                <a:hlinkClick r:id="rId2"/>
              </a:rPr>
              <a:t> </a:t>
            </a:r>
            <a:r>
              <a:rPr sz="3200" spc="-10" dirty="0">
                <a:latin typeface="Calibri"/>
                <a:cs typeface="Calibri"/>
                <a:hlinkClick r:id="rId2"/>
              </a:rPr>
              <a:t>linguistics.org/dcs/index.php?contents=lemm a&amp;IDWord=88026</a:t>
            </a:r>
            <a:endParaRPr sz="3200" dirty="0">
              <a:latin typeface="Calibri"/>
              <a:cs typeface="Calibri"/>
            </a:endParaRPr>
          </a:p>
          <a:p>
            <a:pPr marL="355600" marR="2414270" indent="-34353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  <a:hlinkClick r:id="rId3"/>
              </a:rPr>
              <a:t>https://vedaweb.uni- koeln.de/rigveda/view/index/0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  <a:hlinkClick r:id="rId4"/>
              </a:rPr>
              <a:t>https://ambuda.org/texts/ramayanam/6.43</a:t>
            </a:r>
            <a:endParaRPr sz="3200" dirty="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  <a:tab pos="356870" algn="l"/>
              </a:tabLst>
            </a:pPr>
            <a:r>
              <a:rPr sz="3200" spc="-20" dirty="0">
                <a:latin typeface="Calibri"/>
                <a:cs typeface="Calibri"/>
                <a:hlinkClick r:id="rId5"/>
              </a:rPr>
              <a:t>https://nws.uzi.uni-</a:t>
            </a:r>
            <a:r>
              <a:rPr sz="3200" spc="-10" dirty="0">
                <a:latin typeface="Calibri"/>
                <a:cs typeface="Calibri"/>
                <a:hlinkClick r:id="rId5"/>
              </a:rPr>
              <a:t>halle.de/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Added</a:t>
            </a:r>
            <a:r>
              <a:rPr sz="4400" spc="-105" dirty="0"/>
              <a:t> </a:t>
            </a:r>
            <a:r>
              <a:rPr sz="4400" spc="-10" dirty="0"/>
              <a:t>Value</a:t>
            </a:r>
            <a:r>
              <a:rPr sz="4400" spc="-95" dirty="0"/>
              <a:t> </a:t>
            </a:r>
            <a:r>
              <a:rPr sz="4400" dirty="0"/>
              <a:t>to</a:t>
            </a:r>
            <a:r>
              <a:rPr sz="4400" spc="-80" dirty="0"/>
              <a:t> </a:t>
            </a:r>
            <a:r>
              <a:rPr sz="4400" dirty="0"/>
              <a:t>Derived</a:t>
            </a:r>
            <a:r>
              <a:rPr sz="4400" spc="-105" dirty="0"/>
              <a:t> </a:t>
            </a:r>
            <a:r>
              <a:rPr sz="4400" dirty="0"/>
              <a:t>Data</a:t>
            </a:r>
            <a:r>
              <a:rPr sz="4400" spc="-80" dirty="0"/>
              <a:t> </a:t>
            </a:r>
            <a:r>
              <a:rPr sz="4400" b="0" spc="-10" dirty="0">
                <a:latin typeface="Calibri"/>
                <a:cs typeface="Calibri"/>
              </a:rPr>
              <a:t>(2/5)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4962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sanskrit-linguistics.org/dcs/index.php?contents=lemma&amp;IDWord=88026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Added</a:t>
            </a:r>
            <a:r>
              <a:rPr sz="4400" spc="-105" dirty="0"/>
              <a:t> </a:t>
            </a:r>
            <a:r>
              <a:rPr sz="4400" spc="-10" dirty="0"/>
              <a:t>Value</a:t>
            </a:r>
            <a:r>
              <a:rPr sz="4400" spc="-95" dirty="0"/>
              <a:t> </a:t>
            </a:r>
            <a:r>
              <a:rPr sz="4400" dirty="0"/>
              <a:t>to</a:t>
            </a:r>
            <a:r>
              <a:rPr sz="4400" spc="-80" dirty="0"/>
              <a:t> </a:t>
            </a:r>
            <a:r>
              <a:rPr sz="4400" dirty="0"/>
              <a:t>Derived</a:t>
            </a:r>
            <a:r>
              <a:rPr sz="4400" spc="-105" dirty="0"/>
              <a:t> </a:t>
            </a:r>
            <a:r>
              <a:rPr sz="4400" dirty="0"/>
              <a:t>Data</a:t>
            </a:r>
            <a:r>
              <a:rPr sz="4400" spc="-80" dirty="0"/>
              <a:t> </a:t>
            </a:r>
            <a:r>
              <a:rPr sz="4400" b="0" spc="-10" dirty="0">
                <a:latin typeface="Calibri"/>
                <a:cs typeface="Calibri"/>
              </a:rPr>
              <a:t>(3/5)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3259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vedaweb.uni-koeln.de/rigveda/view/index/0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Added</a:t>
            </a:r>
            <a:r>
              <a:rPr sz="4400" spc="-105" dirty="0"/>
              <a:t> </a:t>
            </a:r>
            <a:r>
              <a:rPr sz="4400" spc="-10" dirty="0"/>
              <a:t>Value</a:t>
            </a:r>
            <a:r>
              <a:rPr sz="4400" spc="-95" dirty="0"/>
              <a:t> </a:t>
            </a:r>
            <a:r>
              <a:rPr sz="4400" dirty="0"/>
              <a:t>to</a:t>
            </a:r>
            <a:r>
              <a:rPr sz="4400" spc="-80" dirty="0"/>
              <a:t> </a:t>
            </a:r>
            <a:r>
              <a:rPr sz="4400" dirty="0"/>
              <a:t>Derived</a:t>
            </a:r>
            <a:r>
              <a:rPr sz="4400" spc="-105" dirty="0"/>
              <a:t> </a:t>
            </a:r>
            <a:r>
              <a:rPr sz="4400" dirty="0"/>
              <a:t>Data</a:t>
            </a:r>
            <a:r>
              <a:rPr sz="4400" spc="-80" dirty="0"/>
              <a:t> </a:t>
            </a:r>
            <a:r>
              <a:rPr sz="4400" b="0" spc="-10" dirty="0">
                <a:latin typeface="Calibri"/>
                <a:cs typeface="Calibri"/>
              </a:rPr>
              <a:t>(4/5)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2732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ambuda.org/texts/ramayanam/6.43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352917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Added</a:t>
            </a:r>
            <a:r>
              <a:rPr sz="4400" spc="-105" dirty="0"/>
              <a:t> </a:t>
            </a:r>
            <a:r>
              <a:rPr sz="4400" spc="-10" dirty="0"/>
              <a:t>Value</a:t>
            </a:r>
            <a:r>
              <a:rPr sz="4400" spc="-95" dirty="0"/>
              <a:t> </a:t>
            </a:r>
            <a:r>
              <a:rPr sz="4400" dirty="0"/>
              <a:t>to</a:t>
            </a:r>
            <a:r>
              <a:rPr sz="4400" spc="-80" dirty="0"/>
              <a:t> </a:t>
            </a:r>
            <a:r>
              <a:rPr sz="4400" dirty="0"/>
              <a:t>Derived</a:t>
            </a:r>
            <a:r>
              <a:rPr sz="4400" spc="-105" dirty="0"/>
              <a:t> </a:t>
            </a:r>
            <a:r>
              <a:rPr sz="4400" dirty="0"/>
              <a:t>Data</a:t>
            </a:r>
            <a:r>
              <a:rPr sz="4400" spc="-80" dirty="0"/>
              <a:t> </a:t>
            </a:r>
            <a:r>
              <a:rPr sz="4400" b="0" spc="-10" dirty="0">
                <a:latin typeface="Calibri"/>
                <a:cs typeface="Calibri"/>
              </a:rPr>
              <a:t>(5/5)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1794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nws.uzi.uni-halle.de/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37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81455" y="2019300"/>
            <a:ext cx="7219315" cy="1902460"/>
            <a:chOff x="981455" y="2019300"/>
            <a:chExt cx="7219315" cy="1902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191" y="2019300"/>
              <a:ext cx="5346191" cy="1231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455" y="2689859"/>
              <a:ext cx="7219187" cy="12313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13814" y="2166937"/>
            <a:ext cx="6516370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Hiring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Volunteers</a:t>
            </a:r>
            <a:endParaRPr sz="4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4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"/>
                <a:cs typeface="Arial"/>
              </a:rPr>
              <a:t>Proofreading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653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Headwords</a:t>
            </a:r>
            <a:r>
              <a:rPr sz="4400" spc="-100" dirty="0"/>
              <a:t> </a:t>
            </a:r>
            <a:r>
              <a:rPr sz="4400" dirty="0"/>
              <a:t>vs.</a:t>
            </a:r>
            <a:r>
              <a:rPr sz="4400" spc="-65" dirty="0"/>
              <a:t> </a:t>
            </a:r>
            <a:r>
              <a:rPr sz="4400" spc="-10" dirty="0"/>
              <a:t>Entries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36131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github.com/sanskrit-lexicon/COLOGNE/issues/325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3834"/>
            <a:ext cx="7446009" cy="284244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55600" algn="l"/>
              </a:tabLst>
            </a:pP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Data</a:t>
            </a:r>
            <a:r>
              <a:rPr sz="44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3E3E3E"/>
                </a:solidFill>
                <a:latin typeface="Calibri"/>
                <a:cs typeface="Calibri"/>
              </a:rPr>
              <a:t>Correction</a:t>
            </a:r>
            <a:endParaRPr sz="4400" dirty="0">
              <a:latin typeface="Calibri"/>
              <a:cs typeface="Calibri"/>
            </a:endParaRPr>
          </a:p>
          <a:p>
            <a:pPr marL="1040765" marR="5080" lvl="1" indent="-571500">
              <a:lnSpc>
                <a:spcPct val="100000"/>
              </a:lnSpc>
              <a:spcBef>
                <a:spcPts val="919"/>
              </a:spcBef>
              <a:buClr>
                <a:srgbClr val="3E3E3E"/>
              </a:buClr>
              <a:buFont typeface="Arial" panose="020B0604020202020204" pitchFamily="34" charset="0"/>
              <a:buChar char="•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Normalization</a:t>
            </a:r>
            <a:r>
              <a:rPr sz="36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36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endParaRPr lang="en-US" sz="3600" spc="-8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469265" marR="5080" lvl="1">
              <a:lnSpc>
                <a:spcPct val="100000"/>
              </a:lnSpc>
              <a:spcBef>
                <a:spcPts val="919"/>
              </a:spcBef>
              <a:buClr>
                <a:srgbClr val="3E3E3E"/>
              </a:buClr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headwords</a:t>
            </a:r>
            <a:r>
              <a:rPr sz="36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(2014- 2023)</a:t>
            </a:r>
            <a:endParaRPr lang="en-US" sz="3600" spc="-10" dirty="0">
              <a:latin typeface="Calibri"/>
              <a:cs typeface="Calibri"/>
            </a:endParaRPr>
          </a:p>
          <a:p>
            <a:pPr marL="1040765" marR="5080" lvl="1" indent="-571500">
              <a:lnSpc>
                <a:spcPct val="100000"/>
              </a:lnSpc>
              <a:spcBef>
                <a:spcPts val="919"/>
              </a:spcBef>
              <a:buClr>
                <a:srgbClr val="3E3E3E"/>
              </a:buClr>
              <a:buFont typeface="Arial" panose="020B0604020202020204" pitchFamily="34" charset="0"/>
              <a:buChar char="•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English</a:t>
            </a:r>
            <a:r>
              <a:rPr sz="36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errors</a:t>
            </a:r>
            <a:r>
              <a:rPr sz="36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6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dictionary</a:t>
            </a:r>
            <a:r>
              <a:rPr sz="36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entries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957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Markup</a:t>
            </a:r>
            <a:r>
              <a:rPr sz="4400" spc="-70" dirty="0"/>
              <a:t> </a:t>
            </a:r>
            <a:r>
              <a:rPr sz="4400" spc="-10" dirty="0"/>
              <a:t>Refinement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36131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github.com/sanskrit-lexicon/COLOGNE/issues/325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3834"/>
            <a:ext cx="6903720" cy="391922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55600" algn="l"/>
              </a:tabLst>
            </a:pP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Markup</a:t>
            </a:r>
            <a:r>
              <a:rPr sz="44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3E3E3E"/>
                </a:solidFill>
                <a:latin typeface="Calibri"/>
                <a:cs typeface="Calibri"/>
              </a:rPr>
              <a:t>Refinement</a:t>
            </a:r>
            <a:endParaRPr sz="4400">
              <a:latin typeface="Calibri"/>
              <a:cs typeface="Calibri"/>
            </a:endParaRPr>
          </a:p>
          <a:p>
            <a:pPr marL="756285" marR="6350" lvl="1" indent="-287020">
              <a:lnSpc>
                <a:spcPct val="100000"/>
              </a:lnSpc>
              <a:spcBef>
                <a:spcPts val="919"/>
              </a:spcBef>
              <a:buClr>
                <a:srgbClr val="3E3E3E"/>
              </a:buClr>
              <a:buFont typeface="Arial"/>
              <a:buChar char="–"/>
              <a:tabLst>
                <a:tab pos="860425" algn="l"/>
              </a:tabLst>
            </a:pPr>
            <a:r>
              <a:rPr dirty="0"/>
              <a:t>	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Subheadword</a:t>
            </a:r>
            <a:r>
              <a:rPr sz="36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36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headword</a:t>
            </a:r>
            <a:r>
              <a:rPr sz="36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6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3E3E3E"/>
                </a:solidFill>
                <a:latin typeface="Calibri"/>
                <a:cs typeface="Calibri"/>
              </a:rPr>
              <a:t>all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endParaRPr sz="36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65"/>
              </a:spcBef>
              <a:buFont typeface="Arial"/>
              <a:buChar char="–"/>
              <a:tabLst>
                <a:tab pos="860425" algn="l"/>
              </a:tabLst>
            </a:pP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Verb</a:t>
            </a:r>
            <a:r>
              <a:rPr sz="36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tagging</a:t>
            </a:r>
            <a:r>
              <a:rPr sz="36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6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all</a:t>
            </a:r>
            <a:r>
              <a:rPr sz="36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endParaRPr sz="3600">
              <a:latin typeface="Calibri"/>
              <a:cs typeface="Calibri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865"/>
              </a:spcBef>
              <a:buClr>
                <a:srgbClr val="3E3E3E"/>
              </a:buClr>
              <a:buFont typeface="Arial"/>
              <a:buChar char="–"/>
              <a:tabLst>
                <a:tab pos="860425" algn="l"/>
              </a:tabLst>
            </a:pPr>
            <a:r>
              <a:rPr dirty="0"/>
              <a:t>	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Add</a:t>
            </a:r>
            <a:r>
              <a:rPr sz="36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missing</a:t>
            </a:r>
            <a:r>
              <a:rPr sz="36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abbreviations</a:t>
            </a:r>
            <a:r>
              <a:rPr sz="36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36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3E3E3E"/>
                </a:solidFill>
                <a:latin typeface="Calibri"/>
                <a:cs typeface="Calibri"/>
              </a:rPr>
              <a:t>the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397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Code</a:t>
            </a:r>
            <a:r>
              <a:rPr sz="4400" spc="-15" dirty="0"/>
              <a:t> </a:t>
            </a:r>
            <a:r>
              <a:rPr sz="4400" dirty="0"/>
              <a:t>&amp; </a:t>
            </a:r>
            <a:r>
              <a:rPr sz="4400" spc="-25" dirty="0"/>
              <a:t>UI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3612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github.com/sanskrit-lexicon/COLOGNE/issues/400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3834"/>
            <a:ext cx="5255895" cy="35534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55600" algn="l"/>
              </a:tabLst>
            </a:pP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Code</a:t>
            </a:r>
            <a:r>
              <a:rPr sz="4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we</a:t>
            </a:r>
            <a:r>
              <a:rPr sz="44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can</a:t>
            </a:r>
            <a:r>
              <a:rPr sz="4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3E3E3E"/>
                </a:solidFill>
                <a:latin typeface="Calibri"/>
                <a:cs typeface="Calibri"/>
              </a:rPr>
              <a:t>handle</a:t>
            </a:r>
            <a:endParaRPr sz="44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919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highlight</a:t>
            </a:r>
            <a:r>
              <a:rPr sz="36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searched</a:t>
            </a:r>
            <a:r>
              <a:rPr sz="36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</a:rPr>
              <a:t>text</a:t>
            </a:r>
            <a:endParaRPr sz="36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65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highlight</a:t>
            </a:r>
            <a:r>
              <a:rPr sz="36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PDF</a:t>
            </a:r>
            <a:r>
              <a:rPr sz="36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blocks</a:t>
            </a:r>
            <a:endParaRPr sz="3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Every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other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line</a:t>
            </a:r>
            <a:r>
              <a:rPr sz="40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4000" spc="-1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3E3E3E"/>
                </a:solidFill>
                <a:latin typeface="Calibri"/>
                <a:cs typeface="Calibri"/>
              </a:rPr>
              <a:t>code</a:t>
            </a:r>
            <a:endParaRPr sz="40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90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hiring</a:t>
            </a:r>
            <a:r>
              <a:rPr sz="36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volunteers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2819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Cologne</a:t>
            </a:r>
            <a:r>
              <a:rPr sz="4400" spc="-30" dirty="0"/>
              <a:t> </a:t>
            </a:r>
            <a:r>
              <a:rPr sz="4400" dirty="0"/>
              <a:t>Code</a:t>
            </a:r>
            <a:r>
              <a:rPr sz="4400" spc="-25" dirty="0"/>
              <a:t> </a:t>
            </a:r>
            <a:r>
              <a:rPr sz="4400" dirty="0"/>
              <a:t>Basic</a:t>
            </a:r>
            <a:r>
              <a:rPr sz="4400" spc="-35" dirty="0"/>
              <a:t> </a:t>
            </a:r>
            <a:r>
              <a:rPr sz="4400" spc="-10" dirty="0"/>
              <a:t>Needs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3612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github.com/sanskrit-lexicon/COLOGNE/issues/400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3834"/>
            <a:ext cx="7106920" cy="413829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55600" algn="l"/>
              </a:tabLst>
            </a:pP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Critical</a:t>
            </a:r>
            <a:r>
              <a:rPr sz="4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3E3E3E"/>
                </a:solidFill>
                <a:latin typeface="Calibri"/>
                <a:cs typeface="Calibri"/>
              </a:rPr>
              <a:t>lacking</a:t>
            </a:r>
            <a:r>
              <a:rPr sz="4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3E3E3E"/>
                </a:solidFill>
                <a:latin typeface="Calibri"/>
                <a:cs typeface="Calibri"/>
              </a:rPr>
              <a:t>features</a:t>
            </a:r>
            <a:endParaRPr sz="44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919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RESTful</a:t>
            </a:r>
            <a:r>
              <a:rPr sz="3600" spc="-9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</a:rPr>
              <a:t>APIs</a:t>
            </a:r>
            <a:endParaRPr sz="36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65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JSON</a:t>
            </a:r>
            <a:r>
              <a:rPr sz="36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as output</a:t>
            </a:r>
            <a:r>
              <a:rPr sz="36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</a:rPr>
              <a:t>APIs</a:t>
            </a:r>
            <a:endParaRPr sz="36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65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UI</a:t>
            </a:r>
            <a:r>
              <a:rPr sz="36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based</a:t>
            </a:r>
            <a:r>
              <a:rPr sz="36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on</a:t>
            </a:r>
            <a:r>
              <a:rPr sz="36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APIs</a:t>
            </a:r>
            <a:r>
              <a:rPr sz="36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outputting</a:t>
            </a:r>
            <a:r>
              <a:rPr sz="36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</a:rPr>
              <a:t>JSON</a:t>
            </a:r>
            <a:endParaRPr sz="36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65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Simple</a:t>
            </a:r>
            <a:r>
              <a:rPr sz="36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search</a:t>
            </a:r>
            <a:r>
              <a:rPr sz="36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with</a:t>
            </a:r>
            <a:r>
              <a:rPr sz="36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exact</a:t>
            </a:r>
            <a:r>
              <a:rPr sz="36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3E3E3E"/>
                </a:solidFill>
                <a:latin typeface="Calibri"/>
                <a:cs typeface="Calibri"/>
              </a:rPr>
              <a:t>ID</a:t>
            </a:r>
            <a:endParaRPr sz="3600">
              <a:latin typeface="Calibri"/>
              <a:cs typeface="Calibri"/>
            </a:endParaRPr>
          </a:p>
          <a:p>
            <a:pPr marL="859790" lvl="1" indent="-390525">
              <a:lnSpc>
                <a:spcPct val="100000"/>
              </a:lnSpc>
              <a:spcBef>
                <a:spcPts val="865"/>
              </a:spcBef>
              <a:buFont typeface="Arial"/>
              <a:buChar char="–"/>
              <a:tabLst>
                <a:tab pos="860425" algn="l"/>
              </a:tabLst>
            </a:pP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Exportable</a:t>
            </a:r>
            <a:r>
              <a:rPr sz="36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Simple</a:t>
            </a:r>
            <a:r>
              <a:rPr sz="36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E3E3E"/>
                </a:solidFill>
                <a:latin typeface="Calibri"/>
                <a:cs typeface="Calibri"/>
              </a:rPr>
              <a:t>search</a:t>
            </a:r>
            <a:r>
              <a:rPr sz="36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Calibri"/>
                <a:cs typeface="Calibri"/>
              </a:rPr>
              <a:t>algo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dirty="0"/>
              <a:t>Cologne</a:t>
            </a:r>
            <a:r>
              <a:rPr spc="-155" dirty="0"/>
              <a:t> </a:t>
            </a:r>
            <a:r>
              <a:rPr dirty="0"/>
              <a:t>Dictionaries</a:t>
            </a:r>
            <a:r>
              <a:rPr spc="-120" dirty="0"/>
              <a:t> </a:t>
            </a:r>
            <a:r>
              <a:rPr dirty="0"/>
              <a:t>Simple</a:t>
            </a:r>
            <a:r>
              <a:rPr spc="-160" dirty="0"/>
              <a:t> </a:t>
            </a:r>
            <a:r>
              <a:rPr spc="-10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25628"/>
            <a:ext cx="279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1867" y="6425628"/>
            <a:ext cx="1809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lang="ru-RU" sz="12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4439-173F-A4EC-0A53-C9E0B570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B751D3-74E7-01FE-B800-273320ED2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dirty="0"/>
              <a:t>Cologne</a:t>
            </a:r>
            <a:r>
              <a:rPr spc="-155" dirty="0"/>
              <a:t> </a:t>
            </a:r>
            <a:r>
              <a:rPr dirty="0"/>
              <a:t>Dictionaries</a:t>
            </a:r>
            <a:r>
              <a:rPr spc="-120" dirty="0"/>
              <a:t> </a:t>
            </a:r>
            <a:r>
              <a:rPr dirty="0"/>
              <a:t>Simple</a:t>
            </a:r>
            <a:r>
              <a:rPr spc="-160" dirty="0"/>
              <a:t> </a:t>
            </a:r>
            <a:r>
              <a:rPr spc="-10" dirty="0"/>
              <a:t>Search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E16306C-E290-3C1D-D703-2B8DF368FF5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666994"/>
            <a:ext cx="8229600" cy="439269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953534C-B857-5956-F356-5A57A67E9C8E}"/>
              </a:ext>
            </a:extLst>
          </p:cNvPr>
          <p:cNvSpPr txBox="1"/>
          <p:nvPr/>
        </p:nvSpPr>
        <p:spPr>
          <a:xfrm>
            <a:off x="402267" y="6425628"/>
            <a:ext cx="279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9704526-A79F-1CB3-296E-0EB226F28EB1}"/>
              </a:ext>
            </a:extLst>
          </p:cNvPr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7124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683" y="2354579"/>
            <a:ext cx="4331207" cy="12313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57042" y="2502217"/>
            <a:ext cx="36283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Hidden</a:t>
            </a:r>
            <a:r>
              <a:rPr sz="4400" spc="-20" dirty="0">
                <a:solidFill>
                  <a:srgbClr val="FFFFFF"/>
                </a:solidFill>
                <a:latin typeface="Arial"/>
                <a:cs typeface="Arial"/>
              </a:rPr>
              <a:t> Gems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95"/>
              </a:spcBef>
            </a:pPr>
            <a:r>
              <a:rPr dirty="0"/>
              <a:t>Unknown</a:t>
            </a:r>
            <a:r>
              <a:rPr spc="-140" dirty="0"/>
              <a:t> </a:t>
            </a:r>
            <a:r>
              <a:rPr dirty="0"/>
              <a:t>Sanskrit</a:t>
            </a:r>
            <a:r>
              <a:rPr spc="-125" dirty="0"/>
              <a:t> </a:t>
            </a:r>
            <a:r>
              <a:rPr dirty="0"/>
              <a:t>Digital</a:t>
            </a:r>
            <a:r>
              <a:rPr spc="-14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610360"/>
            <a:ext cx="8015605" cy="4036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 marR="255904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Digitization</a:t>
            </a:r>
            <a:r>
              <a:rPr sz="28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2775" baseline="25525" dirty="0">
                <a:solidFill>
                  <a:srgbClr val="3E3E3E"/>
                </a:solidFill>
                <a:latin typeface="Calibri"/>
                <a:cs typeface="Calibri"/>
              </a:rPr>
              <a:t>nd</a:t>
            </a:r>
            <a:r>
              <a:rPr sz="2775" spc="209" baseline="255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ed.</a:t>
            </a:r>
            <a:r>
              <a:rPr sz="28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28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Indische</a:t>
            </a:r>
            <a:r>
              <a:rPr sz="2800" b="1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Sprüche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28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Calibri"/>
                <a:cs typeface="Calibri"/>
              </a:rPr>
              <a:t>1870-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1873 </a:t>
            </a: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https://funderburkjim.github.io/boesp- prep/web1/boesp.html?6919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•"/>
            </a:pPr>
            <a:endParaRPr sz="3300" dirty="0">
              <a:latin typeface="Calibri"/>
              <a:cs typeface="Calibri"/>
            </a:endParaRPr>
          </a:p>
          <a:p>
            <a:pPr marL="405765" marR="84963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Digitization</a:t>
            </a:r>
            <a:r>
              <a:rPr sz="2800" spc="-1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2800" spc="-10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E3E3E"/>
                </a:solidFill>
                <a:latin typeface="Calibri"/>
                <a:cs typeface="Calibri"/>
              </a:rPr>
              <a:t>Lanman’s</a:t>
            </a:r>
            <a:r>
              <a:rPr sz="2800" b="1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2800" b="1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Reader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28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1884 </a:t>
            </a: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https://github.com/funderburkjim/lanman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•"/>
            </a:pPr>
            <a:endParaRPr sz="3300" dirty="0">
              <a:latin typeface="Calibri"/>
              <a:cs typeface="Calibri"/>
            </a:endParaRPr>
          </a:p>
          <a:p>
            <a:pPr marL="406400" marR="17780" indent="-342900">
              <a:lnSpc>
                <a:spcPct val="100000"/>
              </a:lnSpc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Digitization</a:t>
            </a:r>
            <a:r>
              <a:rPr sz="28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28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3E3E3E"/>
                </a:solidFill>
                <a:latin typeface="Calibri"/>
                <a:cs typeface="Calibri"/>
              </a:rPr>
              <a:t>Kale’s</a:t>
            </a:r>
            <a:r>
              <a:rPr sz="28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E3E3E"/>
                </a:solidFill>
                <a:latin typeface="Calibri"/>
                <a:cs typeface="Calibri"/>
              </a:rPr>
              <a:t>Hitopadesha</a:t>
            </a:r>
            <a:r>
              <a:rPr sz="2800" b="1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28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Narayana,</a:t>
            </a:r>
            <a:r>
              <a:rPr sz="28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1912 </a:t>
            </a:r>
            <a:r>
              <a:rPr sz="2800" spc="-25" dirty="0">
                <a:solidFill>
                  <a:srgbClr val="3E3E3E"/>
                </a:solidFill>
                <a:latin typeface="Calibri"/>
                <a:cs typeface="Calibri"/>
              </a:rPr>
              <a:t>https://github.com/funderburkjim/hitopadesha-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kale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267" y="6425628"/>
            <a:ext cx="2207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github.com/funderburkjim/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C799E-CA08-B167-DB88-CA7D5C1E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F59805-A262-945B-A567-6E2CDA99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6" y="461581"/>
            <a:ext cx="841057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Additional Lexicographical Resources:</a:t>
            </a:r>
            <a:br>
              <a:rPr lang="en-US" spc="-10" dirty="0"/>
            </a:br>
            <a:r>
              <a:rPr lang="en-US" spc="-10" dirty="0"/>
              <a:t>9587 entries from Mayrhofer’s KEWA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3C5B07B-AAB1-FA9C-59A3-5AA5851C059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963838"/>
            <a:ext cx="8229600" cy="379900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E244DCB-7303-5B06-46B7-8DC02A6CDECF}"/>
              </a:ext>
            </a:extLst>
          </p:cNvPr>
          <p:cNvSpPr txBox="1"/>
          <p:nvPr/>
        </p:nvSpPr>
        <p:spPr>
          <a:xfrm>
            <a:off x="402266" y="6425628"/>
            <a:ext cx="37125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 samskrtam.ru/</a:t>
            </a:r>
            <a:r>
              <a:rPr lang="en-US" sz="1200" spc="-10" dirty="0" err="1">
                <a:solidFill>
                  <a:srgbClr val="FFC000"/>
                </a:solidFill>
                <a:latin typeface="Calibri"/>
                <a:cs typeface="Calibri"/>
              </a:rPr>
              <a:t>sanskrit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-lexicon/KEWA/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A6EBB75-AFB6-0E78-133C-37DAD7155516}"/>
              </a:ext>
            </a:extLst>
          </p:cNvPr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372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What’s</a:t>
            </a:r>
            <a:r>
              <a:rPr spc="-175" dirty="0"/>
              <a:t> </a:t>
            </a:r>
            <a:r>
              <a:rPr dirty="0"/>
              <a:t>Next?</a:t>
            </a:r>
            <a:r>
              <a:rPr spc="-175" dirty="0"/>
              <a:t> </a:t>
            </a:r>
            <a:r>
              <a:rPr spc="-25" dirty="0"/>
              <a:t>2024-</a:t>
            </a:r>
            <a:r>
              <a:rPr spc="-20" dirty="0"/>
              <a:t>2034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5940" y="1295400"/>
            <a:ext cx="6599555" cy="473462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dirty="0"/>
              <a:t>N</a:t>
            </a:r>
            <a:r>
              <a:rPr dirty="0"/>
              <a:t>ew</a:t>
            </a:r>
            <a:r>
              <a:rPr spc="-9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refining</a:t>
            </a:r>
            <a:r>
              <a:rPr spc="-70" dirty="0"/>
              <a:t> </a:t>
            </a:r>
            <a:r>
              <a:rPr dirty="0"/>
              <a:t>older</a:t>
            </a:r>
            <a:r>
              <a:rPr spc="-85" dirty="0"/>
              <a:t> </a:t>
            </a:r>
            <a:r>
              <a:rPr spc="-10" dirty="0"/>
              <a:t>markup</a:t>
            </a:r>
          </a:p>
          <a:p>
            <a:pPr marL="756285" lvl="1" indent="-28702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abbreviations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literary</a:t>
            </a:r>
            <a:r>
              <a:rPr sz="24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sources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cross-reference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show</a:t>
            </a:r>
            <a:r>
              <a:rPr sz="24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corrected</a:t>
            </a:r>
            <a:r>
              <a:rPr sz="240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print</a:t>
            </a:r>
            <a:r>
              <a:rPr sz="24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changes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dirty="0"/>
              <a:t>N</a:t>
            </a:r>
            <a:r>
              <a:rPr dirty="0"/>
              <a:t>ew</a:t>
            </a:r>
            <a:r>
              <a:rPr spc="-70" dirty="0"/>
              <a:t> </a:t>
            </a:r>
            <a:r>
              <a:rPr spc="-10" dirty="0"/>
              <a:t>dictionaries</a:t>
            </a:r>
          </a:p>
          <a:p>
            <a:pPr marL="756285" lvl="1" indent="-28702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2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Amarakosha</a:t>
            </a:r>
            <a:r>
              <a:rPr sz="2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still</a:t>
            </a:r>
            <a:r>
              <a:rPr sz="24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missing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Five</a:t>
            </a:r>
            <a:r>
              <a:rPr sz="2400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Russian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dictionaries</a:t>
            </a:r>
            <a:r>
              <a:rPr sz="2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Calibri"/>
                <a:cs typeface="Calibri"/>
              </a:rPr>
              <a:t>started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/>
              <a:t>New</a:t>
            </a:r>
            <a:r>
              <a:rPr spc="-95" dirty="0"/>
              <a:t> </a:t>
            </a:r>
            <a:r>
              <a:rPr dirty="0"/>
              <a:t>website</a:t>
            </a:r>
            <a:r>
              <a:rPr spc="-90" dirty="0"/>
              <a:t> </a:t>
            </a:r>
            <a:r>
              <a:rPr spc="-20" dirty="0"/>
              <a:t>features</a:t>
            </a:r>
            <a:r>
              <a:rPr spc="-100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easier</a:t>
            </a:r>
            <a:r>
              <a:rPr spc="-105" dirty="0"/>
              <a:t> </a:t>
            </a:r>
            <a:r>
              <a:rPr spc="-10" dirty="0"/>
              <a:t>integration</a:t>
            </a:r>
            <a:endParaRPr lang="ru-RU" spc="-10" dirty="0"/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pc="-10" dirty="0"/>
              <a:t>Detailed history of the dictionary project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25628"/>
            <a:ext cx="2279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github.com/sanskrit-lexicon/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947" y="402337"/>
            <a:ext cx="5437631" cy="11216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1826" y="533400"/>
            <a:ext cx="4796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b="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FFFFFF"/>
                </a:solidFill>
                <a:latin typeface="Arial"/>
                <a:cs typeface="Arial"/>
              </a:rPr>
              <a:t>give</a:t>
            </a:r>
            <a:r>
              <a:rPr b="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b="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FFFFFF"/>
                </a:solidFill>
                <a:latin typeface="Arial"/>
                <a:cs typeface="Arial"/>
              </a:rPr>
              <a:t>my</a:t>
            </a:r>
            <a:r>
              <a:rPr b="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FFFFFF"/>
                </a:solidFill>
                <a:latin typeface="Arial"/>
                <a:cs typeface="Arial"/>
              </a:rPr>
              <a:t>thanks!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78178" y="1600200"/>
            <a:ext cx="7203822" cy="2943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r>
              <a:rPr lang="hi-IN" sz="5400" dirty="0">
                <a:solidFill>
                  <a:srgbClr val="FFFFFF"/>
                </a:solidFill>
                <a:latin typeface="Arial"/>
                <a:cs typeface="Arial"/>
              </a:rPr>
              <a:t>समा॒ना हृद॑यानि वः</a:t>
            </a:r>
            <a:endParaRPr lang="en-US" sz="54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endParaRPr lang="en-US" sz="54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Let</a:t>
            </a:r>
            <a:r>
              <a:rPr lang="en-US" sz="4000" dirty="0">
                <a:solidFill>
                  <a:srgbClr val="FFFFFF"/>
                </a:solidFill>
                <a:latin typeface="Arial"/>
                <a:cs typeface="Arial"/>
              </a:rPr>
              <a:t> a mixed </a:t>
            </a:r>
            <a:r>
              <a:rPr lang="en-US" sz="4000" b="1" spc="-30" dirty="0">
                <a:solidFill>
                  <a:srgbClr val="FFFFFF"/>
                </a:solidFill>
                <a:latin typeface="Arial"/>
                <a:cs typeface="Arial"/>
              </a:rPr>
              <a:t>Indian</a:t>
            </a:r>
            <a:r>
              <a:rPr sz="4000" b="1" spc="-3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Russian </a:t>
            </a:r>
            <a:endParaRPr lang="en-US" sz="40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Sanskrit</a:t>
            </a:r>
            <a:r>
              <a:rPr sz="40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spc="-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4000" spc="-90" dirty="0">
                <a:solidFill>
                  <a:srgbClr val="FFFFFF"/>
                </a:solidFill>
                <a:latin typeface="Arial"/>
                <a:cs typeface="Arial"/>
              </a:rPr>
              <a:t>eam</a:t>
            </a:r>
            <a:r>
              <a:rPr lang="en-US" sz="4000" spc="-90" dirty="0">
                <a:solidFill>
                  <a:srgbClr val="FFFFFF"/>
                </a:solidFill>
                <a:latin typeface="Arial"/>
                <a:cs typeface="Arial"/>
              </a:rPr>
              <a:t> be born now</a:t>
            </a:r>
            <a:r>
              <a:rPr sz="4000" spc="-2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19577" y="5105400"/>
            <a:ext cx="3121024" cy="1337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2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anskrit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Zealots</a:t>
            </a:r>
            <a:r>
              <a:rPr lang="en-US" sz="1800" b="1" spc="-10" dirty="0">
                <a:solidFill>
                  <a:srgbClr val="FFFFFF"/>
                </a:solidFill>
                <a:latin typeface="Arial"/>
                <a:cs typeface="Arial"/>
              </a:rPr>
              <a:t>' Society</a:t>
            </a:r>
            <a:br>
              <a:rPr lang="en-US" sz="1800" b="1" spc="-1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Russian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Federation,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 err="1">
                <a:solidFill>
                  <a:srgbClr val="FFFFFF"/>
                </a:solidFill>
                <a:latin typeface="Arial"/>
                <a:cs typeface="Arial"/>
              </a:rPr>
              <a:t>Obninsk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US" sz="18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1905" algn="ctr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WhatsApp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+79181925084</a:t>
            </a:r>
            <a:endParaRPr lang="en-US" sz="18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1905" algn="ctr">
              <a:lnSpc>
                <a:spcPct val="12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FFFFFF"/>
                </a:solidFill>
                <a:latin typeface="Arial"/>
                <a:cs typeface="Arial"/>
              </a:rPr>
              <a:t>gasyoun@gmail.com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8832</TotalTime>
  <Words>1709</Words>
  <Application>Microsoft Office PowerPoint</Application>
  <PresentationFormat>Экран (4:3)</PresentationFormat>
  <Paragraphs>267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6" baseType="lpstr">
      <vt:lpstr>Adobe Devanagari</vt:lpstr>
      <vt:lpstr>Arial</vt:lpstr>
      <vt:lpstr>Calibri</vt:lpstr>
      <vt:lpstr>Office Theme</vt:lpstr>
      <vt:lpstr>The Development of Cologne Digital Lexicons</vt:lpstr>
      <vt:lpstr>@gasyoun</vt:lpstr>
      <vt:lpstr>Origin of Digital Sanskrit Lexicons</vt:lpstr>
      <vt:lpstr>Cologne Dictionaries Homepage sanskrit-lexicon.uni-koeln.de</vt:lpstr>
      <vt:lpstr>Brief Cologne Dictionary Timeline</vt:lpstr>
      <vt:lpstr>Jim Funderburk @funderburkjim</vt:lpstr>
      <vt:lpstr>Funderburk at Cologne 2004-2024</vt:lpstr>
      <vt:lpstr>Major Indian Contributors to Cologne Sanskrit Dictionaries  Dr. Dhaval Patel @drdhaval2785  Nāgabhūṣaṇarāvu Kālepu @Andhrabharati</vt:lpstr>
      <vt:lpstr>42 Digital Lexicons 2024 Stats</vt:lpstr>
      <vt:lpstr>8 Main Priority Digital Lexicons</vt:lpstr>
      <vt:lpstr>30 Years After Cologne Started…</vt:lpstr>
      <vt:lpstr>Not All Subheadwords Equal (1/2)</vt:lpstr>
      <vt:lpstr>Not All Subheadwords Equal (2/2)</vt:lpstr>
      <vt:lpstr>5 Sanskrit-Russian Digital Lexicons</vt:lpstr>
      <vt:lpstr>How Open is Cologne?</vt:lpstr>
      <vt:lpstr>Proprietary vs. Open Source</vt:lpstr>
      <vt:lpstr>कुपमण्डुकन्याया   kūpamaṇḍūkanyāya</vt:lpstr>
      <vt:lpstr>Brill vs. Cologne &amp; Zealots 2023</vt:lpstr>
      <vt:lpstr>Brill vs. Cologne &amp; Zealots 2013</vt:lpstr>
      <vt:lpstr>Zealots’ Rigveda Since 2013</vt:lpstr>
      <vt:lpstr>Volunteers united with Artificial Intelligence</vt:lpstr>
      <vt:lpstr>The Professor and the Madman</vt:lpstr>
      <vt:lpstr>Russia-Born Sanskrit Search Engine</vt:lpstr>
      <vt:lpstr>Russia-Born Sanskrit Search Engine</vt:lpstr>
      <vt:lpstr>Data Correction vs. Code &amp; UI</vt:lpstr>
      <vt:lpstr>Data Correction Champions</vt:lpstr>
      <vt:lpstr>NonStop Error Correction</vt:lpstr>
      <vt:lpstr>Correction of Errors</vt:lpstr>
      <vt:lpstr>Older Versions of Monier-Williams</vt:lpstr>
      <vt:lpstr>The Original Recipe for Sauces (1/5)</vt:lpstr>
      <vt:lpstr>The Original Recipe for Sauces (2/5)</vt:lpstr>
      <vt:lpstr>The Original Recipe for Sauces (3/5)</vt:lpstr>
      <vt:lpstr>The Original Recipe for Sauces (4/5)</vt:lpstr>
      <vt:lpstr>The Original Recipe for Sauces (5/5)</vt:lpstr>
      <vt:lpstr>Data Derivation for Learning Aids</vt:lpstr>
      <vt:lpstr>Added Value to Derived Data (1/5)</vt:lpstr>
      <vt:lpstr>Added Value to Derived Data (2/5)</vt:lpstr>
      <vt:lpstr>Added Value to Derived Data (3/5)</vt:lpstr>
      <vt:lpstr>Added Value to Derived Data (4/5)</vt:lpstr>
      <vt:lpstr>Added Value to Derived Data (5/5)</vt:lpstr>
      <vt:lpstr>Hiring Volunteers for Code &amp; Proofreading</vt:lpstr>
      <vt:lpstr>Headwords vs. Entries</vt:lpstr>
      <vt:lpstr>Markup Refinement</vt:lpstr>
      <vt:lpstr>Code &amp; UI</vt:lpstr>
      <vt:lpstr>Cologne Code Basic Needs</vt:lpstr>
      <vt:lpstr>Cologne Dictionaries Simple Search</vt:lpstr>
      <vt:lpstr>Cologne Dictionaries Simple Search</vt:lpstr>
      <vt:lpstr>Hidden Gems</vt:lpstr>
      <vt:lpstr>Unknown Sanskrit Digital Resources</vt:lpstr>
      <vt:lpstr>Additional Lexicographical Resources: 9587 entries from Mayrhofer’s KEWA</vt:lpstr>
      <vt:lpstr>What’s Next? 2024-2034</vt:lpstr>
      <vt:lpstr>I give you my 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aura</dc:creator>
  <cp:lastModifiedBy>Пользователь</cp:lastModifiedBy>
  <cp:revision>20</cp:revision>
  <dcterms:created xsi:type="dcterms:W3CDTF">2024-02-11T19:51:33Z</dcterms:created>
  <dcterms:modified xsi:type="dcterms:W3CDTF">2024-02-18T16:20:44Z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2024-01-06T00:00:00Z</vt:filetime>
  </property>
  <property fmtid="{D5CDD505-2E9C-101B-9397-08002B2CF9AE}" pid="3" name="Creator">
    <vt:lpwstr>Acrobat PDFMaker 11 для PowerPoint</vt:lpwstr>
  </property>
  <property fmtid="{D5CDD505-2E9C-101B-9397-08002B2CF9AE}" pid="4" name="LastSaved">
    <vt:filetime>2024-02-11T00:00:00Z</vt:filetime>
  </property>
  <property fmtid="{D5CDD505-2E9C-101B-9397-08002B2CF9AE}" pid="5" name="Producer">
    <vt:lpwstr>Adobe PDF Library 11.0</vt:lpwstr>
  </property>
</Properties>
</file>