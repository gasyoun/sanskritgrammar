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8" r:id="rId4"/>
    <p:sldId id="319" r:id="rId5"/>
    <p:sldId id="320" r:id="rId6"/>
    <p:sldId id="321" r:id="rId7"/>
    <p:sldId id="324" r:id="rId8"/>
    <p:sldId id="325" r:id="rId9"/>
    <p:sldId id="313" r:id="rId10"/>
    <p:sldId id="322" r:id="rId11"/>
    <p:sldId id="323" r:id="rId12"/>
    <p:sldId id="258" r:id="rId13"/>
    <p:sldId id="317" r:id="rId14"/>
    <p:sldId id="318" r:id="rId15"/>
    <p:sldId id="316" r:id="rId16"/>
    <p:sldId id="259" r:id="rId17"/>
    <p:sldId id="260" r:id="rId18"/>
    <p:sldId id="261" r:id="rId19"/>
    <p:sldId id="262" r:id="rId20"/>
    <p:sldId id="265" r:id="rId21"/>
    <p:sldId id="271" r:id="rId22"/>
    <p:sldId id="312" r:id="rId23"/>
    <p:sldId id="272" r:id="rId24"/>
    <p:sldId id="273" r:id="rId25"/>
    <p:sldId id="287" r:id="rId26"/>
    <p:sldId id="274" r:id="rId27"/>
    <p:sldId id="275" r:id="rId28"/>
    <p:sldId id="314" r:id="rId29"/>
    <p:sldId id="311" r:id="rId30"/>
    <p:sldId id="327" r:id="rId31"/>
    <p:sldId id="328" r:id="rId32"/>
    <p:sldId id="329" r:id="rId33"/>
    <p:sldId id="330" r:id="rId34"/>
    <p:sldId id="331" r:id="rId35"/>
    <p:sldId id="332" r:id="rId36"/>
    <p:sldId id="333" r:id="rId37"/>
    <p:sldId id="334" r:id="rId38"/>
    <p:sldId id="326" r:id="rId39"/>
    <p:sldId id="288" r:id="rId40"/>
    <p:sldId id="289" r:id="rId41"/>
    <p:sldId id="298" r:id="rId42"/>
    <p:sldId id="303" r:id="rId43"/>
    <p:sldId id="299" r:id="rId44"/>
    <p:sldId id="300" r:id="rId45"/>
    <p:sldId id="308" r:id="rId46"/>
    <p:sldId id="302" r:id="rId4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4995" autoAdjust="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7609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7609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7609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2" y="6238494"/>
            <a:ext cx="9143365" cy="619760"/>
          </a:xfrm>
          <a:custGeom>
            <a:avLst/>
            <a:gdLst/>
            <a:ahLst/>
            <a:cxnLst/>
            <a:rect l="l" t="t" r="r" b="b"/>
            <a:pathLst>
              <a:path w="9143365" h="619759">
                <a:moveTo>
                  <a:pt x="9143238" y="0"/>
                </a:moveTo>
                <a:lnTo>
                  <a:pt x="0" y="0"/>
                </a:lnTo>
                <a:lnTo>
                  <a:pt x="0" y="619505"/>
                </a:lnTo>
                <a:lnTo>
                  <a:pt x="9143238" y="619505"/>
                </a:lnTo>
                <a:lnTo>
                  <a:pt x="9143238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62" y="6238494"/>
            <a:ext cx="9144000" cy="620395"/>
          </a:xfrm>
          <a:custGeom>
            <a:avLst/>
            <a:gdLst/>
            <a:ahLst/>
            <a:cxnLst/>
            <a:rect l="l" t="t" r="r" b="b"/>
            <a:pathLst>
              <a:path w="9144000" h="620395">
                <a:moveTo>
                  <a:pt x="0" y="0"/>
                </a:moveTo>
                <a:lnTo>
                  <a:pt x="9144000" y="0"/>
                </a:lnTo>
                <a:lnTo>
                  <a:pt x="9144000" y="620267"/>
                </a:lnTo>
                <a:lnTo>
                  <a:pt x="0" y="620267"/>
                </a:lnTo>
                <a:lnTo>
                  <a:pt x="0" y="0"/>
                </a:lnTo>
                <a:close/>
              </a:path>
            </a:pathLst>
          </a:custGeom>
          <a:ln w="25908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2483" y="461581"/>
            <a:ext cx="802005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37609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20877"/>
            <a:ext cx="6599555" cy="419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02251" y="6463728"/>
            <a:ext cx="448691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vedaweb.uni-koeln.de/rigveda/view/index/0" TargetMode="External"/><Relationship Id="rId2" Type="http://schemas.openxmlformats.org/officeDocument/2006/relationships/hyperlink" Target="http://sanskrit-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ws.uzi.uni-halle.de/" TargetMode="External"/><Relationship Id="rId4" Type="http://schemas.openxmlformats.org/officeDocument/2006/relationships/hyperlink" Target="https://ambuda.org/texts/ramayanam/6.43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58ED5">
              <a:alpha val="9882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52046" y="990600"/>
            <a:ext cx="4838700" cy="272189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6225" marR="5080" indent="-264160" algn="ctr">
              <a:lnSpc>
                <a:spcPct val="100000"/>
              </a:lnSpc>
              <a:spcBef>
                <a:spcPts val="105"/>
              </a:spcBef>
            </a:pPr>
            <a:r>
              <a:rPr lang="ru-RU" sz="4400" dirty="0" smtClean="0">
                <a:solidFill>
                  <a:srgbClr val="FFFFFF"/>
                </a:solidFill>
                <a:latin typeface="Arial"/>
                <a:cs typeface="Arial"/>
              </a:rPr>
              <a:t>Отечественные компьютерные разработки для санскритологов</a:t>
            </a:r>
            <a:endParaRPr lang="ru-RU" sz="44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43200" y="5105400"/>
            <a:ext cx="3886200" cy="1031436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algn="ctr">
              <a:lnSpc>
                <a:spcPct val="110000"/>
              </a:lnSpc>
              <a:spcBef>
                <a:spcPts val="315"/>
              </a:spcBef>
            </a:pPr>
            <a:r>
              <a:rPr lang="ru-RU" sz="1800" b="1" dirty="0" smtClean="0">
                <a:solidFill>
                  <a:srgbClr val="FFFFFF"/>
                </a:solidFill>
                <a:latin typeface="Arial"/>
                <a:cs typeface="Arial"/>
              </a:rPr>
              <a:t>Общество ревнителей санскрита</a:t>
            </a:r>
          </a:p>
          <a:p>
            <a:pPr marL="12700" marR="5080" algn="ctr">
              <a:lnSpc>
                <a:spcPct val="110000"/>
              </a:lnSpc>
              <a:spcBef>
                <a:spcPts val="315"/>
              </a:spcBef>
            </a:pPr>
            <a:r>
              <a:rPr lang="ru-RU" sz="1800" dirty="0" smtClean="0">
                <a:solidFill>
                  <a:srgbClr val="FFFFFF"/>
                </a:solidFill>
                <a:latin typeface="Arial"/>
                <a:cs typeface="Arial"/>
              </a:rPr>
              <a:t>к.ф.н. </a:t>
            </a:r>
            <a:r>
              <a:rPr lang="ru-RU" dirty="0" smtClean="0">
                <a:solidFill>
                  <a:srgbClr val="FFFFFF"/>
                </a:solidFill>
                <a:latin typeface="Arial"/>
                <a:cs typeface="Arial"/>
              </a:rPr>
              <a:t>М.Ю. Гасунс</a:t>
            </a:r>
            <a:endParaRPr lang="en-US" sz="180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5080" algn="ctr">
              <a:lnSpc>
                <a:spcPct val="110000"/>
              </a:lnSpc>
              <a:spcBef>
                <a:spcPts val="315"/>
              </a:spcBef>
            </a:pPr>
            <a:r>
              <a:rPr lang="en-US" sz="1800" dirty="0" smtClean="0">
                <a:solidFill>
                  <a:srgbClr val="FFFFFF"/>
                </a:solidFill>
                <a:latin typeface="Arial"/>
                <a:cs typeface="Arial"/>
              </a:rPr>
              <a:t>14.11.2024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2191" y="0"/>
            <a:ext cx="9170035" cy="6871970"/>
            <a:chOff x="-12191" y="0"/>
            <a:chExt cx="9170035" cy="68719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21944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2" y="6238494"/>
              <a:ext cx="9143365" cy="619760"/>
            </a:xfrm>
            <a:custGeom>
              <a:avLst/>
              <a:gdLst/>
              <a:ahLst/>
              <a:cxnLst/>
              <a:rect l="l" t="t" r="r" b="b"/>
              <a:pathLst>
                <a:path w="9143365" h="619759">
                  <a:moveTo>
                    <a:pt x="9143238" y="0"/>
                  </a:moveTo>
                  <a:lnTo>
                    <a:pt x="0" y="0"/>
                  </a:lnTo>
                  <a:lnTo>
                    <a:pt x="0" y="619505"/>
                  </a:lnTo>
                  <a:lnTo>
                    <a:pt x="9143238" y="619505"/>
                  </a:lnTo>
                  <a:lnTo>
                    <a:pt x="9143238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2" y="6238494"/>
              <a:ext cx="9144000" cy="620395"/>
            </a:xfrm>
            <a:custGeom>
              <a:avLst/>
              <a:gdLst/>
              <a:ahLst/>
              <a:cxnLst/>
              <a:rect l="l" t="t" r="r" b="b"/>
              <a:pathLst>
                <a:path w="9144000" h="620395">
                  <a:moveTo>
                    <a:pt x="0" y="0"/>
                  </a:moveTo>
                  <a:lnTo>
                    <a:pt x="9144000" y="0"/>
                  </a:lnTo>
                  <a:lnTo>
                    <a:pt x="9144000" y="620267"/>
                  </a:lnTo>
                  <a:lnTo>
                    <a:pt x="0" y="620267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2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746136" y="461581"/>
            <a:ext cx="24345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/>
              <a:t>@gasyoun</a:t>
            </a:r>
            <a:endParaRPr sz="4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9310">
              <a:lnSpc>
                <a:spcPct val="100000"/>
              </a:lnSpc>
              <a:spcBef>
                <a:spcPts val="105"/>
              </a:spcBef>
            </a:pPr>
            <a:r>
              <a:rPr lang="ru-RU" sz="4400" dirty="0" smtClean="0"/>
              <a:t>25 лет в </a:t>
            </a:r>
            <a:r>
              <a:rPr lang="en-US" sz="4400" dirty="0" smtClean="0"/>
              <a:t>Digital Humanities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402267" y="6463728"/>
            <a:ext cx="279400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</a:t>
            </a:r>
            <a:r>
              <a:rPr sz="1200" spc="-10" dirty="0" smtClean="0">
                <a:solidFill>
                  <a:srgbClr val="8A8A8A"/>
                </a:solidFill>
                <a:latin typeface="Calibri"/>
                <a:cs typeface="Calibri"/>
              </a:rPr>
              <a:t>://</a:t>
            </a:r>
            <a:r>
              <a:rPr lang="en-US"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ailab.lv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1240"/>
              </a:lnSpc>
            </a:pPr>
            <a:fld id="{81D60167-4931-47E6-BA6A-407CBD079E47}" type="slidenum">
              <a:rPr spc="-25" dirty="0"/>
              <a:pPr marL="241935">
                <a:lnSpc>
                  <a:spcPts val="1240"/>
                </a:lnSpc>
              </a:pPr>
              <a:t>3</a:t>
            </a:fld>
            <a:endParaRPr spc="-25" dirty="0"/>
          </a:p>
        </p:txBody>
      </p:sp>
      <p:pic>
        <p:nvPicPr>
          <p:cNvPr id="6" name="Рисунок 5" descr="ddsasadsaad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4400" y="1676400"/>
            <a:ext cx="7152986" cy="35900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9310">
              <a:lnSpc>
                <a:spcPct val="100000"/>
              </a:lnSpc>
              <a:spcBef>
                <a:spcPts val="105"/>
              </a:spcBef>
            </a:pPr>
            <a:r>
              <a:rPr lang="ru-RU" sz="4400" dirty="0" smtClean="0"/>
              <a:t>2</a:t>
            </a:r>
            <a:r>
              <a:rPr lang="en-US" sz="4400" dirty="0" smtClean="0"/>
              <a:t>0</a:t>
            </a:r>
            <a:r>
              <a:rPr lang="ru-RU" sz="4400" dirty="0" smtClean="0"/>
              <a:t> лет </a:t>
            </a:r>
            <a:r>
              <a:rPr lang="ru-RU" sz="4400" dirty="0" smtClean="0"/>
              <a:t>Обществу ревнителей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402267" y="6463728"/>
            <a:ext cx="279400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</a:t>
            </a:r>
            <a:r>
              <a:rPr sz="1200" spc="-10" dirty="0" smtClean="0">
                <a:solidFill>
                  <a:srgbClr val="8A8A8A"/>
                </a:solidFill>
                <a:latin typeface="Calibri"/>
                <a:cs typeface="Calibri"/>
              </a:rPr>
              <a:t>://</a:t>
            </a:r>
            <a:r>
              <a:rPr lang="en-US"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ailab.lv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1240"/>
              </a:lnSpc>
            </a:pPr>
            <a:fld id="{81D60167-4931-47E6-BA6A-407CBD079E47}" type="slidenum">
              <a:rPr spc="-25" dirty="0"/>
              <a:pPr marL="241935">
                <a:lnSpc>
                  <a:spcPts val="1240"/>
                </a:lnSpc>
              </a:pPr>
              <a:t>4</a:t>
            </a:fld>
            <a:endParaRPr spc="-25" dirty="0"/>
          </a:p>
        </p:txBody>
      </p:sp>
      <p:pic>
        <p:nvPicPr>
          <p:cNvPr id="7" name="Рисунок 6" descr="ыввывывыф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" y="1375824"/>
            <a:ext cx="8001000" cy="46439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482" y="461581"/>
            <a:ext cx="8429117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9310">
              <a:lnSpc>
                <a:spcPct val="100000"/>
              </a:lnSpc>
              <a:spcBef>
                <a:spcPts val="105"/>
              </a:spcBef>
            </a:pPr>
            <a:r>
              <a:rPr lang="en-US" sz="4400" dirty="0" smtClean="0"/>
              <a:t>1</a:t>
            </a:r>
            <a:r>
              <a:rPr lang="ru-RU" sz="4400" dirty="0" smtClean="0"/>
              <a:t>1 лет параллельному корпусу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402267" y="6463728"/>
            <a:ext cx="279400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</a:t>
            </a:r>
            <a:r>
              <a:rPr sz="1200" spc="-10" dirty="0" smtClean="0">
                <a:solidFill>
                  <a:srgbClr val="8A8A8A"/>
                </a:solidFill>
                <a:latin typeface="Calibri"/>
                <a:cs typeface="Calibri"/>
              </a:rPr>
              <a:t>://</a:t>
            </a:r>
            <a:r>
              <a:rPr lang="en-US"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samskrtam.ru/parallel-corpus/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1240"/>
              </a:lnSpc>
            </a:pPr>
            <a:fld id="{81D60167-4931-47E6-BA6A-407CBD079E47}" type="slidenum">
              <a:rPr spc="-25" dirty="0"/>
              <a:pPr marL="241935">
                <a:lnSpc>
                  <a:spcPts val="1240"/>
                </a:lnSpc>
              </a:pPr>
              <a:t>5</a:t>
            </a:fld>
            <a:endParaRPr spc="-25" dirty="0"/>
          </a:p>
        </p:txBody>
      </p:sp>
      <p:pic>
        <p:nvPicPr>
          <p:cNvPr id="6" name="Рисунок 5" descr="аваавыавывыа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600" y="1066800"/>
            <a:ext cx="8382000" cy="50783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482" y="461581"/>
            <a:ext cx="8429117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9310">
              <a:lnSpc>
                <a:spcPct val="100000"/>
              </a:lnSpc>
              <a:spcBef>
                <a:spcPts val="105"/>
              </a:spcBef>
            </a:pPr>
            <a:r>
              <a:rPr lang="ru-RU" sz="4400" dirty="0" smtClean="0"/>
              <a:t>Образец из «Атхрававеды»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402266" y="6463728"/>
            <a:ext cx="6303333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</a:t>
            </a:r>
            <a:r>
              <a:rPr sz="1200" spc="-10" dirty="0" smtClean="0">
                <a:solidFill>
                  <a:srgbClr val="8A8A8A"/>
                </a:solidFill>
                <a:latin typeface="Calibri"/>
                <a:cs typeface="Calibri"/>
              </a:rPr>
              <a:t>://</a:t>
            </a:r>
            <a:r>
              <a:rPr lang="en-US"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samskrtam.ru/</a:t>
            </a:r>
            <a:r>
              <a:rPr lang="ru-RU"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parallel-corpus/01_atharvaveda.html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1240"/>
              </a:lnSpc>
            </a:pPr>
            <a:fld id="{81D60167-4931-47E6-BA6A-407CBD079E47}" type="slidenum">
              <a:rPr spc="-25" dirty="0"/>
              <a:pPr marL="241935">
                <a:lnSpc>
                  <a:spcPts val="1240"/>
                </a:lnSpc>
              </a:pPr>
              <a:t>6</a:t>
            </a:fld>
            <a:endParaRPr spc="-25" dirty="0"/>
          </a:p>
        </p:txBody>
      </p:sp>
      <p:pic>
        <p:nvPicPr>
          <p:cNvPr id="7" name="Рисунок 6" descr="аввавваыва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6946" y="1447800"/>
            <a:ext cx="8292253" cy="38076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483" y="461581"/>
            <a:ext cx="802005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lang="ru-RU" sz="4400" dirty="0" smtClean="0"/>
              <a:t>Статистика нашего корпуса </a:t>
            </a:r>
            <a:r>
              <a:rPr lang="ru-RU" sz="4400" b="0" dirty="0" smtClean="0"/>
              <a:t>(1</a:t>
            </a:r>
            <a:r>
              <a:rPr lang="en-US" sz="4400" b="0" dirty="0" smtClean="0"/>
              <a:t>/2)</a:t>
            </a:r>
            <a:endParaRPr lang="ru-RU" sz="4400" b="0" dirty="0" smtClean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8608060" cy="34490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r>
              <a:rPr lang="ru-RU" sz="4400" dirty="0" smtClean="0">
                <a:latin typeface="Calibri"/>
                <a:cs typeface="Calibri"/>
              </a:rPr>
              <a:t>Всего шлок: </a:t>
            </a:r>
            <a:r>
              <a:rPr lang="ru-RU" sz="4400" b="1" dirty="0" smtClean="0">
                <a:latin typeface="Calibri"/>
                <a:cs typeface="Calibri"/>
              </a:rPr>
              <a:t>120 тыс.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r>
              <a:rPr lang="ru-RU" sz="4400" dirty="0" smtClean="0">
                <a:latin typeface="Calibri"/>
                <a:cs typeface="Calibri"/>
              </a:rPr>
              <a:t>Звуков санскритских: </a:t>
            </a:r>
            <a:r>
              <a:rPr lang="ru-RU" sz="4400" b="1" dirty="0" smtClean="0">
                <a:latin typeface="Calibri"/>
                <a:cs typeface="Calibri"/>
              </a:rPr>
              <a:t>11 млн.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r>
              <a:rPr lang="ru-RU" sz="4400" dirty="0" smtClean="0">
                <a:latin typeface="Calibri"/>
                <a:cs typeface="Calibri"/>
              </a:rPr>
              <a:t>Русских букв в переводах:</a:t>
            </a:r>
            <a:r>
              <a:rPr lang="ru-RU" sz="4400" b="1" dirty="0" smtClean="0">
                <a:latin typeface="Calibri"/>
                <a:cs typeface="Calibri"/>
              </a:rPr>
              <a:t> 13 млн.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r>
              <a:rPr lang="ru-RU" sz="4400" dirty="0" smtClean="0">
                <a:latin typeface="Calibri"/>
                <a:cs typeface="Calibri"/>
              </a:rPr>
              <a:t>Слов санскритских: </a:t>
            </a:r>
            <a:r>
              <a:rPr lang="ru-RU" sz="4400" b="1" dirty="0" smtClean="0">
                <a:latin typeface="Calibri"/>
                <a:cs typeface="Calibri"/>
              </a:rPr>
              <a:t>1,5 млн.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r>
              <a:rPr lang="ru-RU" sz="4400" dirty="0" smtClean="0">
                <a:latin typeface="Calibri"/>
                <a:cs typeface="Calibri"/>
              </a:rPr>
              <a:t>Русских слов: </a:t>
            </a:r>
            <a:r>
              <a:rPr lang="ru-RU" sz="4400" b="1" dirty="0" smtClean="0">
                <a:latin typeface="Calibri"/>
                <a:cs typeface="Calibri"/>
              </a:rPr>
              <a:t>2,6 млн.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483" y="461581"/>
            <a:ext cx="802005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lang="ru-RU" sz="4400" dirty="0" smtClean="0"/>
              <a:t>Статистика нашего корпуса </a:t>
            </a:r>
            <a:r>
              <a:rPr lang="ru-RU" sz="4400" b="0" dirty="0" smtClean="0"/>
              <a:t>(</a:t>
            </a:r>
            <a:r>
              <a:rPr lang="en-US" sz="4400" b="0" dirty="0" smtClean="0"/>
              <a:t>2/2)</a:t>
            </a:r>
            <a:endParaRPr lang="ru-RU" sz="4400" b="0" dirty="0" smtClean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8074660" cy="82400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r>
              <a:rPr lang="ru-RU" sz="4400" b="1" dirty="0" smtClean="0">
                <a:latin typeface="Calibri"/>
                <a:cs typeface="Calibri"/>
              </a:rPr>
              <a:t>Отдельно в комментариях: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r>
              <a:rPr lang="ru-RU" sz="4400" b="1" dirty="0" smtClean="0">
                <a:latin typeface="Calibri"/>
                <a:cs typeface="Calibri"/>
              </a:rPr>
              <a:t>26 тыс. </a:t>
            </a:r>
            <a:r>
              <a:rPr lang="ru-RU" sz="4400" dirty="0" smtClean="0">
                <a:latin typeface="Calibri"/>
                <a:cs typeface="Calibri"/>
              </a:rPr>
              <a:t>комментариев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r>
              <a:rPr lang="ru-RU" sz="4400" dirty="0" smtClean="0">
                <a:latin typeface="Calibri"/>
                <a:cs typeface="Calibri"/>
              </a:rPr>
              <a:t>Русских букв в</a:t>
            </a:r>
            <a:br>
              <a:rPr lang="ru-RU" sz="4400" dirty="0" smtClean="0">
                <a:latin typeface="Calibri"/>
                <a:cs typeface="Calibri"/>
              </a:rPr>
            </a:br>
            <a:r>
              <a:rPr lang="ru-RU" sz="4400" dirty="0" smtClean="0">
                <a:latin typeface="Calibri"/>
                <a:cs typeface="Calibri"/>
              </a:rPr>
              <a:t>комментариях: </a:t>
            </a:r>
            <a:r>
              <a:rPr lang="ru-RU" sz="4400" b="1" dirty="0" smtClean="0">
                <a:latin typeface="Calibri"/>
                <a:cs typeface="Calibri"/>
              </a:rPr>
              <a:t>4 млн.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r>
              <a:rPr lang="ru-RU" sz="4400" dirty="0" smtClean="0">
                <a:latin typeface="Calibri"/>
                <a:cs typeface="Calibri"/>
              </a:rPr>
              <a:t>Звуков санскритских в комментариях: </a:t>
            </a:r>
            <a:r>
              <a:rPr lang="ru-RU" sz="4400" b="1" dirty="0" smtClean="0">
                <a:latin typeface="Calibri"/>
                <a:cs typeface="Calibri"/>
              </a:rPr>
              <a:t>0,7 млн.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r>
              <a:rPr lang="ru-RU" sz="4400" dirty="0" smtClean="0">
                <a:latin typeface="Calibri"/>
                <a:cs typeface="Calibri"/>
              </a:rPr>
              <a:t>Русских слов комм.: </a:t>
            </a:r>
            <a:r>
              <a:rPr lang="ru-RU" sz="4400" b="1" dirty="0" smtClean="0">
                <a:latin typeface="Calibri"/>
                <a:cs typeface="Calibri"/>
              </a:rPr>
              <a:t>0,7 млн.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endParaRPr lang="ru-RU" sz="4400" b="1" dirty="0" smtClean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r>
              <a:rPr lang="ru-RU" sz="4400" b="1" dirty="0" smtClean="0">
                <a:latin typeface="Calibri"/>
                <a:cs typeface="Calibri"/>
              </a:rPr>
              <a:t>В корпусе Оливера: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r>
              <a:rPr lang="ru-RU" sz="4400" b="1" dirty="0" smtClean="0">
                <a:latin typeface="Calibri"/>
                <a:cs typeface="Calibri"/>
              </a:rPr>
              <a:t>Звуков санскритских: 26 млн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r>
              <a:rPr lang="ru-RU" sz="4400" b="1" dirty="0" smtClean="0">
                <a:latin typeface="Calibri"/>
                <a:cs typeface="Calibri"/>
              </a:rPr>
              <a:t>Количество слов в корпусе: 4,6 млн</a:t>
            </a:r>
            <a:endParaRPr sz="44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lang="ru-RU" sz="4400" dirty="0" smtClean="0"/>
              <a:t>Четыре </a:t>
            </a:r>
            <a:r>
              <a:rPr lang="ru-RU" sz="4400" dirty="0" smtClean="0"/>
              <a:t>кита нашего </a:t>
            </a:r>
            <a:r>
              <a:rPr lang="ru-RU" sz="4400" dirty="0" smtClean="0"/>
              <a:t>корпуса </a:t>
            </a:r>
            <a:endParaRPr sz="44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8074660" cy="41389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r>
              <a:rPr lang="ru-RU" sz="4400" dirty="0" smtClean="0">
                <a:solidFill>
                  <a:srgbClr val="3E3E3E"/>
                </a:solidFill>
                <a:latin typeface="Calibri"/>
                <a:cs typeface="Calibri"/>
              </a:rPr>
              <a:t>(109007 шлок из 120000):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ru-RU" sz="4400" dirty="0" smtClean="0">
                <a:solidFill>
                  <a:srgbClr val="3E3E3E"/>
                </a:solidFill>
                <a:latin typeface="Calibri"/>
                <a:cs typeface="Calibri"/>
              </a:rPr>
              <a:t>73784 шлок Махабхарата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ru-RU" sz="4400" dirty="0" smtClean="0">
                <a:solidFill>
                  <a:srgbClr val="3E3E3E"/>
                </a:solidFill>
                <a:latin typeface="Calibri"/>
                <a:cs typeface="Calibri"/>
              </a:rPr>
              <a:t>24000 шлок Рамаяна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ru-RU" sz="4400" dirty="0" smtClean="0">
                <a:solidFill>
                  <a:srgbClr val="3E3E3E"/>
                </a:solidFill>
                <a:latin typeface="Calibri"/>
                <a:cs typeface="Calibri"/>
              </a:rPr>
              <a:t>10552 шлок Ригведа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ru-RU" sz="4400" dirty="0" smtClean="0">
                <a:solidFill>
                  <a:srgbClr val="3E3E3E"/>
                </a:solidFill>
                <a:latin typeface="Calibri"/>
                <a:cs typeface="Calibri"/>
              </a:rPr>
              <a:t>4838 шлок Атхарваведа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ru-RU" sz="4400" dirty="0">
                <a:solidFill>
                  <a:srgbClr val="3E3E3E"/>
                </a:solidFill>
                <a:latin typeface="Calibri"/>
                <a:cs typeface="Calibri"/>
              </a:rPr>
              <a:t>в</a:t>
            </a:r>
            <a:r>
              <a:rPr lang="ru-RU" sz="4400" dirty="0" smtClean="0">
                <a:solidFill>
                  <a:srgbClr val="3E3E3E"/>
                </a:solidFill>
                <a:latin typeface="Calibri"/>
                <a:cs typeface="Calibri"/>
              </a:rPr>
              <a:t>се остальные </a:t>
            </a:r>
            <a:r>
              <a:rPr lang="ru-RU" sz="4400" b="1" dirty="0" smtClean="0">
                <a:solidFill>
                  <a:srgbClr val="3E3E3E"/>
                </a:solidFill>
                <a:latin typeface="Calibri"/>
                <a:cs typeface="Calibri"/>
              </a:rPr>
              <a:t>10 000 шлок</a:t>
            </a:r>
            <a:endParaRPr sz="44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482" y="461581"/>
            <a:ext cx="8429117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9310">
              <a:lnSpc>
                <a:spcPct val="100000"/>
              </a:lnSpc>
              <a:spcBef>
                <a:spcPts val="105"/>
              </a:spcBef>
            </a:pPr>
            <a:r>
              <a:rPr lang="ru-RU" sz="4400" dirty="0" smtClean="0"/>
              <a:t>«Вся исследовательская литература</a:t>
            </a:r>
            <a:r>
              <a:rPr lang="ru-RU" sz="4400" dirty="0" smtClean="0"/>
              <a:t>»</a:t>
            </a:r>
            <a:r>
              <a:rPr lang="en-US" sz="4400" dirty="0" smtClean="0"/>
              <a:t>: </a:t>
            </a:r>
            <a:r>
              <a:rPr lang="ru-RU" sz="4400" dirty="0" smtClean="0"/>
              <a:t>Иностранка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402266" y="6463728"/>
            <a:ext cx="6303333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</a:t>
            </a:r>
            <a:r>
              <a:rPr sz="1200" spc="-10" dirty="0" smtClean="0">
                <a:solidFill>
                  <a:srgbClr val="8A8A8A"/>
                </a:solidFill>
                <a:latin typeface="Calibri"/>
                <a:cs typeface="Calibri"/>
              </a:rPr>
              <a:t>://</a:t>
            </a:r>
            <a:r>
              <a:rPr lang="en-US"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vk.com/samskrtamru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1240"/>
              </a:lnSpc>
            </a:pPr>
            <a:fld id="{81D60167-4931-47E6-BA6A-407CBD079E47}" type="slidenum">
              <a:rPr spc="-25" dirty="0"/>
              <a:pPr marL="241935">
                <a:lnSpc>
                  <a:spcPts val="1240"/>
                </a:lnSpc>
              </a:pPr>
              <a:t>10</a:t>
            </a:fld>
            <a:endParaRPr spc="-25" dirty="0"/>
          </a:p>
        </p:txBody>
      </p:sp>
      <p:pic>
        <p:nvPicPr>
          <p:cNvPr id="6" name="Рисунок 5" descr="ffdsfdsfdfdsf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71600" y="1905000"/>
            <a:ext cx="6019800" cy="41248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482" y="461581"/>
            <a:ext cx="8429117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9310">
              <a:lnSpc>
                <a:spcPct val="100000"/>
              </a:lnSpc>
              <a:spcBef>
                <a:spcPts val="105"/>
              </a:spcBef>
            </a:pPr>
            <a:r>
              <a:rPr lang="ru-RU" sz="4400" dirty="0" smtClean="0"/>
              <a:t>«Текстуальные связи, невидимые человеку»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402266" y="6463728"/>
            <a:ext cx="6303333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</a:t>
            </a:r>
            <a:r>
              <a:rPr sz="1200" spc="-10" dirty="0" smtClean="0">
                <a:solidFill>
                  <a:srgbClr val="8A8A8A"/>
                </a:solidFill>
                <a:latin typeface="Calibri"/>
                <a:cs typeface="Calibri"/>
              </a:rPr>
              <a:t>://</a:t>
            </a:r>
            <a:r>
              <a:rPr lang="en-US"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vk.com/ramayanaru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1240"/>
              </a:lnSpc>
            </a:pPr>
            <a:fld id="{81D60167-4931-47E6-BA6A-407CBD079E47}" type="slidenum">
              <a:rPr spc="-25" dirty="0"/>
              <a:pPr marL="241935">
                <a:lnSpc>
                  <a:spcPts val="1240"/>
                </a:lnSpc>
              </a:pPr>
              <a:t>11</a:t>
            </a:fld>
            <a:endParaRPr spc="-25" dirty="0"/>
          </a:p>
        </p:txBody>
      </p:sp>
      <p:pic>
        <p:nvPicPr>
          <p:cNvPr id="7" name="Рисунок 6" descr="ававыывавы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4400" y="1828800"/>
            <a:ext cx="7115785" cy="39997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58ED5">
              <a:alpha val="9882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65762" y="2166937"/>
            <a:ext cx="481139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97180" algn="ctr">
              <a:lnSpc>
                <a:spcPct val="100000"/>
              </a:lnSpc>
              <a:spcBef>
                <a:spcPts val="105"/>
              </a:spcBef>
              <a:tabLst>
                <a:tab pos="2110740" algn="l"/>
                <a:tab pos="2374900" algn="l"/>
              </a:tabLst>
            </a:pPr>
            <a:r>
              <a:rPr lang="ru-RU" sz="4400" spc="-10" dirty="0" smtClean="0">
                <a:solidFill>
                  <a:srgbClr val="FFFFFF"/>
                </a:solidFill>
                <a:latin typeface="Arial"/>
                <a:cs typeface="Arial"/>
              </a:rPr>
              <a:t>Китайская</a:t>
            </a:r>
            <a:br>
              <a:rPr lang="ru-RU" sz="4400" spc="-10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ru-RU" sz="4400" spc="-10" dirty="0" smtClean="0">
                <a:solidFill>
                  <a:srgbClr val="FFFFFF"/>
                </a:solidFill>
                <a:latin typeface="Arial"/>
                <a:cs typeface="Arial"/>
              </a:rPr>
              <a:t>комната</a:t>
            </a:r>
            <a:endParaRPr sz="44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482" y="461581"/>
            <a:ext cx="8429117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9310">
              <a:lnSpc>
                <a:spcPct val="100000"/>
              </a:lnSpc>
              <a:spcBef>
                <a:spcPts val="105"/>
              </a:spcBef>
            </a:pPr>
            <a:r>
              <a:rPr lang="en-US" sz="4400" dirty="0" smtClean="0"/>
              <a:t>Workshop </a:t>
            </a:r>
            <a:r>
              <a:rPr lang="en-US" sz="4400" dirty="0" smtClean="0"/>
              <a:t>on Machine Learning for Ancient Languages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402266" y="6463728"/>
            <a:ext cx="3407733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</a:t>
            </a:r>
            <a:r>
              <a:rPr sz="1200" spc="-10" dirty="0" smtClean="0">
                <a:solidFill>
                  <a:srgbClr val="8A8A8A"/>
                </a:solidFill>
                <a:latin typeface="Calibri"/>
                <a:cs typeface="Calibri"/>
              </a:rPr>
              <a:t>://</a:t>
            </a:r>
            <a:r>
              <a:rPr lang="en-US"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aclanthology.org/volumes/2024.ml4al-1/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1240"/>
              </a:lnSpc>
            </a:pPr>
            <a:fld id="{81D60167-4931-47E6-BA6A-407CBD079E47}" type="slidenum">
              <a:rPr spc="-25" dirty="0"/>
              <a:pPr marL="241935">
                <a:lnSpc>
                  <a:spcPts val="1240"/>
                </a:lnSpc>
              </a:pPr>
              <a:t>13</a:t>
            </a:fld>
            <a:endParaRPr spc="-25" dirty="0"/>
          </a:p>
        </p:txBody>
      </p:sp>
      <p:pic>
        <p:nvPicPr>
          <p:cNvPr id="8" name="Рисунок 7" descr="dsffdfdsdsfdsdf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95400" y="2133600"/>
            <a:ext cx="7162800" cy="36655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482" y="461581"/>
            <a:ext cx="8429117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9310">
              <a:lnSpc>
                <a:spcPct val="100000"/>
              </a:lnSpc>
              <a:spcBef>
                <a:spcPts val="105"/>
              </a:spcBef>
            </a:pPr>
            <a:r>
              <a:rPr lang="ru-RU" sz="4400" dirty="0" smtClean="0"/>
              <a:t>«Костыли» для шайтан-машин</a:t>
            </a:r>
            <a:r>
              <a:rPr lang="ru-RU" sz="4400" dirty="0" smtClean="0"/>
              <a:t> 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402267" y="6463728"/>
            <a:ext cx="279400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</a:t>
            </a:r>
            <a:r>
              <a:rPr sz="1200" spc="-10" dirty="0" smtClean="0">
                <a:solidFill>
                  <a:srgbClr val="8A8A8A"/>
                </a:solidFill>
                <a:latin typeface="Calibri"/>
                <a:cs typeface="Calibri"/>
              </a:rPr>
              <a:t>://</a:t>
            </a:r>
            <a:r>
              <a:rPr lang="en-US"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aclanthology.org/2024.ml4al-1.23/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1240"/>
              </a:lnSpc>
            </a:pPr>
            <a:fld id="{81D60167-4931-47E6-BA6A-407CBD079E47}" type="slidenum">
              <a:rPr spc="-25" dirty="0"/>
              <a:pPr marL="241935">
                <a:lnSpc>
                  <a:spcPts val="1240"/>
                </a:lnSpc>
              </a:pPr>
              <a:t>14</a:t>
            </a:fld>
            <a:endParaRPr spc="-25" dirty="0"/>
          </a:p>
        </p:txBody>
      </p:sp>
      <p:pic>
        <p:nvPicPr>
          <p:cNvPr id="7" name="Рисунок 6" descr="ffdsdfsds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800" y="1447800"/>
            <a:ext cx="7086600" cy="40881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58ED5">
              <a:alpha val="9882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65762" y="2166937"/>
            <a:ext cx="481139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97180" algn="ctr">
              <a:lnSpc>
                <a:spcPct val="100000"/>
              </a:lnSpc>
              <a:spcBef>
                <a:spcPts val="105"/>
              </a:spcBef>
              <a:tabLst>
                <a:tab pos="2110740" algn="l"/>
                <a:tab pos="2374900" algn="l"/>
              </a:tabLst>
            </a:pPr>
            <a:r>
              <a:rPr lang="ru-RU" sz="4400" spc="-10" dirty="0" smtClean="0">
                <a:solidFill>
                  <a:srgbClr val="FFFFFF"/>
                </a:solidFill>
                <a:latin typeface="Arial"/>
                <a:cs typeface="Arial"/>
              </a:rPr>
              <a:t>Оцифровка</a:t>
            </a:r>
            <a:br>
              <a:rPr lang="ru-RU" sz="4400" spc="-10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ru-RU" sz="4400" spc="-10" dirty="0" smtClean="0">
                <a:solidFill>
                  <a:srgbClr val="FFFFFF"/>
                </a:solidFill>
                <a:latin typeface="Arial"/>
                <a:cs typeface="Arial"/>
              </a:rPr>
              <a:t>словарей</a:t>
            </a:r>
            <a:endParaRPr sz="44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483" y="461581"/>
            <a:ext cx="802005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0185" algn="ctr">
              <a:lnSpc>
                <a:spcPct val="100000"/>
              </a:lnSpc>
              <a:spcBef>
                <a:spcPts val="105"/>
              </a:spcBef>
            </a:pPr>
            <a:r>
              <a:rPr lang="ru-RU" sz="4400" dirty="0" smtClean="0"/>
              <a:t>Кельнские словари с 2007 г.</a:t>
            </a:r>
            <a:r>
              <a:rPr lang="en-US" sz="4400" dirty="0"/>
              <a:t/>
            </a:r>
            <a:br>
              <a:rPr lang="en-US" sz="4400" dirty="0"/>
            </a:br>
            <a:r>
              <a:rPr lang="en-US" sz="4400" dirty="0"/>
              <a:t>sanskrit-lexicon.uni-koeln.de</a:t>
            </a:r>
            <a:endParaRPr sz="4400" dirty="0"/>
          </a:p>
        </p:txBody>
      </p:sp>
      <p:pic>
        <p:nvPicPr>
          <p:cNvPr id="3" name="object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>
          <a:xfrm>
            <a:off x="897464" y="2269316"/>
            <a:ext cx="7306467" cy="33584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1468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42</a:t>
            </a:r>
            <a:r>
              <a:rPr sz="4400" spc="-75" dirty="0"/>
              <a:t> </a:t>
            </a:r>
            <a:r>
              <a:rPr lang="ru-RU" sz="4400" dirty="0" smtClean="0"/>
              <a:t>словарей на </a:t>
            </a:r>
            <a:r>
              <a:rPr sz="4400" dirty="0" smtClean="0"/>
              <a:t>2024</a:t>
            </a:r>
            <a:r>
              <a:rPr lang="ru-RU" sz="4400" dirty="0" smtClean="0"/>
              <a:t> г.</a:t>
            </a:r>
            <a:endParaRPr sz="44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23492"/>
            <a:ext cx="7236460" cy="43056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ru-RU" sz="3100" spc="-20" dirty="0">
                <a:solidFill>
                  <a:srgbClr val="E46C0A"/>
                </a:solidFill>
                <a:latin typeface="Calibri"/>
                <a:cs typeface="Calibri"/>
              </a:rPr>
              <a:t>с</a:t>
            </a:r>
            <a:r>
              <a:rPr lang="ru-RU" sz="3100" spc="-20" dirty="0" smtClean="0">
                <a:solidFill>
                  <a:srgbClr val="E46C0A"/>
                </a:solidFill>
                <a:latin typeface="Calibri"/>
                <a:cs typeface="Calibri"/>
              </a:rPr>
              <a:t>анскритско-английские</a:t>
            </a:r>
            <a:r>
              <a:rPr sz="3100" spc="-10" dirty="0" smtClean="0">
                <a:solidFill>
                  <a:srgbClr val="E46C0A"/>
                </a:solidFill>
                <a:latin typeface="Calibri"/>
                <a:cs typeface="Calibri"/>
              </a:rPr>
              <a:t>:</a:t>
            </a:r>
            <a:r>
              <a:rPr sz="3100" spc="-50" dirty="0" smtClean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E46C0A"/>
                </a:solidFill>
                <a:latin typeface="Calibri"/>
                <a:cs typeface="Calibri"/>
              </a:rPr>
              <a:t>14</a:t>
            </a:r>
            <a:endParaRPr sz="31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ru-RU" sz="3100" spc="-20" dirty="0">
                <a:solidFill>
                  <a:srgbClr val="3E3E3E"/>
                </a:solidFill>
                <a:latin typeface="Calibri"/>
                <a:cs typeface="Calibri"/>
              </a:rPr>
              <a:t>а</a:t>
            </a:r>
            <a:r>
              <a:rPr lang="ru-RU" sz="3100" spc="-20" dirty="0" smtClean="0">
                <a:solidFill>
                  <a:srgbClr val="3E3E3E"/>
                </a:solidFill>
                <a:latin typeface="Calibri"/>
                <a:cs typeface="Calibri"/>
              </a:rPr>
              <a:t>нглийско-санскритские</a:t>
            </a:r>
            <a:r>
              <a:rPr sz="3100" spc="-10" dirty="0" smtClean="0">
                <a:solidFill>
                  <a:srgbClr val="3E3E3E"/>
                </a:solidFill>
                <a:latin typeface="Calibri"/>
                <a:cs typeface="Calibri"/>
              </a:rPr>
              <a:t>:</a:t>
            </a:r>
            <a:r>
              <a:rPr sz="3100" spc="-50" dirty="0" smtClean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spc="-50" dirty="0">
                <a:solidFill>
                  <a:srgbClr val="3E3E3E"/>
                </a:solidFill>
                <a:latin typeface="Calibri"/>
                <a:cs typeface="Calibri"/>
              </a:rPr>
              <a:t>3</a:t>
            </a:r>
            <a:endParaRPr sz="31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ru-RU" sz="3100" spc="-20" dirty="0">
                <a:solidFill>
                  <a:srgbClr val="3E3E3E"/>
                </a:solidFill>
                <a:latin typeface="Calibri"/>
                <a:cs typeface="Calibri"/>
              </a:rPr>
              <a:t>с</a:t>
            </a:r>
            <a:r>
              <a:rPr lang="ru-RU" sz="3100" spc="-20" dirty="0" smtClean="0">
                <a:solidFill>
                  <a:srgbClr val="3E3E3E"/>
                </a:solidFill>
                <a:latin typeface="Calibri"/>
                <a:cs typeface="Calibri"/>
              </a:rPr>
              <a:t>анскритско-французские</a:t>
            </a:r>
            <a:r>
              <a:rPr sz="3100" spc="-10" dirty="0" smtClean="0">
                <a:solidFill>
                  <a:srgbClr val="3E3E3E"/>
                </a:solidFill>
                <a:latin typeface="Calibri"/>
                <a:cs typeface="Calibri"/>
              </a:rPr>
              <a:t>:</a:t>
            </a:r>
            <a:r>
              <a:rPr sz="3100" spc="-55" dirty="0" smtClean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spc="-50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endParaRPr sz="31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ru-RU" sz="3100" spc="-20" dirty="0">
                <a:solidFill>
                  <a:srgbClr val="E46C0A"/>
                </a:solidFill>
                <a:latin typeface="Calibri"/>
                <a:cs typeface="Calibri"/>
              </a:rPr>
              <a:t>с</a:t>
            </a:r>
            <a:r>
              <a:rPr lang="ru-RU" sz="3100" spc="-20" dirty="0" smtClean="0">
                <a:solidFill>
                  <a:srgbClr val="E46C0A"/>
                </a:solidFill>
                <a:latin typeface="Calibri"/>
                <a:cs typeface="Calibri"/>
              </a:rPr>
              <a:t>анскритско-немецкие</a:t>
            </a:r>
            <a:r>
              <a:rPr sz="3100" spc="-10" dirty="0" smtClean="0">
                <a:solidFill>
                  <a:srgbClr val="E46C0A"/>
                </a:solidFill>
                <a:latin typeface="Calibri"/>
                <a:cs typeface="Calibri"/>
              </a:rPr>
              <a:t>:</a:t>
            </a:r>
            <a:r>
              <a:rPr sz="3100" spc="-45" dirty="0" smtClean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3100" spc="-50" dirty="0">
                <a:solidFill>
                  <a:srgbClr val="E46C0A"/>
                </a:solidFill>
                <a:latin typeface="Calibri"/>
                <a:cs typeface="Calibri"/>
              </a:rPr>
              <a:t>5</a:t>
            </a:r>
            <a:endParaRPr sz="31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ru-RU" sz="3100" spc="-20" dirty="0">
                <a:solidFill>
                  <a:srgbClr val="3E3E3E"/>
                </a:solidFill>
                <a:latin typeface="Calibri"/>
                <a:cs typeface="Calibri"/>
              </a:rPr>
              <a:t>с</a:t>
            </a:r>
            <a:r>
              <a:rPr lang="ru-RU" sz="3100" spc="-20" dirty="0" smtClean="0">
                <a:solidFill>
                  <a:srgbClr val="3E3E3E"/>
                </a:solidFill>
                <a:latin typeface="Calibri"/>
                <a:cs typeface="Calibri"/>
              </a:rPr>
              <a:t>анскритско-латинские</a:t>
            </a:r>
            <a:r>
              <a:rPr sz="3100" dirty="0" smtClean="0">
                <a:solidFill>
                  <a:srgbClr val="3E3E3E"/>
                </a:solidFill>
                <a:latin typeface="Calibri"/>
                <a:cs typeface="Calibri"/>
              </a:rPr>
              <a:t>:</a:t>
            </a:r>
            <a:r>
              <a:rPr sz="3100" spc="-100" dirty="0" smtClean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spc="-50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endParaRPr sz="31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ru-RU" sz="3100" b="1" spc="-25" dirty="0">
                <a:solidFill>
                  <a:srgbClr val="E46C0A"/>
                </a:solidFill>
                <a:latin typeface="Calibri"/>
                <a:cs typeface="Calibri"/>
              </a:rPr>
              <a:t>с</a:t>
            </a:r>
            <a:r>
              <a:rPr lang="ru-RU" sz="3100" b="1" spc="-25" dirty="0" smtClean="0">
                <a:solidFill>
                  <a:srgbClr val="E46C0A"/>
                </a:solidFill>
                <a:latin typeface="Calibri"/>
                <a:cs typeface="Calibri"/>
              </a:rPr>
              <a:t>анскритско-санскритские</a:t>
            </a:r>
            <a:r>
              <a:rPr sz="3100" b="1" spc="-10" dirty="0" smtClean="0">
                <a:solidFill>
                  <a:srgbClr val="E46C0A"/>
                </a:solidFill>
                <a:latin typeface="Calibri"/>
                <a:cs typeface="Calibri"/>
              </a:rPr>
              <a:t>:</a:t>
            </a:r>
            <a:r>
              <a:rPr sz="3100" b="1" spc="-30" dirty="0" smtClean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3100" b="1" spc="-50" dirty="0">
                <a:solidFill>
                  <a:srgbClr val="E46C0A"/>
                </a:solidFill>
                <a:latin typeface="Calibri"/>
                <a:cs typeface="Calibri"/>
              </a:rPr>
              <a:t>6</a:t>
            </a:r>
            <a:endParaRPr sz="31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ru-RU" sz="3100" b="1" spc="-25" dirty="0">
                <a:solidFill>
                  <a:srgbClr val="3E3E3E"/>
                </a:solidFill>
                <a:latin typeface="Calibri"/>
                <a:cs typeface="Calibri"/>
              </a:rPr>
              <a:t>с</a:t>
            </a:r>
            <a:r>
              <a:rPr lang="ru-RU" sz="3100" b="1" spc="-25" dirty="0" smtClean="0">
                <a:solidFill>
                  <a:srgbClr val="3E3E3E"/>
                </a:solidFill>
                <a:latin typeface="Calibri"/>
                <a:cs typeface="Calibri"/>
              </a:rPr>
              <a:t>анскритское-русские</a:t>
            </a:r>
            <a:r>
              <a:rPr sz="3100" b="1" spc="-10" dirty="0" smtClean="0">
                <a:solidFill>
                  <a:srgbClr val="3E3E3E"/>
                </a:solidFill>
                <a:latin typeface="Calibri"/>
                <a:cs typeface="Calibri"/>
              </a:rPr>
              <a:t>:</a:t>
            </a:r>
            <a:r>
              <a:rPr sz="3100" b="1" spc="-40" dirty="0" smtClean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b="1" spc="-25" dirty="0">
                <a:solidFill>
                  <a:srgbClr val="3E3E3E"/>
                </a:solidFill>
                <a:latin typeface="Calibri"/>
                <a:cs typeface="Calibri"/>
              </a:rPr>
              <a:t>*5</a:t>
            </a:r>
            <a:endParaRPr sz="31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ru-RU" sz="3100" spc="-10" dirty="0">
                <a:solidFill>
                  <a:srgbClr val="3E3E3E"/>
                </a:solidFill>
                <a:latin typeface="Calibri"/>
                <a:cs typeface="Calibri"/>
              </a:rPr>
              <a:t>с</a:t>
            </a:r>
            <a:r>
              <a:rPr lang="ru-RU" sz="3100" spc="-10" dirty="0" smtClean="0">
                <a:solidFill>
                  <a:srgbClr val="3E3E3E"/>
                </a:solidFill>
                <a:latin typeface="Calibri"/>
                <a:cs typeface="Calibri"/>
              </a:rPr>
              <a:t>правочники</a:t>
            </a:r>
            <a:r>
              <a:rPr sz="3100" dirty="0" smtClean="0">
                <a:solidFill>
                  <a:srgbClr val="3E3E3E"/>
                </a:solidFill>
                <a:latin typeface="Calibri"/>
                <a:cs typeface="Calibri"/>
              </a:rPr>
              <a:t>:</a:t>
            </a:r>
            <a:r>
              <a:rPr sz="3100" spc="-140" dirty="0" smtClean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3E3E3E"/>
                </a:solidFill>
                <a:latin typeface="Calibri"/>
                <a:cs typeface="Calibri"/>
              </a:rPr>
              <a:t>11</a:t>
            </a:r>
            <a:endParaRPr sz="31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ru-RU" sz="3100" i="1" spc="-20" dirty="0">
                <a:solidFill>
                  <a:srgbClr val="3E3E3E"/>
                </a:solidFill>
                <a:latin typeface="Calibri"/>
                <a:cs typeface="Calibri"/>
              </a:rPr>
              <a:t>м</a:t>
            </a:r>
            <a:r>
              <a:rPr lang="ru-RU" sz="3100" i="1" spc="-20" dirty="0" smtClean="0">
                <a:solidFill>
                  <a:srgbClr val="3E3E3E"/>
                </a:solidFill>
                <a:latin typeface="Calibri"/>
                <a:cs typeface="Calibri"/>
              </a:rPr>
              <a:t>оральное устаревшие интерфейсы</a:t>
            </a:r>
            <a:endParaRPr sz="3100" i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482" y="461581"/>
            <a:ext cx="8352917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5450">
              <a:lnSpc>
                <a:spcPct val="100000"/>
              </a:lnSpc>
              <a:spcBef>
                <a:spcPts val="105"/>
              </a:spcBef>
            </a:pPr>
            <a:r>
              <a:rPr lang="ru-RU" sz="4400" dirty="0" smtClean="0"/>
              <a:t>Восемь</a:t>
            </a:r>
            <a:r>
              <a:rPr sz="4400" spc="-45" dirty="0" smtClean="0"/>
              <a:t> </a:t>
            </a:r>
            <a:r>
              <a:rPr lang="ru-RU" sz="4400" dirty="0" smtClean="0"/>
              <a:t>приоритетных словарей</a:t>
            </a:r>
            <a:endParaRPr sz="440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18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23854622"/>
              </p:ext>
            </p:extLst>
          </p:nvPr>
        </p:nvGraphicFramePr>
        <p:xfrm>
          <a:off x="516890" y="1524000"/>
          <a:ext cx="8061959" cy="1812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990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5788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2417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marL="374650" indent="-342900">
                        <a:lnSpc>
                          <a:spcPts val="2760"/>
                        </a:lnSpc>
                        <a:buFont typeface="Arial"/>
                        <a:buChar char="•"/>
                        <a:tabLst>
                          <a:tab pos="374015" algn="l"/>
                          <a:tab pos="374650" algn="l"/>
                        </a:tabLst>
                      </a:pPr>
                      <a:r>
                        <a:rPr sz="2500" spc="-25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WIL</a:t>
                      </a:r>
                      <a:endParaRPr sz="25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2760"/>
                        </a:lnSpc>
                      </a:pPr>
                      <a:r>
                        <a:rPr sz="2500" spc="-2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1832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2760"/>
                        </a:lnSpc>
                      </a:pPr>
                      <a:r>
                        <a:rPr sz="250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Wilson</a:t>
                      </a:r>
                      <a:r>
                        <a:rPr sz="2500" spc="-85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1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Sanskrit-</a:t>
                      </a:r>
                      <a:r>
                        <a:rPr sz="250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English</a:t>
                      </a:r>
                      <a:r>
                        <a:rPr sz="2500" spc="-8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1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Dictionary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74650" indent="-342900">
                        <a:lnSpc>
                          <a:spcPts val="2520"/>
                        </a:lnSpc>
                        <a:buFont typeface="Arial"/>
                        <a:buChar char="•"/>
                        <a:tabLst>
                          <a:tab pos="374015" algn="l"/>
                          <a:tab pos="374650" algn="l"/>
                        </a:tabLst>
                      </a:pPr>
                      <a:r>
                        <a:rPr sz="2500" b="1" spc="-25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MW</a:t>
                      </a:r>
                      <a:endParaRPr sz="2500">
                        <a:latin typeface="Calibri"/>
                        <a:cs typeface="Calibri"/>
                      </a:endParaRPr>
                    </a:p>
                    <a:p>
                      <a:pPr marL="374650">
                        <a:lnSpc>
                          <a:spcPts val="2700"/>
                        </a:lnSpc>
                      </a:pPr>
                      <a:r>
                        <a:rPr sz="2500" spc="-1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Dictionary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2820"/>
                        </a:lnSpc>
                      </a:pPr>
                      <a:r>
                        <a:rPr sz="2500" b="1" spc="-2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1899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2820"/>
                        </a:lnSpc>
                      </a:pPr>
                      <a:r>
                        <a:rPr sz="2500" spc="-2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Monier-</a:t>
                      </a:r>
                      <a:r>
                        <a:rPr sz="250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Williams</a:t>
                      </a:r>
                      <a:r>
                        <a:rPr sz="2500" spc="-45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1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Sanskrit-English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374650" indent="-342900">
                        <a:lnSpc>
                          <a:spcPts val="2815"/>
                        </a:lnSpc>
                        <a:buFont typeface="Arial"/>
                        <a:buChar char="•"/>
                        <a:tabLst>
                          <a:tab pos="374015" algn="l"/>
                          <a:tab pos="374650" algn="l"/>
                        </a:tabLst>
                      </a:pPr>
                      <a:r>
                        <a:rPr sz="2500" b="1" spc="-25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AP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2815"/>
                        </a:lnSpc>
                      </a:pPr>
                      <a:r>
                        <a:rPr sz="2500" b="1" spc="-2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1957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2815"/>
                        </a:lnSpc>
                      </a:pPr>
                      <a:r>
                        <a:rPr sz="2500" spc="-1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Practical</a:t>
                      </a:r>
                      <a:r>
                        <a:rPr sz="2500" spc="-55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1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Sanskrit-</a:t>
                      </a:r>
                      <a:r>
                        <a:rPr sz="250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English</a:t>
                      </a:r>
                      <a:r>
                        <a:rPr sz="2500" spc="-75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10" dirty="0">
                          <a:solidFill>
                            <a:srgbClr val="E46C0A"/>
                          </a:solidFill>
                          <a:latin typeface="Calibri"/>
                          <a:cs typeface="Calibri"/>
                        </a:rPr>
                        <a:t>Dictionary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374650" indent="-342900">
                        <a:lnSpc>
                          <a:spcPts val="2820"/>
                        </a:lnSpc>
                        <a:buFont typeface="Arial"/>
                        <a:buChar char="•"/>
                        <a:tabLst>
                          <a:tab pos="374015" algn="l"/>
                          <a:tab pos="374650" algn="l"/>
                        </a:tabLst>
                      </a:pPr>
                      <a:r>
                        <a:rPr sz="2500" b="1" spc="-25" dirty="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PWG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2820"/>
                        </a:lnSpc>
                      </a:pPr>
                      <a:r>
                        <a:rPr sz="2500" b="1" spc="-20" dirty="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1855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2820"/>
                        </a:lnSpc>
                      </a:pPr>
                      <a:r>
                        <a:rPr sz="2500" dirty="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Böhtlingk</a:t>
                      </a:r>
                      <a:r>
                        <a:rPr sz="2500" spc="-95" dirty="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2500" spc="-95" dirty="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Roth</a:t>
                      </a:r>
                      <a:r>
                        <a:rPr sz="2500" spc="-114" dirty="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00" dirty="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Grosses</a:t>
                      </a:r>
                      <a:r>
                        <a:rPr sz="2500" spc="-110" dirty="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10" dirty="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Petersburger</a:t>
                      </a:r>
                      <a:endParaRPr sz="25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279103" y="3297574"/>
            <a:ext cx="157861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10" dirty="0">
                <a:solidFill>
                  <a:srgbClr val="3E3E3E"/>
                </a:solidFill>
                <a:latin typeface="Calibri"/>
                <a:cs typeface="Calibri"/>
              </a:rPr>
              <a:t>Wörterbuch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670245"/>
            <a:ext cx="2548890" cy="3584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265" marR="59055" indent="-342265" algn="r">
              <a:lnSpc>
                <a:spcPts val="2700"/>
              </a:lnSpc>
              <a:spcBef>
                <a:spcPts val="95"/>
              </a:spcBef>
              <a:buFont typeface="Arial"/>
              <a:buChar char="•"/>
              <a:tabLst>
                <a:tab pos="342265" algn="l"/>
                <a:tab pos="342900" algn="l"/>
                <a:tab pos="1828164" algn="l"/>
              </a:tabLst>
            </a:pPr>
            <a:r>
              <a:rPr sz="2500" b="1" spc="-25" dirty="0">
                <a:solidFill>
                  <a:srgbClr val="3E3E3E"/>
                </a:solidFill>
                <a:latin typeface="Calibri"/>
                <a:cs typeface="Calibri"/>
              </a:rPr>
              <a:t>PW</a:t>
            </a:r>
            <a:r>
              <a:rPr sz="2500" b="1" dirty="0">
                <a:solidFill>
                  <a:srgbClr val="3E3E3E"/>
                </a:solidFill>
                <a:latin typeface="Calibri"/>
                <a:cs typeface="Calibri"/>
              </a:rPr>
              <a:t>	</a:t>
            </a:r>
            <a:r>
              <a:rPr sz="2500" b="1" spc="-20" dirty="0">
                <a:solidFill>
                  <a:srgbClr val="3E3E3E"/>
                </a:solidFill>
                <a:latin typeface="Calibri"/>
                <a:cs typeface="Calibri"/>
              </a:rPr>
              <a:t>1879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9103" y="3703621"/>
            <a:ext cx="5571839" cy="6129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ts val="2300"/>
              </a:lnSpc>
              <a:spcBef>
                <a:spcPts val="95"/>
              </a:spcBef>
            </a:pPr>
            <a:r>
              <a:rPr sz="2500" dirty="0">
                <a:solidFill>
                  <a:srgbClr val="3E3E3E"/>
                </a:solidFill>
                <a:latin typeface="Calibri"/>
                <a:cs typeface="Calibri"/>
              </a:rPr>
              <a:t>Böhtlingk</a:t>
            </a:r>
            <a:r>
              <a:rPr sz="2500" spc="-9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3E3E3E"/>
                </a:solidFill>
                <a:latin typeface="Calibri"/>
                <a:cs typeface="Calibri"/>
              </a:rPr>
              <a:t>Sanskrit-</a:t>
            </a:r>
            <a:r>
              <a:rPr sz="2500" spc="-20" dirty="0" err="1">
                <a:solidFill>
                  <a:srgbClr val="3E3E3E"/>
                </a:solidFill>
                <a:latin typeface="Calibri"/>
                <a:cs typeface="Calibri"/>
              </a:rPr>
              <a:t>Wörterbuch</a:t>
            </a:r>
            <a:r>
              <a:rPr sz="2500" spc="-8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500" spc="-25" dirty="0">
                <a:solidFill>
                  <a:srgbClr val="3E3E3E"/>
                </a:solidFill>
                <a:latin typeface="Calibri"/>
                <a:cs typeface="Calibri"/>
              </a:rPr>
              <a:t>in</a:t>
            </a:r>
            <a:r>
              <a:rPr lang="ru-RU" sz="2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n-US" sz="2500" spc="-10" dirty="0" err="1">
                <a:solidFill>
                  <a:srgbClr val="3E3E3E"/>
                </a:solidFill>
                <a:latin typeface="Calibri"/>
                <a:cs typeface="Calibri"/>
              </a:rPr>
              <a:t>Kürzerer</a:t>
            </a:r>
            <a:r>
              <a:rPr lang="en-US" sz="2500" spc="-1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n-US" sz="2500" spc="-10" dirty="0" err="1">
                <a:solidFill>
                  <a:srgbClr val="3E3E3E"/>
                </a:solidFill>
                <a:latin typeface="Calibri"/>
                <a:cs typeface="Calibri"/>
              </a:rPr>
              <a:t>Fassung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4300673"/>
            <a:ext cx="2664460" cy="40203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marR="5080" indent="-342900">
              <a:lnSpc>
                <a:spcPts val="24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  <a:tab pos="1840864" algn="l"/>
                <a:tab pos="2755265" algn="l"/>
              </a:tabLst>
            </a:pPr>
            <a:r>
              <a:rPr sz="2500" b="1" spc="-25" dirty="0">
                <a:solidFill>
                  <a:srgbClr val="3E3E3E"/>
                </a:solidFill>
                <a:latin typeface="Calibri"/>
                <a:cs typeface="Calibri"/>
              </a:rPr>
              <a:t>SCH</a:t>
            </a:r>
            <a:r>
              <a:rPr sz="2500" b="1" dirty="0">
                <a:solidFill>
                  <a:srgbClr val="3E3E3E"/>
                </a:solidFill>
                <a:latin typeface="Calibri"/>
                <a:cs typeface="Calibri"/>
              </a:rPr>
              <a:t>	</a:t>
            </a:r>
            <a:r>
              <a:rPr sz="2500" b="1" spc="-20" dirty="0">
                <a:solidFill>
                  <a:srgbClr val="3E3E3E"/>
                </a:solidFill>
                <a:latin typeface="Calibri"/>
                <a:cs typeface="Calibri"/>
              </a:rPr>
              <a:t>1928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5308600"/>
            <a:ext cx="110680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dirty="0">
                <a:solidFill>
                  <a:srgbClr val="E46C0A"/>
                </a:solidFill>
                <a:latin typeface="Calibri"/>
                <a:cs typeface="Calibri"/>
              </a:rPr>
              <a:t>VCP</a:t>
            </a:r>
            <a:r>
              <a:rPr sz="2500" spc="-80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2500" spc="-50" dirty="0">
                <a:solidFill>
                  <a:srgbClr val="E46C0A"/>
                </a:solidFill>
                <a:latin typeface="Calibri"/>
                <a:cs typeface="Calibri"/>
              </a:rPr>
              <a:t>*</a:t>
            </a:r>
            <a:endParaRPr sz="25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500" dirty="0">
                <a:solidFill>
                  <a:srgbClr val="E46C0A"/>
                </a:solidFill>
                <a:latin typeface="Calibri"/>
                <a:cs typeface="Calibri"/>
              </a:rPr>
              <a:t>SKD</a:t>
            </a:r>
            <a:r>
              <a:rPr sz="2500" spc="-45" dirty="0">
                <a:solidFill>
                  <a:srgbClr val="E46C0A"/>
                </a:solidFill>
                <a:latin typeface="Calibri"/>
                <a:cs typeface="Calibri"/>
              </a:rPr>
              <a:t> </a:t>
            </a:r>
            <a:r>
              <a:rPr sz="2500" spc="-50" dirty="0">
                <a:solidFill>
                  <a:srgbClr val="E46C0A"/>
                </a:solidFill>
                <a:latin typeface="Calibri"/>
                <a:cs typeface="Calibri"/>
              </a:rPr>
              <a:t>*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64581" y="5308600"/>
            <a:ext cx="3351529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7100" algn="l"/>
              </a:tabLst>
            </a:pPr>
            <a:r>
              <a:rPr sz="2500" spc="-20" dirty="0">
                <a:solidFill>
                  <a:srgbClr val="E46C0A"/>
                </a:solidFill>
                <a:latin typeface="Calibri"/>
                <a:cs typeface="Calibri"/>
              </a:rPr>
              <a:t>1873</a:t>
            </a:r>
            <a:r>
              <a:rPr sz="2500" dirty="0">
                <a:solidFill>
                  <a:srgbClr val="E46C0A"/>
                </a:solidFill>
                <a:latin typeface="Calibri"/>
                <a:cs typeface="Calibri"/>
              </a:rPr>
              <a:t>	</a:t>
            </a:r>
            <a:r>
              <a:rPr sz="2500" spc="-10" dirty="0">
                <a:solidFill>
                  <a:srgbClr val="E46C0A"/>
                </a:solidFill>
                <a:latin typeface="Calibri"/>
                <a:cs typeface="Calibri"/>
              </a:rPr>
              <a:t>Vacaspatyam</a:t>
            </a:r>
            <a:endParaRPr sz="25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927100" algn="l"/>
              </a:tabLst>
            </a:pPr>
            <a:r>
              <a:rPr sz="2500" spc="-20" dirty="0">
                <a:solidFill>
                  <a:srgbClr val="E46C0A"/>
                </a:solidFill>
                <a:latin typeface="Calibri"/>
                <a:cs typeface="Calibri"/>
              </a:rPr>
              <a:t>1886</a:t>
            </a:r>
            <a:r>
              <a:rPr sz="2500" dirty="0">
                <a:solidFill>
                  <a:srgbClr val="E46C0A"/>
                </a:solidFill>
                <a:latin typeface="Calibri"/>
                <a:cs typeface="Calibri"/>
              </a:rPr>
              <a:t>	</a:t>
            </a:r>
            <a:r>
              <a:rPr sz="2500" spc="-20" dirty="0">
                <a:solidFill>
                  <a:srgbClr val="E46C0A"/>
                </a:solidFill>
                <a:latin typeface="Calibri"/>
                <a:cs typeface="Calibri"/>
              </a:rPr>
              <a:t>Sabda-</a:t>
            </a:r>
            <a:r>
              <a:rPr sz="2500" spc="-10" dirty="0">
                <a:solidFill>
                  <a:srgbClr val="E46C0A"/>
                </a:solidFill>
                <a:latin typeface="Calibri"/>
                <a:cs typeface="Calibri"/>
              </a:rPr>
              <a:t>kalpadruma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xmlns="" id="{242468ED-A468-4C5B-9F26-51CD2FA2F3B5}"/>
              </a:ext>
            </a:extLst>
          </p:cNvPr>
          <p:cNvSpPr txBox="1"/>
          <p:nvPr/>
        </p:nvSpPr>
        <p:spPr>
          <a:xfrm>
            <a:off x="3279102" y="4300673"/>
            <a:ext cx="5712498" cy="101758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065" marR="5080">
              <a:lnSpc>
                <a:spcPts val="2400"/>
              </a:lnSpc>
              <a:spcBef>
                <a:spcPts val="675"/>
              </a:spcBef>
              <a:tabLst>
                <a:tab pos="354965" algn="l"/>
                <a:tab pos="355600" algn="l"/>
                <a:tab pos="1840864" algn="l"/>
                <a:tab pos="2755265" algn="l"/>
              </a:tabLst>
            </a:pPr>
            <a:r>
              <a:rPr lang="de-DE" sz="2500" dirty="0">
                <a:solidFill>
                  <a:srgbClr val="3E3E3E"/>
                </a:solidFill>
                <a:latin typeface="Calibri"/>
                <a:cs typeface="Calibri"/>
              </a:rPr>
              <a:t>Schmidt</a:t>
            </a:r>
            <a:r>
              <a:rPr lang="de-DE" sz="2500" spc="-7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de-DE" sz="2500" spc="-10" dirty="0">
                <a:solidFill>
                  <a:srgbClr val="3E3E3E"/>
                </a:solidFill>
                <a:latin typeface="Calibri"/>
                <a:cs typeface="Calibri"/>
              </a:rPr>
              <a:t>Nachträge</a:t>
            </a:r>
            <a:r>
              <a:rPr lang="de-DE" sz="2500" spc="-7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de-DE" sz="2500" dirty="0">
                <a:solidFill>
                  <a:srgbClr val="3E3E3E"/>
                </a:solidFill>
                <a:latin typeface="Calibri"/>
                <a:cs typeface="Calibri"/>
              </a:rPr>
              <a:t>zum</a:t>
            </a:r>
            <a:r>
              <a:rPr lang="de-DE" sz="2500" spc="-7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de-DE" sz="2500" spc="-10" dirty="0">
                <a:solidFill>
                  <a:srgbClr val="3E3E3E"/>
                </a:solidFill>
                <a:latin typeface="Calibri"/>
                <a:cs typeface="Calibri"/>
              </a:rPr>
              <a:t>Sanskrit-</a:t>
            </a:r>
            <a:r>
              <a:rPr lang="de-DE" sz="2500" spc="-20" dirty="0">
                <a:solidFill>
                  <a:srgbClr val="3E3E3E"/>
                </a:solidFill>
                <a:latin typeface="Calibri"/>
                <a:cs typeface="Calibri"/>
              </a:rPr>
              <a:t>   Wörterbuch</a:t>
            </a:r>
            <a:r>
              <a:rPr lang="de-DE" sz="25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de-DE" sz="2500" dirty="0">
                <a:solidFill>
                  <a:srgbClr val="3E3E3E"/>
                </a:solidFill>
                <a:latin typeface="Calibri"/>
                <a:cs typeface="Calibri"/>
              </a:rPr>
              <a:t>+</a:t>
            </a:r>
            <a:r>
              <a:rPr lang="de-DE" sz="25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de-DE" sz="2500" spc="-10" dirty="0">
                <a:solidFill>
                  <a:srgbClr val="3E3E3E"/>
                </a:solidFill>
                <a:latin typeface="Calibri"/>
                <a:cs typeface="Calibri"/>
              </a:rPr>
              <a:t>Nachträge</a:t>
            </a:r>
            <a:r>
              <a:rPr lang="de-DE" sz="2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de-DE" sz="2500" dirty="0">
                <a:solidFill>
                  <a:srgbClr val="3E3E3E"/>
                </a:solidFill>
                <a:latin typeface="Calibri"/>
                <a:cs typeface="Calibri"/>
              </a:rPr>
              <a:t>und</a:t>
            </a:r>
            <a:r>
              <a:rPr lang="de-DE" sz="25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de-DE" sz="2500" spc="-10" dirty="0">
                <a:solidFill>
                  <a:srgbClr val="3E3E3E"/>
                </a:solidFill>
                <a:latin typeface="Calibri"/>
                <a:cs typeface="Calibri"/>
              </a:rPr>
              <a:t>Verbesserungen</a:t>
            </a:r>
            <a:endParaRPr sz="2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829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30</a:t>
            </a:r>
            <a:r>
              <a:rPr sz="4400" spc="-95" dirty="0"/>
              <a:t> </a:t>
            </a:r>
            <a:r>
              <a:rPr lang="ru-RU" sz="4400" spc="-45" dirty="0" smtClean="0"/>
              <a:t>лет после начала оцифровки</a:t>
            </a:r>
            <a:endParaRPr sz="44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8544"/>
            <a:ext cx="7999095" cy="431336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4965" marR="1030605" indent="-342900">
              <a:lnSpc>
                <a:spcPts val="3460"/>
              </a:lnSpc>
              <a:spcBef>
                <a:spcPts val="53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ru-RU" sz="3200" dirty="0" smtClean="0">
                <a:solidFill>
                  <a:srgbClr val="3E3E3E"/>
                </a:solidFill>
                <a:latin typeface="Calibri"/>
                <a:cs typeface="Calibri"/>
              </a:rPr>
              <a:t>Оцифрованные копии словарей </a:t>
            </a:r>
            <a:r>
              <a:rPr lang="ru-RU" sz="3200" b="1" dirty="0" smtClean="0">
                <a:solidFill>
                  <a:srgbClr val="3E3E3E"/>
                </a:solidFill>
                <a:latin typeface="Calibri"/>
                <a:cs typeface="Calibri"/>
              </a:rPr>
              <a:t>не идентичны </a:t>
            </a:r>
            <a:r>
              <a:rPr lang="ru-RU" sz="3200" dirty="0" smtClean="0">
                <a:solidFill>
                  <a:srgbClr val="3E3E3E"/>
                </a:solidFill>
                <a:latin typeface="Calibri"/>
                <a:cs typeface="Calibri"/>
              </a:rPr>
              <a:t>бумажным книгам</a:t>
            </a:r>
            <a:r>
              <a:rPr sz="3200" spc="-10" dirty="0" smtClean="0">
                <a:solidFill>
                  <a:srgbClr val="3E3E3E"/>
                </a:solidFill>
                <a:latin typeface="Calibri"/>
                <a:cs typeface="Calibri"/>
              </a:rPr>
              <a:t>;</a:t>
            </a:r>
            <a:endParaRPr sz="3200" dirty="0">
              <a:latin typeface="Calibri"/>
              <a:cs typeface="Calibri"/>
            </a:endParaRPr>
          </a:p>
          <a:p>
            <a:pPr marL="354965" marR="5080" indent="-342900">
              <a:lnSpc>
                <a:spcPts val="3460"/>
              </a:lnSpc>
              <a:spcBef>
                <a:spcPts val="7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ru-RU" sz="3200" dirty="0" smtClean="0">
                <a:solidFill>
                  <a:srgbClr val="3E3E3E"/>
                </a:solidFill>
                <a:latin typeface="Calibri"/>
                <a:cs typeface="Calibri"/>
              </a:rPr>
              <a:t>Сколько суммарно слов в словарях</a:t>
            </a:r>
            <a:r>
              <a:rPr lang="en-US" sz="3200" dirty="0" smtClean="0">
                <a:solidFill>
                  <a:srgbClr val="3E3E3E"/>
                </a:solidFill>
                <a:latin typeface="Calibri"/>
                <a:cs typeface="Calibri"/>
              </a:rPr>
              <a:t>?</a:t>
            </a:r>
            <a:r>
              <a:rPr lang="ru-RU" sz="3200" dirty="0" smtClean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ru-RU" sz="3200" dirty="0" smtClean="0">
                <a:solidFill>
                  <a:srgbClr val="3E3E3E"/>
                </a:solidFill>
                <a:latin typeface="Calibri"/>
                <a:cs typeface="Calibri"/>
              </a:rPr>
              <a:t>Не собраны все </a:t>
            </a:r>
            <a:r>
              <a:rPr lang="ru-RU" sz="3200" dirty="0" smtClean="0">
                <a:solidFill>
                  <a:srgbClr val="3E3E3E"/>
                </a:solidFill>
                <a:latin typeface="Calibri"/>
                <a:cs typeface="Calibri"/>
              </a:rPr>
              <a:t>приставочные глаголы (</a:t>
            </a:r>
            <a:r>
              <a:rPr sz="3200" dirty="0" smtClean="0">
                <a:solidFill>
                  <a:srgbClr val="3E3E3E"/>
                </a:solidFill>
                <a:latin typeface="Calibri"/>
                <a:cs typeface="Calibri"/>
              </a:rPr>
              <a:t>sopasarga</a:t>
            </a:r>
            <a:r>
              <a:rPr lang="ru-RU" sz="3200" dirty="0" smtClean="0">
                <a:solidFill>
                  <a:srgbClr val="3E3E3E"/>
                </a:solidFill>
                <a:latin typeface="Calibri"/>
                <a:cs typeface="Calibri"/>
              </a:rPr>
              <a:t>)</a:t>
            </a:r>
            <a:r>
              <a:rPr sz="3200" spc="-45" dirty="0" smtClean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ru-RU" sz="3200" spc="-25" dirty="0" smtClean="0">
                <a:solidFill>
                  <a:srgbClr val="3E3E3E"/>
                </a:solidFill>
                <a:latin typeface="Calibri"/>
                <a:cs typeface="Calibri"/>
              </a:rPr>
              <a:t>и сложные слова</a:t>
            </a:r>
            <a:r>
              <a:rPr sz="3200" spc="-25" dirty="0" smtClean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ru-RU" sz="3200" spc="-25" dirty="0" smtClean="0">
                <a:solidFill>
                  <a:srgbClr val="3E3E3E"/>
                </a:solidFill>
                <a:latin typeface="Calibri"/>
                <a:cs typeface="Calibri"/>
              </a:rPr>
              <a:t>(</a:t>
            </a:r>
            <a:r>
              <a:rPr sz="3200" dirty="0" smtClean="0">
                <a:solidFill>
                  <a:srgbClr val="3E3E3E"/>
                </a:solidFill>
                <a:latin typeface="Calibri"/>
                <a:cs typeface="Calibri"/>
              </a:rPr>
              <a:t>samāsa</a:t>
            </a:r>
            <a:r>
              <a:rPr lang="ru-RU" sz="3200" dirty="0" smtClean="0">
                <a:solidFill>
                  <a:srgbClr val="3E3E3E"/>
                </a:solidFill>
                <a:latin typeface="Calibri"/>
                <a:cs typeface="Calibri"/>
              </a:rPr>
              <a:t>)</a:t>
            </a:r>
            <a:endParaRPr sz="3200" dirty="0">
              <a:latin typeface="Calibri"/>
              <a:cs typeface="Calibri"/>
            </a:endParaRPr>
          </a:p>
          <a:p>
            <a:pPr marL="354965" marR="339725" indent="-342900">
              <a:lnSpc>
                <a:spcPts val="3460"/>
              </a:lnSpc>
              <a:spcBef>
                <a:spcPts val="75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ru-RU" sz="3200" dirty="0" smtClean="0">
                <a:solidFill>
                  <a:srgbClr val="3E3E3E"/>
                </a:solidFill>
                <a:latin typeface="Calibri"/>
                <a:cs typeface="Calibri"/>
              </a:rPr>
              <a:t>Оцифровка не только привносит новые опечатни, но за двумя исключениями</a:t>
            </a:r>
            <a:r>
              <a:rPr sz="3200" spc="-25" dirty="0" smtClean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dirty="0" smtClean="0">
                <a:solidFill>
                  <a:srgbClr val="3E3E3E"/>
                </a:solidFill>
                <a:latin typeface="Calibri"/>
                <a:cs typeface="Calibri"/>
              </a:rPr>
              <a:t>(GRA</a:t>
            </a:r>
            <a:r>
              <a:rPr sz="3200" spc="-25" dirty="0" smtClean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ru-RU" sz="3200" dirty="0" smtClean="0">
                <a:solidFill>
                  <a:srgbClr val="3E3E3E"/>
                </a:solidFill>
                <a:latin typeface="Calibri"/>
                <a:cs typeface="Calibri"/>
              </a:rPr>
              <a:t>и</a:t>
            </a:r>
            <a:r>
              <a:rPr sz="3200" spc="-5" dirty="0" smtClean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3E3E3E"/>
                </a:solidFill>
                <a:latin typeface="Calibri"/>
                <a:cs typeface="Calibri"/>
              </a:rPr>
              <a:t>MW</a:t>
            </a:r>
            <a:r>
              <a:rPr sz="3200" spc="-20" dirty="0" smtClean="0">
                <a:solidFill>
                  <a:srgbClr val="3E3E3E"/>
                </a:solidFill>
                <a:latin typeface="Calibri"/>
                <a:cs typeface="Calibri"/>
              </a:rPr>
              <a:t>)</a:t>
            </a:r>
            <a:r>
              <a:rPr lang="ru-RU" sz="3200" spc="-20" dirty="0" smtClean="0">
                <a:solidFill>
                  <a:srgbClr val="3E3E3E"/>
                </a:solidFill>
                <a:latin typeface="Calibri"/>
                <a:cs typeface="Calibri"/>
              </a:rPr>
              <a:t>, печатные списки поправок от самих лексикографов не внедрены</a:t>
            </a:r>
            <a:r>
              <a:rPr sz="3200" spc="-20" dirty="0" smtClean="0">
                <a:solidFill>
                  <a:srgbClr val="3E3E3E"/>
                </a:solidFill>
                <a:latin typeface="Calibri"/>
                <a:cs typeface="Calibri"/>
              </a:rPr>
              <a:t>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5</a:t>
            </a:r>
            <a:r>
              <a:rPr sz="4400" spc="-35" dirty="0"/>
              <a:t> </a:t>
            </a:r>
            <a:r>
              <a:rPr lang="ru-RU" sz="4400" spc="-10" dirty="0" smtClean="0"/>
              <a:t>санскритско-русских словарей</a:t>
            </a:r>
            <a:endParaRPr sz="44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20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66163"/>
            <a:ext cx="6976745" cy="407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900" b="1" dirty="0">
                <a:solidFill>
                  <a:srgbClr val="3E3E3E"/>
                </a:solidFill>
                <a:latin typeface="Calibri"/>
                <a:cs typeface="Calibri"/>
              </a:rPr>
              <a:t>К.А.</a:t>
            </a:r>
            <a:r>
              <a:rPr sz="1900" b="1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3E3E3E"/>
                </a:solidFill>
                <a:latin typeface="Calibri"/>
                <a:cs typeface="Calibri"/>
              </a:rPr>
              <a:t>Коссович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.</a:t>
            </a:r>
            <a:r>
              <a:rPr sz="1900" spc="-25" dirty="0">
                <a:solidFill>
                  <a:srgbClr val="3E3E3E"/>
                </a:solidFill>
                <a:latin typeface="Calibri"/>
                <a:cs typeface="Calibri"/>
              </a:rPr>
              <a:t> Санскрито-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русский</a:t>
            </a:r>
            <a:r>
              <a:rPr sz="19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словарь</a:t>
            </a:r>
            <a:r>
              <a:rPr sz="19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(1854)</a:t>
            </a:r>
            <a:endParaRPr sz="19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900" spc="-20" dirty="0">
                <a:solidFill>
                  <a:srgbClr val="3E3E3E"/>
                </a:solidFill>
                <a:latin typeface="Calibri"/>
                <a:cs typeface="Calibri"/>
              </a:rPr>
              <a:t>https://samskrtam.ru/sanskrit-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lexicon/kossowich/</a:t>
            </a:r>
            <a:endParaRPr sz="1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3E3E3E"/>
              </a:buClr>
              <a:buFont typeface="Arial"/>
              <a:buChar char="•"/>
            </a:pPr>
            <a:endParaRPr sz="18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900" b="1" dirty="0">
                <a:solidFill>
                  <a:srgbClr val="3E3E3E"/>
                </a:solidFill>
                <a:latin typeface="Calibri"/>
                <a:cs typeface="Calibri"/>
              </a:rPr>
              <a:t>Д.Н.</a:t>
            </a:r>
            <a:r>
              <a:rPr sz="19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b="1" spc="-20" dirty="0">
                <a:solidFill>
                  <a:srgbClr val="3E3E3E"/>
                </a:solidFill>
                <a:latin typeface="Calibri"/>
                <a:cs typeface="Calibri"/>
              </a:rPr>
              <a:t>Кудрявский</a:t>
            </a:r>
            <a:r>
              <a:rPr sz="1900" spc="-20" dirty="0">
                <a:solidFill>
                  <a:srgbClr val="3E3E3E"/>
                </a:solidFill>
                <a:latin typeface="Calibri"/>
                <a:cs typeface="Calibri"/>
              </a:rPr>
              <a:t>.</a:t>
            </a:r>
            <a:r>
              <a:rPr sz="1900" spc="-1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3E3E3E"/>
                </a:solidFill>
                <a:latin typeface="Calibri"/>
                <a:cs typeface="Calibri"/>
              </a:rPr>
              <a:t>Санскрито-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русский</a:t>
            </a:r>
            <a:r>
              <a:rPr sz="1900" spc="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словарь</a:t>
            </a:r>
            <a:r>
              <a:rPr sz="19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(1903)</a:t>
            </a:r>
            <a:endParaRPr sz="19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900" spc="-20" dirty="0">
                <a:solidFill>
                  <a:srgbClr val="3E3E3E"/>
                </a:solidFill>
                <a:latin typeface="Calibri"/>
                <a:cs typeface="Calibri"/>
              </a:rPr>
              <a:t>https://samskrtam.ru/sanskrit-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lexicon/kudriavskiy/</a:t>
            </a:r>
            <a:endParaRPr sz="1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3E3E3E"/>
              </a:buClr>
              <a:buFont typeface="Arial"/>
              <a:buChar char="•"/>
            </a:pPr>
            <a:endParaRPr sz="18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900" b="1" spc="-20" dirty="0">
                <a:solidFill>
                  <a:srgbClr val="3E3E3E"/>
                </a:solidFill>
                <a:latin typeface="Calibri"/>
                <a:cs typeface="Calibri"/>
              </a:rPr>
              <a:t>Ф.И.</a:t>
            </a:r>
            <a:r>
              <a:rPr sz="1900" b="1" spc="-7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3E3E3E"/>
                </a:solidFill>
                <a:latin typeface="Calibri"/>
                <a:cs typeface="Calibri"/>
              </a:rPr>
              <a:t>Кнауэр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.</a:t>
            </a:r>
            <a:r>
              <a:rPr sz="1900" spc="-7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Словарь</a:t>
            </a:r>
            <a:r>
              <a:rPr sz="1900" spc="-7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из</a:t>
            </a:r>
            <a:r>
              <a:rPr sz="1900" spc="-8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«Учебника</a:t>
            </a:r>
            <a:r>
              <a:rPr sz="19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санскритского</a:t>
            </a:r>
            <a:r>
              <a:rPr sz="19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языка»</a:t>
            </a:r>
            <a:r>
              <a:rPr sz="1900" spc="-7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(1908)</a:t>
            </a:r>
            <a:endParaRPr sz="19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900" spc="-20" dirty="0">
                <a:solidFill>
                  <a:srgbClr val="3E3E3E"/>
                </a:solidFill>
                <a:latin typeface="Calibri"/>
                <a:cs typeface="Calibri"/>
              </a:rPr>
              <a:t>https://samskrtam.ru/sanskrit-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lexicon/small/knauer_sm.html</a:t>
            </a:r>
            <a:endParaRPr sz="1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3E3E3E"/>
              </a:buClr>
              <a:buFont typeface="Arial"/>
              <a:buChar char="•"/>
            </a:pPr>
            <a:endParaRPr sz="18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900" b="1" dirty="0">
                <a:solidFill>
                  <a:srgbClr val="3E3E3E"/>
                </a:solidFill>
                <a:latin typeface="Calibri"/>
                <a:cs typeface="Calibri"/>
              </a:rPr>
              <a:t>О.</a:t>
            </a:r>
            <a:r>
              <a:rPr sz="1900" b="1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3E3E3E"/>
                </a:solidFill>
                <a:latin typeface="Calibri"/>
                <a:cs typeface="Calibri"/>
              </a:rPr>
              <a:t>Фриш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.</a:t>
            </a:r>
            <a:r>
              <a:rPr sz="19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Санскритская</a:t>
            </a:r>
            <a:r>
              <a:rPr sz="19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хрестоматия.</a:t>
            </a:r>
            <a:r>
              <a:rPr sz="19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spc="-50" dirty="0">
                <a:solidFill>
                  <a:srgbClr val="3E3E3E"/>
                </a:solidFill>
                <a:latin typeface="Calibri"/>
                <a:cs typeface="Calibri"/>
              </a:rPr>
              <a:t>Т. 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II.</a:t>
            </a:r>
            <a:r>
              <a:rPr sz="1900" spc="-7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Словарь</a:t>
            </a:r>
            <a:r>
              <a:rPr sz="19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(1956)</a:t>
            </a:r>
            <a:endParaRPr sz="19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900" spc="-20" dirty="0">
                <a:solidFill>
                  <a:srgbClr val="3E3E3E"/>
                </a:solidFill>
                <a:latin typeface="Calibri"/>
                <a:cs typeface="Calibri"/>
              </a:rPr>
              <a:t>https://samskrtam.ru/sanskrit-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lexicon/small/frish_sm.html</a:t>
            </a:r>
            <a:endParaRPr sz="1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3E3E3E"/>
              </a:buClr>
              <a:buFont typeface="Arial"/>
              <a:buChar char="•"/>
            </a:pPr>
            <a:endParaRPr sz="18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900" b="1" dirty="0">
                <a:solidFill>
                  <a:srgbClr val="3E3E3E"/>
                </a:solidFill>
                <a:latin typeface="Calibri"/>
                <a:cs typeface="Calibri"/>
              </a:rPr>
              <a:t>В.А.</a:t>
            </a:r>
            <a:r>
              <a:rPr sz="1900" b="1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3E3E3E"/>
                </a:solidFill>
                <a:latin typeface="Calibri"/>
                <a:cs typeface="Calibri"/>
              </a:rPr>
              <a:t>Кочергина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.</a:t>
            </a:r>
            <a:r>
              <a:rPr sz="19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3E3E3E"/>
                </a:solidFill>
                <a:latin typeface="Calibri"/>
                <a:cs typeface="Calibri"/>
              </a:rPr>
              <a:t>Санскритско-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русский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E3E3E"/>
                </a:solidFill>
                <a:latin typeface="Calibri"/>
                <a:cs typeface="Calibri"/>
              </a:rPr>
              <a:t>словарь</a:t>
            </a:r>
            <a:r>
              <a:rPr sz="19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(1987)</a:t>
            </a:r>
            <a:endParaRPr sz="19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900" spc="-20" dirty="0">
                <a:solidFill>
                  <a:srgbClr val="3E3E3E"/>
                </a:solidFill>
                <a:latin typeface="Calibri"/>
                <a:cs typeface="Calibri"/>
              </a:rPr>
              <a:t>https://samskrtam.ru/sanskrit-</a:t>
            </a:r>
            <a:r>
              <a:rPr sz="1900" spc="-10" dirty="0">
                <a:solidFill>
                  <a:srgbClr val="3E3E3E"/>
                </a:solidFill>
                <a:latin typeface="Calibri"/>
                <a:cs typeface="Calibri"/>
              </a:rPr>
              <a:t>lexicon/small/kochergina_sm.html</a:t>
            </a:r>
            <a:endParaRPr sz="1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483" y="461581"/>
            <a:ext cx="802005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1690" algn="l">
              <a:lnSpc>
                <a:spcPct val="100000"/>
              </a:lnSpc>
              <a:spcBef>
                <a:spcPts val="105"/>
              </a:spcBef>
            </a:pPr>
            <a:r>
              <a:rPr lang="ru-RU" dirty="0" smtClean="0"/>
              <a:t>К.А. </a:t>
            </a:r>
            <a:r>
              <a:rPr lang="ru-RU" dirty="0" smtClean="0"/>
              <a:t>Коссович</a:t>
            </a:r>
            <a:r>
              <a:rPr lang="ru-RU" dirty="0" smtClean="0"/>
              <a:t> </a:t>
            </a:r>
            <a:r>
              <a:rPr lang="ru-RU" dirty="0" smtClean="0"/>
              <a:t>(1854), частично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402266" y="6425628"/>
            <a:ext cx="4169733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</a:t>
            </a:r>
            <a:r>
              <a:rPr sz="1200" spc="-10" dirty="0" smtClean="0">
                <a:solidFill>
                  <a:srgbClr val="8A8A8A"/>
                </a:solidFill>
                <a:latin typeface="Calibri"/>
                <a:cs typeface="Calibri"/>
              </a:rPr>
              <a:t>://</a:t>
            </a:r>
            <a:r>
              <a:rPr lang="en-US"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samskrtam.ru/sanskrit-lexicon/kossowich/  2020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5459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Рисунок 5" descr="уцкуукццук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1524000"/>
            <a:ext cx="7848600" cy="34453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483" y="461581"/>
            <a:ext cx="802005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105"/>
              </a:spcBef>
            </a:pPr>
            <a:r>
              <a:rPr lang="ru-RU" dirty="0" smtClean="0"/>
              <a:t>К.А. </a:t>
            </a:r>
            <a:r>
              <a:rPr lang="ru-RU" dirty="0" smtClean="0"/>
              <a:t>Коссович</a:t>
            </a:r>
            <a:r>
              <a:rPr lang="ru-RU" dirty="0" smtClean="0"/>
              <a:t> </a:t>
            </a:r>
            <a:r>
              <a:rPr lang="ru-RU" dirty="0" smtClean="0"/>
              <a:t>(1854), полностью</a:t>
            </a:r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163" y="1489804"/>
            <a:ext cx="6944110" cy="41489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266" y="6425628"/>
            <a:ext cx="4169733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</a:t>
            </a:r>
            <a:r>
              <a:rPr sz="1200" spc="-10" dirty="0" smtClean="0">
                <a:solidFill>
                  <a:srgbClr val="8A8A8A"/>
                </a:solidFill>
                <a:latin typeface="Calibri"/>
                <a:cs typeface="Calibri"/>
              </a:rPr>
              <a:t>://</a:t>
            </a:r>
            <a:r>
              <a:rPr lang="en-US"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samskrtam.ru/sanskrit-lexicon/kossowich/ocr.html  2024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5459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58ED5">
              <a:alpha val="9882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2209800"/>
            <a:ext cx="8382000" cy="20447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021080" algn="ctr">
              <a:lnSpc>
                <a:spcPct val="100000"/>
              </a:lnSpc>
              <a:spcBef>
                <a:spcPts val="105"/>
              </a:spcBef>
            </a:pPr>
            <a:r>
              <a:rPr lang="ru-RU" sz="4400" spc="-10" dirty="0" smtClean="0">
                <a:solidFill>
                  <a:srgbClr val="FFFFFF"/>
                </a:solidFill>
                <a:latin typeface="Arial"/>
                <a:cs typeface="Arial"/>
              </a:rPr>
              <a:t>Сотрудничество </a:t>
            </a:r>
            <a:r>
              <a:rPr lang="ru-RU" sz="4400" spc="-10" dirty="0" smtClean="0">
                <a:solidFill>
                  <a:srgbClr val="FFFFFF"/>
                </a:solidFill>
                <a:latin typeface="Arial"/>
                <a:cs typeface="Arial"/>
              </a:rPr>
              <a:t>добро-вольцев (</a:t>
            </a:r>
            <a:r>
              <a:rPr lang="en-US" sz="4400" spc="-10" dirty="0" smtClean="0">
                <a:solidFill>
                  <a:srgbClr val="FFFFFF"/>
                </a:solidFill>
                <a:latin typeface="Arial"/>
                <a:cs typeface="Arial"/>
              </a:rPr>
              <a:t>crowdsourcing)</a:t>
            </a:r>
            <a:r>
              <a:rPr lang="ru-RU" sz="4400" spc="-10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br>
              <a:rPr lang="ru-RU" sz="4400" spc="-10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ru-RU" sz="4400" spc="-10" dirty="0" smtClean="0">
                <a:solidFill>
                  <a:srgbClr val="FFFFFF"/>
                </a:solidFill>
                <a:latin typeface="Arial"/>
                <a:cs typeface="Arial"/>
              </a:rPr>
              <a:t>и роботов (</a:t>
            </a:r>
            <a:r>
              <a:rPr lang="en-US" sz="4400" spc="-10" dirty="0" smtClean="0">
                <a:solidFill>
                  <a:srgbClr val="FFFFFF"/>
                </a:solidFill>
                <a:latin typeface="Arial"/>
                <a:cs typeface="Arial"/>
              </a:rPr>
              <a:t>GPT, </a:t>
            </a:r>
            <a:r>
              <a:rPr lang="ru-RU" sz="4400" spc="-10" dirty="0" smtClean="0">
                <a:solidFill>
                  <a:srgbClr val="FFFFFF"/>
                </a:solidFill>
                <a:latin typeface="Arial"/>
                <a:cs typeface="Arial"/>
              </a:rPr>
              <a:t>или гопоты)</a:t>
            </a:r>
            <a:endParaRPr sz="4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322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The</a:t>
            </a:r>
            <a:r>
              <a:rPr sz="4400" spc="-65" dirty="0"/>
              <a:t> </a:t>
            </a:r>
            <a:r>
              <a:rPr sz="4400" dirty="0"/>
              <a:t>Professor</a:t>
            </a:r>
            <a:r>
              <a:rPr sz="4400" spc="-70" dirty="0"/>
              <a:t> </a:t>
            </a:r>
            <a:r>
              <a:rPr sz="4400" dirty="0"/>
              <a:t>and</a:t>
            </a:r>
            <a:r>
              <a:rPr sz="4400" spc="-40" dirty="0"/>
              <a:t> </a:t>
            </a:r>
            <a:r>
              <a:rPr sz="4400" dirty="0"/>
              <a:t>the</a:t>
            </a:r>
            <a:r>
              <a:rPr sz="4400" spc="-40" dirty="0"/>
              <a:t> </a:t>
            </a:r>
            <a:r>
              <a:rPr sz="4400" spc="-10" dirty="0"/>
              <a:t>Madman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427651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18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" y="1371600"/>
            <a:ext cx="8046719" cy="452627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58ED5">
              <a:alpha val="9882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438400" y="1706393"/>
            <a:ext cx="4724400" cy="33990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52729">
              <a:lnSpc>
                <a:spcPct val="100000"/>
              </a:lnSpc>
              <a:spcBef>
                <a:spcPts val="105"/>
              </a:spcBef>
            </a:pPr>
            <a:r>
              <a:rPr lang="ru-RU" sz="4400" dirty="0" smtClean="0">
                <a:solidFill>
                  <a:srgbClr val="FFFFFF"/>
                </a:solidFill>
                <a:latin typeface="Arial"/>
                <a:cs typeface="Arial"/>
              </a:rPr>
              <a:t>Постоянный семинар по санскритской компьютерной лингвистике</a:t>
            </a:r>
            <a:endParaRPr sz="4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483" y="461581"/>
            <a:ext cx="802005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6390">
              <a:lnSpc>
                <a:spcPct val="100000"/>
              </a:lnSpc>
              <a:spcBef>
                <a:spcPts val="95"/>
              </a:spcBef>
            </a:pPr>
            <a:r>
              <a:rPr lang="ru-RU" spc="-25" dirty="0" smtClean="0"/>
              <a:t>Санскритский поисковик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1371600"/>
            <a:ext cx="7782068" cy="44682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267" y="6463728"/>
            <a:ext cx="23291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samskrtam.ru/parallel-corpus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25" dirty="0"/>
              <a:pPr marL="25400">
                <a:lnSpc>
                  <a:spcPts val="1240"/>
                </a:lnSpc>
              </a:pPr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483" y="461581"/>
            <a:ext cx="802005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6390">
              <a:lnSpc>
                <a:spcPct val="100000"/>
              </a:lnSpc>
              <a:spcBef>
                <a:spcPts val="95"/>
              </a:spcBef>
            </a:pPr>
            <a:r>
              <a:rPr lang="ru-RU" spc="-25" dirty="0" smtClean="0"/>
              <a:t>Результаты «Пахтания океана»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402267" y="6463728"/>
            <a:ext cx="23291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samskrtam.ru/parallel-corpus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25" dirty="0"/>
              <a:pPr marL="25400">
                <a:lnSpc>
                  <a:spcPts val="1240"/>
                </a:lnSpc>
              </a:pPr>
              <a:t>27</a:t>
            </a:fld>
            <a:endParaRPr spc="-25" dirty="0"/>
          </a:p>
        </p:txBody>
      </p:sp>
      <p:pic>
        <p:nvPicPr>
          <p:cNvPr id="6" name="Рисунок 5" descr="выыаывыв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" y="1219200"/>
            <a:ext cx="6781800" cy="459234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483" y="461581"/>
            <a:ext cx="802005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6390">
              <a:lnSpc>
                <a:spcPct val="100000"/>
              </a:lnSpc>
              <a:spcBef>
                <a:spcPts val="95"/>
              </a:spcBef>
            </a:pPr>
            <a:r>
              <a:rPr lang="ru-RU" spc="-25" dirty="0" smtClean="0"/>
              <a:t>Результаты «Пахтания океана»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402267" y="6463728"/>
            <a:ext cx="23291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samskrtam.ru/parallel-corpus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25" dirty="0"/>
              <a:pPr marL="25400">
                <a:lnSpc>
                  <a:spcPts val="1240"/>
                </a:lnSpc>
              </a:pPr>
              <a:t>28</a:t>
            </a:fld>
            <a:endParaRPr spc="-25" dirty="0"/>
          </a:p>
        </p:txBody>
      </p:sp>
      <p:pic>
        <p:nvPicPr>
          <p:cNvPr id="7" name="Рисунок 6" descr="вфввыывф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4400" y="1219200"/>
            <a:ext cx="7086600" cy="469966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105"/>
              </a:spcBef>
            </a:pPr>
            <a:r>
              <a:rPr lang="ru-RU" sz="4400" dirty="0" smtClean="0"/>
              <a:t>Оффлайн оболочка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402266" y="6425629"/>
            <a:ext cx="4017333" cy="2037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samskrtam.ru/</a:t>
            </a:r>
            <a:r>
              <a:rPr lang="en-US"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saudamani-win/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5459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Изображение1"/>
          <p:cNvPicPr/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143000" y="1295400"/>
            <a:ext cx="7010400" cy="437922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105"/>
              </a:spcBef>
            </a:pPr>
            <a:r>
              <a:rPr lang="en-US" sz="4400" dirty="0" smtClean="0"/>
              <a:t>120 000 </a:t>
            </a:r>
            <a:r>
              <a:rPr lang="ru-RU" sz="4400" dirty="0" smtClean="0"/>
              <a:t>строк кода, 90 мод.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402266" y="6425629"/>
            <a:ext cx="4017333" cy="2037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samskrtam.ru/</a:t>
            </a:r>
            <a:r>
              <a:rPr lang="en-US"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saudamani-win/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5459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" name="Изображение2"/>
          <p:cNvPicPr/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066799" y="1295400"/>
            <a:ext cx="7382821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105"/>
              </a:spcBef>
            </a:pPr>
            <a:r>
              <a:rPr lang="ru-RU" sz="4400" dirty="0" smtClean="0"/>
              <a:t>Санскрит по Зализняку</a:t>
            </a:r>
            <a:r>
              <a:rPr lang="en-US" sz="4400" dirty="0" smtClean="0"/>
              <a:t> </a:t>
            </a:r>
            <a:r>
              <a:rPr lang="en-US" sz="4400" b="0" dirty="0" smtClean="0"/>
              <a:t>(1/7)</a:t>
            </a:r>
            <a:endParaRPr sz="4400" b="0" dirty="0"/>
          </a:p>
        </p:txBody>
      </p:sp>
      <p:sp>
        <p:nvSpPr>
          <p:cNvPr id="4" name="object 4"/>
          <p:cNvSpPr txBox="1"/>
          <p:nvPr/>
        </p:nvSpPr>
        <p:spPr>
          <a:xfrm>
            <a:off x="402266" y="6425629"/>
            <a:ext cx="4017333" cy="2037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samskrtam.ru/</a:t>
            </a:r>
            <a:r>
              <a:rPr lang="en-US" sz="1200" spc="-10" dirty="0">
                <a:solidFill>
                  <a:srgbClr val="FFC000"/>
                </a:solidFill>
                <a:latin typeface="Calibri"/>
                <a:cs typeface="Calibri"/>
              </a:rPr>
              <a:t>z</a:t>
            </a:r>
            <a:r>
              <a:rPr lang="en-US"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/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5459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Рисунок 5" descr="авыыаавыыав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4400" y="1524000"/>
            <a:ext cx="6858000" cy="365594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105"/>
              </a:spcBef>
            </a:pPr>
            <a:r>
              <a:rPr lang="ru-RU" sz="4400" dirty="0" smtClean="0"/>
              <a:t>Санскрит по Зализняку</a:t>
            </a:r>
            <a:r>
              <a:rPr lang="en-US" sz="4400" dirty="0" smtClean="0"/>
              <a:t> </a:t>
            </a:r>
            <a:r>
              <a:rPr lang="en-US" sz="4400" b="0" dirty="0" smtClean="0"/>
              <a:t>(2/7)</a:t>
            </a:r>
            <a:endParaRPr sz="4400" b="0" dirty="0"/>
          </a:p>
        </p:txBody>
      </p:sp>
      <p:sp>
        <p:nvSpPr>
          <p:cNvPr id="4" name="object 4"/>
          <p:cNvSpPr txBox="1"/>
          <p:nvPr/>
        </p:nvSpPr>
        <p:spPr>
          <a:xfrm>
            <a:off x="402266" y="6425629"/>
            <a:ext cx="4017333" cy="2037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samskrtam.ru/</a:t>
            </a:r>
            <a:r>
              <a:rPr lang="en-US" sz="1200" spc="-10" dirty="0">
                <a:solidFill>
                  <a:srgbClr val="FFC000"/>
                </a:solidFill>
                <a:latin typeface="Calibri"/>
                <a:cs typeface="Calibri"/>
              </a:rPr>
              <a:t>z</a:t>
            </a:r>
            <a:r>
              <a:rPr lang="en-US"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/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5459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" name="Рисунок 6" descr="fdsfdssdsfd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0600" y="1371600"/>
            <a:ext cx="7467600" cy="44557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105"/>
              </a:spcBef>
            </a:pPr>
            <a:r>
              <a:rPr lang="ru-RU" sz="4400" dirty="0" smtClean="0"/>
              <a:t>Санскрит по Зализняку</a:t>
            </a:r>
            <a:r>
              <a:rPr lang="en-US" sz="4400" dirty="0" smtClean="0"/>
              <a:t> </a:t>
            </a:r>
            <a:r>
              <a:rPr lang="en-US" sz="4400" b="0" dirty="0" smtClean="0"/>
              <a:t>(</a:t>
            </a:r>
            <a:r>
              <a:rPr lang="ru-RU" sz="4400" b="0" dirty="0" smtClean="0"/>
              <a:t>3</a:t>
            </a:r>
            <a:r>
              <a:rPr lang="en-US" sz="4400" b="0" dirty="0" smtClean="0"/>
              <a:t>/7)</a:t>
            </a:r>
            <a:endParaRPr sz="4400" b="0" dirty="0"/>
          </a:p>
        </p:txBody>
      </p:sp>
      <p:sp>
        <p:nvSpPr>
          <p:cNvPr id="4" name="object 4"/>
          <p:cNvSpPr txBox="1"/>
          <p:nvPr/>
        </p:nvSpPr>
        <p:spPr>
          <a:xfrm>
            <a:off x="402266" y="6425629"/>
            <a:ext cx="744633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samskrtam.ru/</a:t>
            </a:r>
            <a:r>
              <a:rPr lang="en-US" sz="1200" spc="-10" dirty="0">
                <a:solidFill>
                  <a:srgbClr val="FFC000"/>
                </a:solidFill>
                <a:latin typeface="Calibri"/>
                <a:cs typeface="Calibri"/>
              </a:rPr>
              <a:t>z</a:t>
            </a:r>
            <a:r>
              <a:rPr lang="en-US"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/</a:t>
            </a:r>
            <a:r>
              <a:rPr lang="ru-RU"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  Из 3 слов: 69 секунд; из 4 слов: 105 секунд; из 5 слов: 132 секунд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5459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Рисунок 5" descr="ваыававыавыавы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2000" y="1600200"/>
            <a:ext cx="7400123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105"/>
              </a:spcBef>
            </a:pPr>
            <a:r>
              <a:rPr lang="ru-RU" sz="4400" dirty="0" smtClean="0"/>
              <a:t>Санскрит по Зализняку</a:t>
            </a:r>
            <a:r>
              <a:rPr lang="en-US" sz="4400" dirty="0" smtClean="0"/>
              <a:t> </a:t>
            </a:r>
            <a:r>
              <a:rPr lang="en-US" sz="4400" b="0" dirty="0" smtClean="0"/>
              <a:t>(</a:t>
            </a:r>
            <a:r>
              <a:rPr lang="ru-RU" sz="4400" b="0" dirty="0" smtClean="0"/>
              <a:t>4</a:t>
            </a:r>
            <a:r>
              <a:rPr lang="en-US" sz="4400" b="0" dirty="0" smtClean="0"/>
              <a:t>/</a:t>
            </a:r>
            <a:r>
              <a:rPr lang="en-US" sz="4400" b="0" dirty="0" smtClean="0"/>
              <a:t>7</a:t>
            </a:r>
            <a:r>
              <a:rPr lang="en-US" sz="4400" b="0" dirty="0" smtClean="0"/>
              <a:t>)</a:t>
            </a:r>
            <a:endParaRPr sz="4400" b="0" dirty="0"/>
          </a:p>
        </p:txBody>
      </p:sp>
      <p:sp>
        <p:nvSpPr>
          <p:cNvPr id="4" name="object 4"/>
          <p:cNvSpPr txBox="1"/>
          <p:nvPr/>
        </p:nvSpPr>
        <p:spPr>
          <a:xfrm>
            <a:off x="402266" y="6425629"/>
            <a:ext cx="744633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samskrtam.ru/</a:t>
            </a:r>
            <a:r>
              <a:rPr lang="en-US" sz="1200" spc="-10" dirty="0">
                <a:solidFill>
                  <a:srgbClr val="FFC000"/>
                </a:solidFill>
                <a:latin typeface="Calibri"/>
                <a:cs typeface="Calibri"/>
              </a:rPr>
              <a:t>z</a:t>
            </a:r>
            <a:r>
              <a:rPr lang="en-US"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/</a:t>
            </a:r>
            <a:r>
              <a:rPr lang="ru-RU"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  Из 3 слов: 69 секунд; из 4 слов: 105 секунд; из 5 слов: 132 секунд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5459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Рисунок 5" descr="ваыававыавыавы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2000" y="1600200"/>
            <a:ext cx="7400123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105"/>
              </a:spcBef>
            </a:pPr>
            <a:r>
              <a:rPr lang="ru-RU" sz="4400" dirty="0" smtClean="0"/>
              <a:t>Санскрит по Зализняку</a:t>
            </a:r>
            <a:r>
              <a:rPr lang="en-US" sz="4400" dirty="0" smtClean="0"/>
              <a:t> </a:t>
            </a:r>
            <a:r>
              <a:rPr lang="en-US" sz="4400" b="0" dirty="0" smtClean="0"/>
              <a:t>(</a:t>
            </a:r>
            <a:r>
              <a:rPr lang="ru-RU" sz="4400" b="0" dirty="0" smtClean="0"/>
              <a:t>5</a:t>
            </a:r>
            <a:r>
              <a:rPr lang="en-US" sz="4400" b="0" dirty="0" smtClean="0"/>
              <a:t>/</a:t>
            </a:r>
            <a:r>
              <a:rPr lang="en-US" sz="4400" b="0" dirty="0" smtClean="0"/>
              <a:t>7</a:t>
            </a:r>
            <a:r>
              <a:rPr lang="en-US" sz="4400" b="0" dirty="0" smtClean="0"/>
              <a:t>)</a:t>
            </a:r>
            <a:endParaRPr sz="4400" b="0" dirty="0"/>
          </a:p>
        </p:txBody>
      </p:sp>
      <p:sp>
        <p:nvSpPr>
          <p:cNvPr id="4" name="object 4"/>
          <p:cNvSpPr txBox="1"/>
          <p:nvPr/>
        </p:nvSpPr>
        <p:spPr>
          <a:xfrm>
            <a:off x="402266" y="6425629"/>
            <a:ext cx="744633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samskrtam.ru/</a:t>
            </a:r>
            <a:r>
              <a:rPr lang="en-US" sz="1200" spc="-10" dirty="0">
                <a:solidFill>
                  <a:srgbClr val="FFC000"/>
                </a:solidFill>
                <a:latin typeface="Calibri"/>
                <a:cs typeface="Calibri"/>
              </a:rPr>
              <a:t>z</a:t>
            </a:r>
            <a:r>
              <a:rPr lang="en-US"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/</a:t>
            </a:r>
            <a:r>
              <a:rPr lang="ru-RU"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  Из 3 слов: 69 секунд; из 4 слов: 105 секунд; из 5 слов: 132 секунд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5459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" name="Рисунок 6" descr="авававвввв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0600" y="1371600"/>
            <a:ext cx="7391400" cy="414608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105"/>
              </a:spcBef>
            </a:pPr>
            <a:r>
              <a:rPr lang="ru-RU" sz="4400" dirty="0" smtClean="0"/>
              <a:t>Санскрит по Зализняку</a:t>
            </a:r>
            <a:r>
              <a:rPr lang="en-US" sz="4400" dirty="0" smtClean="0"/>
              <a:t> </a:t>
            </a:r>
            <a:r>
              <a:rPr lang="en-US" sz="4400" b="0" dirty="0" smtClean="0"/>
              <a:t>(6/</a:t>
            </a:r>
            <a:r>
              <a:rPr lang="en-US" sz="4400" b="0" dirty="0" smtClean="0"/>
              <a:t>7</a:t>
            </a:r>
            <a:r>
              <a:rPr lang="en-US" sz="4400" b="0" dirty="0" smtClean="0"/>
              <a:t>)</a:t>
            </a:r>
            <a:endParaRPr sz="4400" b="0" dirty="0"/>
          </a:p>
        </p:txBody>
      </p:sp>
      <p:sp>
        <p:nvSpPr>
          <p:cNvPr id="4" name="object 4"/>
          <p:cNvSpPr txBox="1"/>
          <p:nvPr/>
        </p:nvSpPr>
        <p:spPr>
          <a:xfrm>
            <a:off x="402266" y="6425629"/>
            <a:ext cx="744633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samskrtam.ru/</a:t>
            </a:r>
            <a:r>
              <a:rPr lang="en-US" sz="1200" spc="-10" dirty="0">
                <a:solidFill>
                  <a:srgbClr val="FFC000"/>
                </a:solidFill>
                <a:latin typeface="Calibri"/>
                <a:cs typeface="Calibri"/>
              </a:rPr>
              <a:t>z</a:t>
            </a:r>
            <a:r>
              <a:rPr lang="en-US"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/</a:t>
            </a:r>
            <a:r>
              <a:rPr lang="ru-RU"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  Из 3 слов: 69 секунд; из 4 слов: 105 секунд; из 5 слов: 132 секунд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5459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Рисунок 5" descr="ввывыфывывф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1219200"/>
            <a:ext cx="6620480" cy="47143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105"/>
              </a:spcBef>
            </a:pPr>
            <a:r>
              <a:rPr lang="ru-RU" sz="4400" dirty="0" smtClean="0"/>
              <a:t>Санскрит по Зализняку</a:t>
            </a:r>
            <a:r>
              <a:rPr lang="en-US" sz="4400" dirty="0" smtClean="0"/>
              <a:t> </a:t>
            </a:r>
            <a:r>
              <a:rPr lang="en-US" sz="4400" b="0" dirty="0" smtClean="0"/>
              <a:t>(7/</a:t>
            </a:r>
            <a:r>
              <a:rPr lang="en-US" sz="4400" b="0" dirty="0" smtClean="0"/>
              <a:t>7</a:t>
            </a:r>
            <a:r>
              <a:rPr lang="en-US" sz="4400" b="0" dirty="0" smtClean="0"/>
              <a:t>)</a:t>
            </a:r>
            <a:endParaRPr sz="4400" b="0" dirty="0"/>
          </a:p>
        </p:txBody>
      </p:sp>
      <p:sp>
        <p:nvSpPr>
          <p:cNvPr id="4" name="object 4"/>
          <p:cNvSpPr txBox="1"/>
          <p:nvPr/>
        </p:nvSpPr>
        <p:spPr>
          <a:xfrm>
            <a:off x="402266" y="6425629"/>
            <a:ext cx="744633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samskrtam.ru/</a:t>
            </a:r>
            <a:r>
              <a:rPr lang="en-US" sz="1200" spc="-10" dirty="0">
                <a:solidFill>
                  <a:srgbClr val="FFC000"/>
                </a:solidFill>
                <a:latin typeface="Calibri"/>
                <a:cs typeface="Calibri"/>
              </a:rPr>
              <a:t>z</a:t>
            </a:r>
            <a:r>
              <a:rPr lang="en-US"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/</a:t>
            </a:r>
            <a:r>
              <a:rPr lang="ru-RU" sz="1200" spc="-10" dirty="0" smtClean="0">
                <a:solidFill>
                  <a:srgbClr val="FFC000"/>
                </a:solidFill>
                <a:latin typeface="Calibri"/>
                <a:cs typeface="Calibri"/>
              </a:rPr>
              <a:t>  Из 3 слов: 69 секунд; из 4 слов: 105 секунд; из 5 слов: 132 секунд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5459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" name="Рисунок 6" descr="fsdfdfdsfdssf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2000" y="1447800"/>
            <a:ext cx="8153400" cy="428141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58ED5">
              <a:alpha val="9882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255646" y="2166937"/>
            <a:ext cx="4907153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52729">
              <a:lnSpc>
                <a:spcPct val="100000"/>
              </a:lnSpc>
              <a:spcBef>
                <a:spcPts val="105"/>
              </a:spcBef>
            </a:pPr>
            <a:r>
              <a:rPr lang="ru-RU" sz="4400" dirty="0" smtClean="0">
                <a:solidFill>
                  <a:srgbClr val="FFFFFF"/>
                </a:solidFill>
                <a:latin typeface="Arial"/>
                <a:cs typeface="Arial"/>
              </a:rPr>
              <a:t>Производные ресурсы сети</a:t>
            </a:r>
            <a:endParaRPr sz="4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482" y="461581"/>
            <a:ext cx="8250359" cy="6965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105"/>
              </a:spcBef>
            </a:pPr>
            <a:r>
              <a:rPr lang="ru-RU" sz="4400" dirty="0" smtClean="0"/>
              <a:t>Производные ресурсы</a:t>
            </a:r>
            <a:r>
              <a:rPr sz="4400" spc="-80" dirty="0" smtClean="0"/>
              <a:t> </a:t>
            </a:r>
            <a:r>
              <a:rPr sz="4400" b="0" spc="-10" dirty="0">
                <a:latin typeface="Calibri"/>
                <a:cs typeface="Calibri"/>
              </a:rPr>
              <a:t>(1/5)</a:t>
            </a:r>
            <a:endParaRPr sz="4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2267" y="6425628"/>
            <a:ext cx="2794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sanskrit-lexicon.uni-koeln.de/simple/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31867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33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607312"/>
            <a:ext cx="7905750" cy="37325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Calibri"/>
                <a:cs typeface="Calibri"/>
                <a:hlinkClick r:id="rId2"/>
              </a:rPr>
              <a:t>http://sanskrit-</a:t>
            </a:r>
            <a:r>
              <a:rPr lang="x-none" sz="3200" spc="-10" dirty="0">
                <a:latin typeface="Calibri"/>
                <a:cs typeface="Calibri"/>
                <a:hlinkClick r:id="rId2"/>
              </a:rPr>
              <a:t> </a:t>
            </a:r>
            <a:r>
              <a:rPr sz="3200" spc="-10" dirty="0">
                <a:latin typeface="Calibri"/>
                <a:cs typeface="Calibri"/>
                <a:hlinkClick r:id="rId2"/>
              </a:rPr>
              <a:t>linguistics.org/dcs/index.php?contents=lemm a&amp;IDWord=88026</a:t>
            </a:r>
            <a:endParaRPr sz="3200" dirty="0">
              <a:latin typeface="Calibri"/>
              <a:cs typeface="Calibri"/>
            </a:endParaRPr>
          </a:p>
          <a:p>
            <a:pPr marL="355600" marR="2414270" indent="-343535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Calibri"/>
                <a:cs typeface="Calibri"/>
                <a:hlinkClick r:id="rId3"/>
              </a:rPr>
              <a:t>https://vedaweb.uni- koeln.de/rigveda/view/index/0</a:t>
            </a:r>
            <a:endParaRPr sz="32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Calibri"/>
                <a:cs typeface="Calibri"/>
                <a:hlinkClick r:id="rId4"/>
              </a:rPr>
              <a:t>https://ambuda.org/texts/ramayanam/6.43</a:t>
            </a:r>
            <a:endParaRPr sz="3200" dirty="0">
              <a:latin typeface="Calibri"/>
              <a:cs typeface="Calibri"/>
            </a:endParaRPr>
          </a:p>
          <a:p>
            <a:pPr marL="356235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235" algn="l"/>
                <a:tab pos="356870" algn="l"/>
              </a:tabLst>
            </a:pPr>
            <a:r>
              <a:rPr sz="3200" spc="-20" dirty="0">
                <a:latin typeface="Calibri"/>
                <a:cs typeface="Calibri"/>
                <a:hlinkClick r:id="rId5"/>
              </a:rPr>
              <a:t>https://nws.uzi.uni-</a:t>
            </a:r>
            <a:r>
              <a:rPr sz="3200" spc="-10" dirty="0">
                <a:latin typeface="Calibri"/>
                <a:cs typeface="Calibri"/>
                <a:hlinkClick r:id="rId5"/>
              </a:rPr>
              <a:t>halle.de/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105"/>
              </a:spcBef>
            </a:pPr>
            <a:r>
              <a:rPr lang="ru-RU" sz="4400" dirty="0" smtClean="0"/>
              <a:t>Производные </a:t>
            </a:r>
            <a:r>
              <a:rPr lang="ru-RU" sz="4400" dirty="0" smtClean="0"/>
              <a:t>ресурсы</a:t>
            </a:r>
            <a:r>
              <a:rPr lang="en-US" sz="4400" spc="-80" dirty="0" smtClean="0"/>
              <a:t>: DCS</a:t>
            </a:r>
            <a:endParaRPr sz="4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2267" y="6425628"/>
            <a:ext cx="49625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sanskrit-linguistics.org/dcs/index.php?contents=lemma&amp;IDWord=88026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31867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34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600200"/>
            <a:ext cx="8229600" cy="4526279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483" y="461581"/>
            <a:ext cx="802005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95"/>
              </a:spcBef>
            </a:pPr>
            <a:r>
              <a:rPr lang="ru-RU" dirty="0" smtClean="0"/>
              <a:t>Упрощенный поиск</a:t>
            </a:r>
            <a:r>
              <a:rPr lang="en-US" dirty="0" smtClean="0"/>
              <a:t> Cologne</a:t>
            </a:r>
            <a:r>
              <a:rPr lang="ru-RU" spc="-80" dirty="0" smtClean="0"/>
              <a:t> </a:t>
            </a:r>
            <a:r>
              <a:rPr lang="ru-RU" b="0" spc="-10" dirty="0" smtClean="0"/>
              <a:t>(1/2)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600200"/>
            <a:ext cx="8229600" cy="45262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267" y="6425628"/>
            <a:ext cx="2794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sanskrit-lexicon.uni-koeln.de/simple/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31867" y="6425628"/>
            <a:ext cx="18097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r>
              <a:rPr lang="ru-RU" sz="1200" b="1" spc="-2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6614439-173F-A4EC-0A53-C9E0B570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1BB751D3-74E7-01FE-B800-273320ED2A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2483" y="461581"/>
            <a:ext cx="802005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95"/>
              </a:spcBef>
            </a:pPr>
            <a:r>
              <a:rPr lang="ru-RU" dirty="0" smtClean="0"/>
              <a:t>Упрощенный поиск</a:t>
            </a:r>
            <a:r>
              <a:rPr lang="en-US" dirty="0" smtClean="0"/>
              <a:t> Cologne</a:t>
            </a:r>
            <a:r>
              <a:rPr lang="ru-RU" spc="-80" dirty="0" smtClean="0"/>
              <a:t> </a:t>
            </a:r>
            <a:r>
              <a:rPr lang="ru-RU" b="0" spc="-10" dirty="0" smtClean="0"/>
              <a:t>(</a:t>
            </a:r>
            <a:r>
              <a:rPr lang="en-US" b="0" spc="-10" dirty="0" smtClean="0"/>
              <a:t>2</a:t>
            </a:r>
            <a:r>
              <a:rPr lang="ru-RU" b="0" spc="-10" dirty="0" smtClean="0"/>
              <a:t>/2</a:t>
            </a:r>
            <a:r>
              <a:rPr lang="ru-RU" b="0" spc="-10" dirty="0" smtClean="0"/>
              <a:t>)</a:t>
            </a:r>
            <a:endParaRPr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xmlns="" id="{AE16306C-E290-3C1D-D703-2B8DF368FF5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>
          <a:xfrm>
            <a:off x="457200" y="1666994"/>
            <a:ext cx="8229600" cy="4392691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xmlns="" id="{5953534C-B857-5956-F356-5A57A67E9C8E}"/>
              </a:ext>
            </a:extLst>
          </p:cNvPr>
          <p:cNvSpPr txBox="1"/>
          <p:nvPr/>
        </p:nvSpPr>
        <p:spPr>
          <a:xfrm>
            <a:off x="402267" y="6425628"/>
            <a:ext cx="2794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sanskrit-lexicon.uni-koeln.de/simple/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xmlns="" id="{39704526-A79F-1CB3-296E-0EB226F28EB1}"/>
              </a:ext>
            </a:extLst>
          </p:cNvPr>
          <p:cNvSpPr txBox="1"/>
          <p:nvPr/>
        </p:nvSpPr>
        <p:spPr>
          <a:xfrm>
            <a:off x="8631867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43</a:t>
            </a:r>
            <a:endParaRPr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871249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58ED5">
              <a:alpha val="9882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57042" y="2502217"/>
            <a:ext cx="362839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ru-RU" sz="4400" dirty="0" smtClean="0">
                <a:solidFill>
                  <a:srgbClr val="FFFFFF"/>
                </a:solidFill>
                <a:latin typeface="Arial"/>
                <a:cs typeface="Arial"/>
              </a:rPr>
              <a:t>Скрытые сокровища</a:t>
            </a:r>
            <a:endParaRPr sz="4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483" y="461581"/>
            <a:ext cx="802005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5425">
              <a:lnSpc>
                <a:spcPct val="100000"/>
              </a:lnSpc>
              <a:spcBef>
                <a:spcPts val="95"/>
              </a:spcBef>
            </a:pPr>
            <a:r>
              <a:rPr lang="ru-RU" dirty="0" smtClean="0"/>
              <a:t>Мало известные ресурсы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85140" y="1610360"/>
            <a:ext cx="8015605" cy="4036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6400" marR="255904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lang="ru-RU" sz="2800" spc="-10" dirty="0" smtClean="0">
                <a:solidFill>
                  <a:srgbClr val="3E3E3E"/>
                </a:solidFill>
                <a:latin typeface="Calibri"/>
                <a:cs typeface="Calibri"/>
              </a:rPr>
              <a:t>Оцифровка </a:t>
            </a:r>
            <a:r>
              <a:rPr sz="2800" dirty="0" smtClean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lang="ru-RU" sz="2775" baseline="25525" dirty="0" smtClean="0">
                <a:solidFill>
                  <a:srgbClr val="3E3E3E"/>
                </a:solidFill>
                <a:latin typeface="Calibri"/>
                <a:cs typeface="Calibri"/>
              </a:rPr>
              <a:t>го</a:t>
            </a:r>
            <a:r>
              <a:rPr sz="2775" spc="209" baseline="25525" dirty="0" smtClean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ru-RU" sz="2800" dirty="0" smtClean="0">
                <a:solidFill>
                  <a:srgbClr val="3E3E3E"/>
                </a:solidFill>
                <a:latin typeface="Calibri"/>
                <a:cs typeface="Calibri"/>
              </a:rPr>
              <a:t>изд.</a:t>
            </a:r>
            <a:r>
              <a:rPr sz="2800" spc="-65" dirty="0" smtClean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3E3E3E"/>
                </a:solidFill>
                <a:latin typeface="Calibri"/>
                <a:cs typeface="Calibri"/>
              </a:rPr>
              <a:t>Indische</a:t>
            </a:r>
            <a:r>
              <a:rPr sz="2800" b="1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3E3E3E"/>
                </a:solidFill>
                <a:latin typeface="Calibri"/>
                <a:cs typeface="Calibri"/>
              </a:rPr>
              <a:t>Sprüche</a:t>
            </a:r>
            <a:r>
              <a:rPr sz="2800" dirty="0">
                <a:solidFill>
                  <a:srgbClr val="3E3E3E"/>
                </a:solidFill>
                <a:latin typeface="Calibri"/>
                <a:cs typeface="Calibri"/>
              </a:rPr>
              <a:t>,</a:t>
            </a:r>
            <a:r>
              <a:rPr sz="28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E3E3E"/>
                </a:solidFill>
                <a:latin typeface="Calibri"/>
                <a:cs typeface="Calibri"/>
              </a:rPr>
              <a:t>1870-</a:t>
            </a:r>
            <a:r>
              <a:rPr sz="2800" spc="-20" dirty="0">
                <a:solidFill>
                  <a:srgbClr val="3E3E3E"/>
                </a:solidFill>
                <a:latin typeface="Calibri"/>
                <a:cs typeface="Calibri"/>
              </a:rPr>
              <a:t>1873 </a:t>
            </a:r>
            <a:r>
              <a:rPr sz="2800" spc="-10" dirty="0">
                <a:solidFill>
                  <a:srgbClr val="3E3E3E"/>
                </a:solidFill>
                <a:latin typeface="Calibri"/>
                <a:cs typeface="Calibri"/>
              </a:rPr>
              <a:t>https://funderburkjim.github.io/boesp- prep/web1/boesp.html?6919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3E3E3E"/>
              </a:buClr>
              <a:buFont typeface="Arial"/>
              <a:buChar char="•"/>
            </a:pPr>
            <a:endParaRPr sz="3300" dirty="0">
              <a:latin typeface="Calibri"/>
              <a:cs typeface="Calibri"/>
            </a:endParaRPr>
          </a:p>
          <a:p>
            <a:pPr marL="405765" marR="84963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lang="ru-RU" sz="2800" spc="-10" dirty="0" smtClean="0">
                <a:solidFill>
                  <a:srgbClr val="3E3E3E"/>
                </a:solidFill>
                <a:latin typeface="Calibri"/>
                <a:cs typeface="Calibri"/>
              </a:rPr>
              <a:t>Оцифровка</a:t>
            </a:r>
            <a:r>
              <a:rPr sz="2800" spc="-105" dirty="0" smtClean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3E3E3E"/>
                </a:solidFill>
                <a:latin typeface="Calibri"/>
                <a:cs typeface="Calibri"/>
              </a:rPr>
              <a:t>Lanman’s</a:t>
            </a:r>
            <a:r>
              <a:rPr sz="2800" b="1" spc="-9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3E3E3E"/>
                </a:solidFill>
                <a:latin typeface="Calibri"/>
                <a:cs typeface="Calibri"/>
              </a:rPr>
              <a:t>Sanskrit</a:t>
            </a:r>
            <a:r>
              <a:rPr sz="2800" b="1" spc="-8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3E3E3E"/>
                </a:solidFill>
                <a:latin typeface="Calibri"/>
                <a:cs typeface="Calibri"/>
              </a:rPr>
              <a:t>Reader</a:t>
            </a:r>
            <a:r>
              <a:rPr sz="2800" dirty="0">
                <a:solidFill>
                  <a:srgbClr val="3E3E3E"/>
                </a:solidFill>
                <a:latin typeface="Calibri"/>
                <a:cs typeface="Calibri"/>
              </a:rPr>
              <a:t>,</a:t>
            </a:r>
            <a:r>
              <a:rPr sz="2800" spc="-7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Calibri"/>
                <a:cs typeface="Calibri"/>
              </a:rPr>
              <a:t>1884 </a:t>
            </a:r>
            <a:r>
              <a:rPr sz="2800" spc="-10" dirty="0">
                <a:solidFill>
                  <a:srgbClr val="3E3E3E"/>
                </a:solidFill>
                <a:latin typeface="Calibri"/>
                <a:cs typeface="Calibri"/>
              </a:rPr>
              <a:t>https://github.com/funderburkjim/lanman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3E3E3E"/>
              </a:buClr>
              <a:buFont typeface="Arial"/>
              <a:buChar char="•"/>
            </a:pPr>
            <a:endParaRPr sz="3300" dirty="0">
              <a:latin typeface="Calibri"/>
              <a:cs typeface="Calibri"/>
            </a:endParaRPr>
          </a:p>
          <a:p>
            <a:pPr marL="406400" marR="17780" indent="-342900">
              <a:lnSpc>
                <a:spcPct val="100000"/>
              </a:lnSpc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lang="ru-RU" sz="2800" spc="-10" dirty="0" smtClean="0">
                <a:solidFill>
                  <a:srgbClr val="3E3E3E"/>
                </a:solidFill>
                <a:latin typeface="Calibri"/>
                <a:cs typeface="Calibri"/>
              </a:rPr>
              <a:t>Оцифровка</a:t>
            </a:r>
            <a:r>
              <a:rPr sz="2800" spc="-85" dirty="0" smtClean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3E3E3E"/>
                </a:solidFill>
                <a:latin typeface="Calibri"/>
                <a:cs typeface="Calibri"/>
              </a:rPr>
              <a:t>Kale’s</a:t>
            </a:r>
            <a:r>
              <a:rPr sz="2800" b="1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3E3E3E"/>
                </a:solidFill>
                <a:latin typeface="Calibri"/>
                <a:cs typeface="Calibri"/>
              </a:rPr>
              <a:t>Hitopadesha</a:t>
            </a:r>
            <a:r>
              <a:rPr sz="2800" b="1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ru-RU" sz="2800" dirty="0" smtClean="0">
                <a:solidFill>
                  <a:srgbClr val="3E3E3E"/>
                </a:solidFill>
                <a:latin typeface="Calibri"/>
                <a:cs typeface="Calibri"/>
              </a:rPr>
              <a:t>Нараяны</a:t>
            </a:r>
            <a:r>
              <a:rPr sz="2800" spc="-20" dirty="0" smtClean="0">
                <a:solidFill>
                  <a:srgbClr val="3E3E3E"/>
                </a:solidFill>
                <a:latin typeface="Calibri"/>
                <a:cs typeface="Calibri"/>
              </a:rPr>
              <a:t>,</a:t>
            </a:r>
            <a:r>
              <a:rPr sz="2800" spc="-80" dirty="0" smtClean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E3E3E"/>
                </a:solidFill>
                <a:latin typeface="Calibri"/>
                <a:cs typeface="Calibri"/>
              </a:rPr>
              <a:t>1912 </a:t>
            </a:r>
            <a:r>
              <a:rPr sz="2800" spc="-25" dirty="0">
                <a:solidFill>
                  <a:srgbClr val="3E3E3E"/>
                </a:solidFill>
                <a:latin typeface="Calibri"/>
                <a:cs typeface="Calibri"/>
              </a:rPr>
              <a:t>https://github.com/funderburkjim/hitopadesha-</a:t>
            </a:r>
            <a:r>
              <a:rPr sz="2800" spc="-20" dirty="0">
                <a:solidFill>
                  <a:srgbClr val="3E3E3E"/>
                </a:solidFill>
                <a:latin typeface="Calibri"/>
                <a:cs typeface="Calibri"/>
              </a:rPr>
              <a:t>kale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267" y="6425628"/>
            <a:ext cx="2207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sz="1200" spc="-10" dirty="0">
                <a:solidFill>
                  <a:srgbClr val="FFC000"/>
                </a:solidFill>
                <a:latin typeface="Calibri"/>
                <a:cs typeface="Calibri"/>
              </a:rPr>
              <a:t>github.com/funderburkjim/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31867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45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71C799E-CA08-B167-DB88-CA7D5C1E8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81F59805-A262-945B-A567-6E2CDA99FD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2266" y="461581"/>
            <a:ext cx="8410575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95"/>
              </a:spcBef>
            </a:pPr>
            <a:r>
              <a:rPr lang="en-US" spc="-10" dirty="0" smtClean="0"/>
              <a:t>KEWA</a:t>
            </a:r>
            <a:r>
              <a:rPr lang="ru-RU" spc="-10" dirty="0" smtClean="0"/>
              <a:t>, 9587 слов, </a:t>
            </a:r>
            <a:r>
              <a:rPr lang="ru-RU" spc="-10" dirty="0" smtClean="0"/>
              <a:t>д</a:t>
            </a:r>
            <a:r>
              <a:rPr lang="ru-RU" spc="-10" dirty="0" smtClean="0"/>
              <a:t>ополнительные лексикографические источники</a:t>
            </a:r>
            <a:endParaRPr spc="-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xmlns="" id="{C3C5B07B-AAB1-FA9C-59A3-5AA5851C059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>
          <a:xfrm>
            <a:off x="533400" y="1905000"/>
            <a:ext cx="8229600" cy="3799002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xmlns="" id="{7E244DCB-7303-5B06-46B7-8DC02A6CDECF}"/>
              </a:ext>
            </a:extLst>
          </p:cNvPr>
          <p:cNvSpPr txBox="1"/>
          <p:nvPr/>
        </p:nvSpPr>
        <p:spPr>
          <a:xfrm>
            <a:off x="402266" y="6425628"/>
            <a:ext cx="3712533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https://</a:t>
            </a:r>
            <a:r>
              <a:rPr lang="en-US" sz="1200" spc="-10" dirty="0">
                <a:solidFill>
                  <a:srgbClr val="FFC000"/>
                </a:solidFill>
                <a:latin typeface="Calibri"/>
                <a:cs typeface="Calibri"/>
              </a:rPr>
              <a:t> samskrtam.ru/</a:t>
            </a:r>
            <a:r>
              <a:rPr lang="en-US" sz="1200" spc="-10" dirty="0" err="1">
                <a:solidFill>
                  <a:srgbClr val="FFC000"/>
                </a:solidFill>
                <a:latin typeface="Calibri"/>
                <a:cs typeface="Calibri"/>
              </a:rPr>
              <a:t>sanskrit</a:t>
            </a:r>
            <a:r>
              <a:rPr lang="en-US" sz="1200" spc="-10" dirty="0">
                <a:solidFill>
                  <a:srgbClr val="FFC000"/>
                </a:solidFill>
                <a:latin typeface="Calibri"/>
                <a:cs typeface="Calibri"/>
              </a:rPr>
              <a:t>-lexicon/KEWA/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xmlns="" id="{4A6EBB75-AFB6-0E78-133C-37DAD7155516}"/>
              </a:ext>
            </a:extLst>
          </p:cNvPr>
          <p:cNvSpPr txBox="1"/>
          <p:nvPr/>
        </p:nvSpPr>
        <p:spPr>
          <a:xfrm>
            <a:off x="8631867" y="6425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43</a:t>
            </a:r>
            <a:endParaRPr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653720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58E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78178" y="713845"/>
            <a:ext cx="7203822" cy="2943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5410" marR="5080" indent="-93345" algn="ctr">
              <a:lnSpc>
                <a:spcPct val="100000"/>
              </a:lnSpc>
              <a:spcBef>
                <a:spcPts val="95"/>
              </a:spcBef>
            </a:pPr>
            <a:r>
              <a:rPr lang="hi-IN" sz="5400" dirty="0">
                <a:solidFill>
                  <a:srgbClr val="FFFFFF"/>
                </a:solidFill>
                <a:latin typeface="Arial"/>
                <a:cs typeface="Arial"/>
              </a:rPr>
              <a:t>समा॒ना हृद॑यानि वः</a:t>
            </a:r>
            <a:endParaRPr lang="en-US" sz="540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05410" marR="5080" indent="-93345" algn="ctr">
              <a:lnSpc>
                <a:spcPct val="100000"/>
              </a:lnSpc>
              <a:spcBef>
                <a:spcPts val="95"/>
              </a:spcBef>
            </a:pPr>
            <a:endParaRPr lang="en-US" sz="540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05410" marR="5080" indent="-93345" algn="ctr">
              <a:lnSpc>
                <a:spcPct val="100000"/>
              </a:lnSpc>
              <a:spcBef>
                <a:spcPts val="95"/>
              </a:spcBef>
            </a:pPr>
            <a:r>
              <a:rPr lang="ru-RU" sz="4000" dirty="0" smtClean="0">
                <a:solidFill>
                  <a:srgbClr val="FFFFFF"/>
                </a:solidFill>
                <a:latin typeface="Arial"/>
                <a:cs typeface="Arial"/>
              </a:rPr>
              <a:t>Единым (да будет) </a:t>
            </a:r>
            <a:br>
              <a:rPr lang="ru-RU" sz="4000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ru-RU" sz="4000" dirty="0" smtClean="0">
                <a:solidFill>
                  <a:srgbClr val="FFFFFF"/>
                </a:solidFill>
                <a:latin typeface="Arial"/>
                <a:cs typeface="Arial"/>
              </a:rPr>
              <a:t>ваш замысел!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19577" y="5105400"/>
            <a:ext cx="3121024" cy="1337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" algn="ctr">
              <a:lnSpc>
                <a:spcPct val="120000"/>
              </a:lnSpc>
              <a:spcBef>
                <a:spcPts val="100"/>
              </a:spcBef>
            </a:pPr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anskrit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Zealots</a:t>
            </a:r>
            <a:r>
              <a:rPr lang="en-US" sz="1800" b="1" spc="-10" dirty="0">
                <a:solidFill>
                  <a:srgbClr val="FFFFFF"/>
                </a:solidFill>
                <a:latin typeface="Arial"/>
                <a:cs typeface="Arial"/>
              </a:rPr>
              <a:t>' Society</a:t>
            </a:r>
            <a:br>
              <a:rPr lang="en-US" sz="1800" b="1" spc="-10" dirty="0">
                <a:solidFill>
                  <a:srgbClr val="FFFFFF"/>
                </a:solidFill>
                <a:latin typeface="Arial"/>
                <a:cs typeface="Arial"/>
              </a:rPr>
            </a:b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Russian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Federation,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 err="1">
                <a:solidFill>
                  <a:srgbClr val="FFFFFF"/>
                </a:solidFill>
                <a:latin typeface="Arial"/>
                <a:cs typeface="Arial"/>
              </a:rPr>
              <a:t>Obninsk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lang="en-US" sz="1800" spc="-1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5080" indent="1905" algn="ctr">
              <a:lnSpc>
                <a:spcPct val="12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WhatsApp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+79181925084</a:t>
            </a:r>
            <a:endParaRPr lang="en-US" sz="1800" spc="-1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5080" indent="1905" algn="ctr">
              <a:lnSpc>
                <a:spcPct val="120000"/>
              </a:lnSpc>
              <a:spcBef>
                <a:spcPts val="100"/>
              </a:spcBef>
            </a:pPr>
            <a:r>
              <a:rPr lang="en-US" spc="-10" dirty="0">
                <a:solidFill>
                  <a:srgbClr val="FFFFFF"/>
                </a:solidFill>
                <a:latin typeface="Arial"/>
                <a:cs typeface="Arial"/>
              </a:rPr>
              <a:t>gasyoun@gmail.com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12179</TotalTime>
  <Words>811</Words>
  <Application>Microsoft Office PowerPoint</Application>
  <PresentationFormat>Экран (4:3)</PresentationFormat>
  <Paragraphs>200</Paragraphs>
  <Slides>46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46</vt:i4>
      </vt:variant>
    </vt:vector>
  </HeadingPairs>
  <TitlesOfParts>
    <vt:vector size="47" baseType="lpstr">
      <vt:lpstr>Office Theme</vt:lpstr>
      <vt:lpstr>Отечественные компьютерные разработки для санскритологов</vt:lpstr>
      <vt:lpstr>@gasyoun</vt:lpstr>
      <vt:lpstr>25 лет в Digital Humanities</vt:lpstr>
      <vt:lpstr>20 лет Обществу ревнителей</vt:lpstr>
      <vt:lpstr>11 лет параллельному корпусу</vt:lpstr>
      <vt:lpstr>Образец из «Атхрававеды»</vt:lpstr>
      <vt:lpstr>Статистика нашего корпуса (1/2)</vt:lpstr>
      <vt:lpstr>Статистика нашего корпуса (2/2)</vt:lpstr>
      <vt:lpstr>Четыре кита нашего корпуса </vt:lpstr>
      <vt:lpstr>«Вся исследовательская литература»: Иностранка</vt:lpstr>
      <vt:lpstr>«Текстуальные связи, невидимые человеку»</vt:lpstr>
      <vt:lpstr>Китайская комната</vt:lpstr>
      <vt:lpstr>Workshop on Machine Learning for Ancient Languages</vt:lpstr>
      <vt:lpstr>«Костыли» для шайтан-машин </vt:lpstr>
      <vt:lpstr>Оцифровка словарей</vt:lpstr>
      <vt:lpstr>Кельнские словари с 2007 г. sanskrit-lexicon.uni-koeln.de</vt:lpstr>
      <vt:lpstr>42 словарей на 2024 г.</vt:lpstr>
      <vt:lpstr>Восемь приоритетных словарей</vt:lpstr>
      <vt:lpstr>30 лет после начала оцифровки</vt:lpstr>
      <vt:lpstr>5 санскритско-русских словарей</vt:lpstr>
      <vt:lpstr>К.А. Коссович (1854), частично</vt:lpstr>
      <vt:lpstr>К.А. Коссович (1854), полностью</vt:lpstr>
      <vt:lpstr>Сотрудничество добро-вольцев (crowdsourcing)  и роботов (GPT, или гопоты)</vt:lpstr>
      <vt:lpstr>The Professor and the Madman</vt:lpstr>
      <vt:lpstr>Постоянный семинар по санскритской компьютерной лингвистике</vt:lpstr>
      <vt:lpstr>Санскритский поисковик</vt:lpstr>
      <vt:lpstr>Результаты «Пахтания океана»</vt:lpstr>
      <vt:lpstr>Результаты «Пахтания океана»</vt:lpstr>
      <vt:lpstr>Оффлайн оболочка</vt:lpstr>
      <vt:lpstr>120 000 строк кода, 90 мод.</vt:lpstr>
      <vt:lpstr>Санскрит по Зализняку (1/7)</vt:lpstr>
      <vt:lpstr>Санскрит по Зализняку (2/7)</vt:lpstr>
      <vt:lpstr>Санскрит по Зализняку (3/7)</vt:lpstr>
      <vt:lpstr>Санскрит по Зализняку (4/7)</vt:lpstr>
      <vt:lpstr>Санскрит по Зализняку (5/7)</vt:lpstr>
      <vt:lpstr>Санскрит по Зализняку (6/7)</vt:lpstr>
      <vt:lpstr>Санскрит по Зализняку (7/7)</vt:lpstr>
      <vt:lpstr>Производные ресурсы сети</vt:lpstr>
      <vt:lpstr>Производные ресурсы (1/5)</vt:lpstr>
      <vt:lpstr>Производные ресурсы: DCS</vt:lpstr>
      <vt:lpstr>Упрощенный поиск Cologne (1/2)</vt:lpstr>
      <vt:lpstr>Упрощенный поиск Cologne (2/2)</vt:lpstr>
      <vt:lpstr>Скрытые сокровища</vt:lpstr>
      <vt:lpstr>Мало известные ресурсы</vt:lpstr>
      <vt:lpstr>KEWA, 9587 слов, дополнительные лексикографические источники</vt:lpstr>
      <vt:lpstr>Слайд 46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aura</dc:creator>
  <cp:lastModifiedBy>Пользователь</cp:lastModifiedBy>
  <cp:revision>59</cp:revision>
  <dcterms:created xsi:type="dcterms:W3CDTF">2024-02-11T19:51:33Z</dcterms:created>
  <dcterms:modified xsi:type="dcterms:W3CDTF">2024-11-14T14:30:00Z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2024-01-06T00:00:00Z</vt:filetime>
  </property>
  <property fmtid="{D5CDD505-2E9C-101B-9397-08002B2CF9AE}" pid="3" name="Creator">
    <vt:lpwstr>Acrobat PDFMaker 11 для PowerPoint</vt:lpwstr>
  </property>
  <property fmtid="{D5CDD505-2E9C-101B-9397-08002B2CF9AE}" pid="4" name="LastSaved">
    <vt:filetime>2024-02-11T00:00:00Z</vt:filetime>
  </property>
  <property fmtid="{D5CDD505-2E9C-101B-9397-08002B2CF9AE}" pid="5" name="Producer">
    <vt:lpwstr>Adobe PDF Library 11.0</vt:lpwstr>
  </property>
</Properties>
</file>