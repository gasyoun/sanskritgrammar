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7" r:id="rId10"/>
  </p:sldIdLst>
  <p:sldSz cx="9144000" cy="5143500" type="screen16x9"/>
  <p:notesSz cx="6858000" cy="9144000"/>
  <p:embeddedFontLst>
    <p:embeddedFont>
      <p:font typeface="Merriweather" panose="020B0604020202020204" charset="-52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Charis SIL" panose="02000500060000020004" pitchFamily="2" charset="-52"/>
      <p:regular r:id="rId24"/>
      <p:bold r:id="rId25"/>
      <p:italic r:id="rId26"/>
      <p:boldItalic r:id="rId27"/>
    </p:embeddedFont>
    <p:embeddedFont>
      <p:font typeface="Martian Mono Light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A7A534-1384-4590-B59E-C0ACCCD37873}">
  <a:tblStyle styleId="{B6A7A534-1384-4590-B59E-C0ACCCD378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F7EA1D-96C4-4584-A5A2-C6D3A5818DE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4529070-D633-47B9-B9F9-59363F63FCFF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258e091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258e091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258e091cd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258e091cd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258e091cd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258e091cd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258e091cd_0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6258e091cd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258e091cd_0_2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6258e091cd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258e091cd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6258e091c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258e091cd_0_4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6258e091cd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258e091cd_0_5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6258e091cd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f9d7e72defff1d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f9d7e72defff1d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20500" y="58400"/>
            <a:ext cx="5027400" cy="5027400"/>
          </a:xfrm>
          <a:prstGeom prst="ellipse">
            <a:avLst/>
          </a:prstGeom>
          <a:solidFill>
            <a:srgbClr val="FFFF00">
              <a:alpha val="20130"/>
            </a:srgbClr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           </a:t>
            </a:r>
            <a:r>
              <a:rPr lang="en-GB" sz="2400" b="1">
                <a:solidFill>
                  <a:srgbClr val="BF9000"/>
                </a:solidFill>
              </a:rPr>
              <a:t>Cause</a:t>
            </a:r>
            <a:endParaRPr sz="2400" b="1">
              <a:solidFill>
                <a:srgbClr val="BF9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Endings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</a:rPr>
              <a:t>e</a:t>
            </a:r>
            <a:r>
              <a:rPr lang="en-GB" sz="1800">
                <a:solidFill>
                  <a:schemeClr val="dk1"/>
                </a:solidFill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</a:rPr>
              <a:t>ti</a:t>
            </a:r>
            <a:endParaRPr sz="1800">
              <a:solidFill>
                <a:schemeClr val="dk1"/>
              </a:solidFill>
              <a:highlight>
                <a:srgbClr val="00FF00"/>
              </a:highlight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highlight>
                <a:srgbClr val="6D9EEB"/>
              </a:highlight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śṛ + </a:t>
            </a:r>
            <a:r>
              <a:rPr lang="en-GB" sz="1800">
                <a:highlight>
                  <a:srgbClr val="D9EAD3"/>
                </a:highlight>
              </a:rPr>
              <a:t>no</a:t>
            </a:r>
            <a:r>
              <a:rPr lang="en-GB" sz="1800"/>
              <a:t> + </a:t>
            </a:r>
            <a:r>
              <a:rPr lang="en-GB" sz="1800">
                <a:highlight>
                  <a:srgbClr val="00FF00"/>
                </a:highlight>
              </a:rPr>
              <a:t>ti</a:t>
            </a:r>
            <a:endParaRPr sz="1800">
              <a:highlight>
                <a:srgbClr val="00FF00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6D9EEB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6D9EEB"/>
                </a:highlight>
              </a:rPr>
              <a:t>	</a:t>
            </a:r>
            <a:r>
              <a:rPr lang="en-GB" sz="1800"/>
              <a:t>yu + </a:t>
            </a:r>
            <a:r>
              <a:rPr lang="en-GB" sz="1800">
                <a:highlight>
                  <a:srgbClr val="D9EAD3"/>
                </a:highlight>
              </a:rPr>
              <a:t>na</a:t>
            </a:r>
            <a:r>
              <a:rPr lang="en-GB" sz="1800"/>
              <a:t> + k + </a:t>
            </a:r>
            <a:r>
              <a:rPr lang="en-GB" sz="1800">
                <a:highlight>
                  <a:srgbClr val="00FF00"/>
                </a:highlight>
              </a:rPr>
              <a:t>ti</a:t>
            </a:r>
            <a:endParaRPr sz="1800">
              <a:highlight>
                <a:srgbClr val="00FF00"/>
              </a:highlight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530525" y="58500"/>
            <a:ext cx="5027400" cy="5027400"/>
          </a:xfrm>
          <a:prstGeom prst="ellipse">
            <a:avLst/>
          </a:prstGeom>
          <a:solidFill>
            <a:srgbClr val="0000FF">
              <a:alpha val="20130"/>
            </a:srgbClr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4A86E8"/>
                </a:solidFill>
              </a:rPr>
              <a:t>Undergo</a:t>
            </a:r>
            <a:endParaRPr sz="2400" b="1">
              <a:solidFill>
                <a:srgbClr val="4A86E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Roots &amp; Prefixes</a:t>
            </a:r>
            <a:endParaRPr sz="1800">
              <a:solidFill>
                <a:schemeClr val="dk1"/>
              </a:solidFill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00FF00"/>
                </a:highlight>
              </a:rPr>
              <a:t>vai</a:t>
            </a:r>
            <a:r>
              <a:rPr lang="en-GB" sz="1800"/>
              <a:t> + rāg + </a:t>
            </a:r>
            <a:r>
              <a:rPr lang="en-GB" sz="1800">
                <a:highlight>
                  <a:srgbClr val="D9EAD3"/>
                </a:highlight>
              </a:rPr>
              <a:t>ya-</a:t>
            </a:r>
            <a:endParaRPr sz="1800">
              <a:highlight>
                <a:srgbClr val="D9EAD3"/>
              </a:highlight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00FF00"/>
              </a:highlight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00FF00"/>
                </a:highlight>
              </a:rPr>
              <a:t>vṛ</a:t>
            </a:r>
            <a:r>
              <a:rPr lang="en-GB" sz="1800"/>
              <a:t> + </a:t>
            </a:r>
            <a:r>
              <a:rPr lang="en-GB" sz="1800">
                <a:highlight>
                  <a:srgbClr val="D9EAD3"/>
                </a:highlight>
              </a:rPr>
              <a:t>ta</a:t>
            </a:r>
            <a:r>
              <a:rPr lang="en-GB" sz="1800"/>
              <a:t>-</a:t>
            </a: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br>
              <a:rPr lang="en-GB" sz="1800"/>
            </a:br>
            <a:r>
              <a:rPr lang="en-GB" sz="1800">
                <a:highlight>
                  <a:srgbClr val="00FF00"/>
                </a:highlight>
              </a:rPr>
              <a:t>var</a:t>
            </a:r>
            <a:r>
              <a:rPr lang="en-GB" sz="1800"/>
              <a:t> + i + </a:t>
            </a:r>
            <a:r>
              <a:rPr lang="en-GB" sz="1800">
                <a:highlight>
                  <a:srgbClr val="D9EAD3"/>
                </a:highlight>
              </a:rPr>
              <a:t>ṣya</a:t>
            </a:r>
            <a:r>
              <a:rPr lang="en-GB" sz="1800"/>
              <a:t>- </a:t>
            </a: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/>
            </a:r>
            <a:br>
              <a:rPr lang="en-GB" sz="1800"/>
            </a:br>
            <a:r>
              <a:rPr lang="en-GB" sz="1800">
                <a:highlight>
                  <a:srgbClr val="00FF00"/>
                </a:highlight>
              </a:rPr>
              <a:t>vār</a:t>
            </a:r>
            <a:r>
              <a:rPr lang="en-GB" sz="1800"/>
              <a:t> + </a:t>
            </a:r>
            <a:r>
              <a:rPr lang="en-GB" sz="1800">
                <a:highlight>
                  <a:srgbClr val="D9EAD3"/>
                </a:highlight>
              </a:rPr>
              <a:t>iṣ</a:t>
            </a:r>
            <a:r>
              <a:rPr lang="en-GB" sz="1800"/>
              <a:t>-</a:t>
            </a: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D9EAD3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		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530525" y="1143000"/>
            <a:ext cx="1917300" cy="28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</a:rPr>
              <a:t>Suffixes</a:t>
            </a:r>
            <a:r>
              <a:rPr lang="en-GB" sz="1800" b="1">
                <a:solidFill>
                  <a:schemeClr val="accent1"/>
                </a:solidFill>
              </a:rPr>
              <a:t/>
            </a:r>
            <a:br>
              <a:rPr lang="en-GB" sz="1800" b="1">
                <a:solidFill>
                  <a:schemeClr val="accent1"/>
                </a:solidFill>
              </a:rPr>
            </a:br>
            <a:endParaRPr sz="1800" b="1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</a:rPr>
              <a:t/>
            </a:r>
            <a:br>
              <a:rPr lang="en-GB" sz="1800">
                <a:solidFill>
                  <a:schemeClr val="accent1"/>
                </a:solidFill>
              </a:rPr>
            </a:br>
            <a:r>
              <a:rPr lang="en-GB" sz="1800">
                <a:solidFill>
                  <a:schemeClr val="accent1"/>
                </a:solidFill>
              </a:rPr>
              <a:t/>
            </a:r>
            <a:br>
              <a:rPr lang="en-GB" sz="1800">
                <a:solidFill>
                  <a:schemeClr val="accent1"/>
                </a:solidFill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</a:rPr>
              <a:t>śṛ</a:t>
            </a:r>
            <a:r>
              <a:rPr lang="en-GB" sz="1800">
                <a:solidFill>
                  <a:schemeClr val="dk1"/>
                </a:solidFill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</a:rPr>
              <a:t>nu</a:t>
            </a:r>
            <a:r>
              <a:rPr lang="en-GB" sz="1800">
                <a:solidFill>
                  <a:schemeClr val="dk1"/>
                </a:solidFill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</a:rPr>
              <a:t>anti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</a:rPr>
              <a:t/>
            </a:r>
            <a:br>
              <a:rPr lang="en-GB" sz="1800">
                <a:solidFill>
                  <a:schemeClr val="accent1"/>
                </a:solidFill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</a:rPr>
              <a:t>śṛ</a:t>
            </a:r>
            <a:r>
              <a:rPr lang="en-GB" sz="1800">
                <a:solidFill>
                  <a:schemeClr val="dk1"/>
                </a:solidFill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</a:rPr>
              <a:t>no</a:t>
            </a:r>
            <a:r>
              <a:rPr lang="en-GB" sz="1800">
                <a:solidFill>
                  <a:schemeClr val="dk1"/>
                </a:solidFill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</a:rPr>
              <a:t>ti</a:t>
            </a:r>
            <a:r>
              <a:rPr lang="en-GB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/>
            </a:r>
            <a:br>
              <a:rPr lang="en-GB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 rot="5400000">
            <a:off x="4704764" y="2508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" name="Google Shape;58;p13"/>
          <p:cNvCxnSpPr/>
          <p:nvPr/>
        </p:nvCxnSpPr>
        <p:spPr>
          <a:xfrm rot="5400000">
            <a:off x="4172364" y="2508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59;p13"/>
          <p:cNvCxnSpPr/>
          <p:nvPr/>
        </p:nvCxnSpPr>
        <p:spPr>
          <a:xfrm rot="5400000">
            <a:off x="4741514" y="3230625"/>
            <a:ext cx="600" cy="40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" name="Google Shape;60;p13"/>
          <p:cNvCxnSpPr/>
          <p:nvPr/>
        </p:nvCxnSpPr>
        <p:spPr>
          <a:xfrm rot="5400000">
            <a:off x="4248564" y="31938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61;p13"/>
          <p:cNvCxnSpPr/>
          <p:nvPr/>
        </p:nvCxnSpPr>
        <p:spPr>
          <a:xfrm rot="5400000">
            <a:off x="6507842" y="2867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13"/>
          <p:cNvCxnSpPr/>
          <p:nvPr/>
        </p:nvCxnSpPr>
        <p:spPr>
          <a:xfrm rot="5400000">
            <a:off x="6749264" y="3297425"/>
            <a:ext cx="600" cy="838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13"/>
          <p:cNvCxnSpPr/>
          <p:nvPr/>
        </p:nvCxnSpPr>
        <p:spPr>
          <a:xfrm rot="5400000">
            <a:off x="6591242" y="40862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64;p13"/>
          <p:cNvCxnSpPr/>
          <p:nvPr/>
        </p:nvCxnSpPr>
        <p:spPr>
          <a:xfrm rot="5400000">
            <a:off x="6897242" y="1931325"/>
            <a:ext cx="600" cy="10800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65;p13"/>
          <p:cNvCxnSpPr/>
          <p:nvPr/>
        </p:nvCxnSpPr>
        <p:spPr>
          <a:xfrm rot="5400000">
            <a:off x="1955043" y="2181800"/>
            <a:ext cx="600" cy="40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66;p13"/>
          <p:cNvCxnSpPr/>
          <p:nvPr/>
        </p:nvCxnSpPr>
        <p:spPr>
          <a:xfrm rot="5400000">
            <a:off x="2486292" y="296152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67;p13"/>
          <p:cNvCxnSpPr/>
          <p:nvPr/>
        </p:nvCxnSpPr>
        <p:spPr>
          <a:xfrm rot="5400000">
            <a:off x="2748765" y="3620700"/>
            <a:ext cx="600" cy="76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420500" y="58400"/>
            <a:ext cx="5027400" cy="5027400"/>
          </a:xfrm>
          <a:prstGeom prst="ellipse">
            <a:avLst/>
          </a:prstGeom>
          <a:solidFill>
            <a:srgbClr val="FFFF00">
              <a:alpha val="20130"/>
            </a:srgbClr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           </a:t>
            </a:r>
            <a:r>
              <a:rPr lang="en-GB" sz="2400" b="1">
                <a:solidFill>
                  <a:srgbClr val="BF9000"/>
                </a:solidFill>
                <a:latin typeface="Merriweather"/>
                <a:ea typeface="Merriweather"/>
                <a:cs typeface="Merriweather"/>
                <a:sym typeface="Merriweather"/>
              </a:rPr>
              <a:t>Cause</a:t>
            </a:r>
            <a:endParaRPr sz="2400" b="1">
              <a:solidFill>
                <a:srgbClr val="BF9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Endings</a:t>
            </a:r>
            <a:endParaRPr sz="18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e</a:t>
            </a:r>
            <a:r>
              <a:rPr lang="en-GB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ti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6D9EEB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śṛ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no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ti</a:t>
            </a:r>
            <a:endParaRPr sz="1800">
              <a:highlight>
                <a:srgbClr val="00FF00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6D9EEB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6D9EEB"/>
                </a:highlight>
                <a:latin typeface="Merriweather"/>
                <a:ea typeface="Merriweather"/>
                <a:cs typeface="Merriweather"/>
                <a:sym typeface="Merriweather"/>
              </a:rPr>
              <a:t>	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yu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na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k + </a:t>
            </a: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ti</a:t>
            </a:r>
            <a:endParaRPr sz="1800">
              <a:highlight>
                <a:srgbClr val="00FF00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530525" y="58500"/>
            <a:ext cx="5027400" cy="5027400"/>
          </a:xfrm>
          <a:prstGeom prst="ellipse">
            <a:avLst/>
          </a:prstGeom>
          <a:solidFill>
            <a:srgbClr val="0000FF">
              <a:alpha val="20130"/>
            </a:srgbClr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4A86E8"/>
                </a:solidFill>
                <a:latin typeface="Merriweather"/>
                <a:ea typeface="Merriweather"/>
                <a:cs typeface="Merriweather"/>
                <a:sym typeface="Merriweather"/>
              </a:rPr>
              <a:t>Undergo</a:t>
            </a:r>
            <a:endParaRPr sz="2400" b="1">
              <a:solidFill>
                <a:srgbClr val="4A86E8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Roots &amp; Prefixes</a:t>
            </a:r>
            <a:endParaRPr sz="18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                                </a:t>
            </a: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vai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rāg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ya-</a:t>
            </a:r>
            <a:endParaRPr sz="1800">
              <a:highlight>
                <a:srgbClr val="D9EAD3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00FF00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vṛ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ta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-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br>
              <a:rPr lang="en-GB" sz="18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var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i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ṣya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- 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/>
            </a:r>
            <a:br>
              <a:rPr lang="en-GB" sz="1800"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vār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iṣ</a:t>
            </a:r>
            <a:r>
              <a:rPr lang="en-GB" sz="1800">
                <a:latin typeface="Merriweather"/>
                <a:ea typeface="Merriweather"/>
                <a:cs typeface="Merriweather"/>
                <a:sym typeface="Merriweather"/>
              </a:rPr>
              <a:t>-</a:t>
            </a:r>
            <a:endParaRPr sz="1800">
              <a:latin typeface="Merriweather"/>
              <a:ea typeface="Merriweather"/>
              <a:cs typeface="Merriweather"/>
              <a:sym typeface="Merriweather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D9EAD3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		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530525" y="1143000"/>
            <a:ext cx="1917300" cy="28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Suffixes</a:t>
            </a:r>
            <a:r>
              <a:rPr lang="en-GB" sz="1800" b="1">
                <a:solidFill>
                  <a:schemeClr val="accent1"/>
                </a:solidFill>
              </a:rPr>
              <a:t/>
            </a:r>
            <a:br>
              <a:rPr lang="en-GB" sz="1800" b="1">
                <a:solidFill>
                  <a:schemeClr val="accent1"/>
                </a:solidFill>
              </a:rPr>
            </a:br>
            <a:endParaRPr sz="1800" b="1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</a:rPr>
              <a:t/>
            </a:r>
            <a:br>
              <a:rPr lang="en-GB" sz="1800">
                <a:solidFill>
                  <a:schemeClr val="accent1"/>
                </a:solidFill>
              </a:rPr>
            </a:br>
            <a:r>
              <a:rPr lang="en-GB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/>
            </a:r>
            <a:br>
              <a:rPr lang="en-GB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śṛ</a:t>
            </a:r>
            <a:r>
              <a:rPr lang="en-GB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nu</a:t>
            </a:r>
            <a:r>
              <a:rPr lang="en-GB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anti</a:t>
            </a:r>
            <a:endParaRPr sz="1800">
              <a:solidFill>
                <a:schemeClr val="dk1"/>
              </a:solidFill>
              <a:highlight>
                <a:srgbClr val="D9EAD3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/>
            </a:r>
            <a:br>
              <a:rPr lang="en-GB" sz="1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śṛ</a:t>
            </a:r>
            <a:r>
              <a:rPr lang="en-GB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Merriweather"/>
                <a:ea typeface="Merriweather"/>
                <a:cs typeface="Merriweather"/>
                <a:sym typeface="Merriweather"/>
              </a:rPr>
              <a:t>no</a:t>
            </a:r>
            <a:r>
              <a:rPr lang="en-GB" sz="1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Merriweather"/>
                <a:ea typeface="Merriweather"/>
                <a:cs typeface="Merriweather"/>
                <a:sym typeface="Merriweather"/>
              </a:rPr>
              <a:t>ti</a:t>
            </a:r>
            <a:r>
              <a:rPr lang="en-GB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  <a:t/>
            </a:r>
            <a:br>
              <a:rPr lang="en-GB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5" name="Google Shape;75;p14"/>
          <p:cNvCxnSpPr/>
          <p:nvPr/>
        </p:nvCxnSpPr>
        <p:spPr>
          <a:xfrm rot="5400000">
            <a:off x="4704764" y="2508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p14"/>
          <p:cNvCxnSpPr/>
          <p:nvPr/>
        </p:nvCxnSpPr>
        <p:spPr>
          <a:xfrm rot="5400000">
            <a:off x="4172364" y="2508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4"/>
          <p:cNvCxnSpPr/>
          <p:nvPr/>
        </p:nvCxnSpPr>
        <p:spPr>
          <a:xfrm rot="5400000">
            <a:off x="4741514" y="3230625"/>
            <a:ext cx="600" cy="40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4"/>
          <p:cNvCxnSpPr/>
          <p:nvPr/>
        </p:nvCxnSpPr>
        <p:spPr>
          <a:xfrm rot="5400000">
            <a:off x="4248564" y="31938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79;p14"/>
          <p:cNvCxnSpPr/>
          <p:nvPr/>
        </p:nvCxnSpPr>
        <p:spPr>
          <a:xfrm rot="5400000">
            <a:off x="6507842" y="28670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4"/>
          <p:cNvCxnSpPr/>
          <p:nvPr/>
        </p:nvCxnSpPr>
        <p:spPr>
          <a:xfrm rot="5400000">
            <a:off x="6749264" y="3297425"/>
            <a:ext cx="600" cy="838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4"/>
          <p:cNvCxnSpPr/>
          <p:nvPr/>
        </p:nvCxnSpPr>
        <p:spPr>
          <a:xfrm rot="5400000">
            <a:off x="6591242" y="408627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82;p14"/>
          <p:cNvCxnSpPr/>
          <p:nvPr/>
        </p:nvCxnSpPr>
        <p:spPr>
          <a:xfrm rot="5400000">
            <a:off x="6897242" y="1931325"/>
            <a:ext cx="600" cy="10800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4"/>
          <p:cNvCxnSpPr/>
          <p:nvPr/>
        </p:nvCxnSpPr>
        <p:spPr>
          <a:xfrm rot="5400000">
            <a:off x="1955043" y="2181800"/>
            <a:ext cx="600" cy="40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4"/>
          <p:cNvCxnSpPr/>
          <p:nvPr/>
        </p:nvCxnSpPr>
        <p:spPr>
          <a:xfrm rot="5400000">
            <a:off x="2486292" y="2961525"/>
            <a:ext cx="600" cy="4803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4"/>
          <p:cNvCxnSpPr/>
          <p:nvPr/>
        </p:nvCxnSpPr>
        <p:spPr>
          <a:xfrm rot="5400000">
            <a:off x="2748765" y="3620700"/>
            <a:ext cx="600" cy="76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420500" y="58400"/>
            <a:ext cx="5027400" cy="5027400"/>
          </a:xfrm>
          <a:prstGeom prst="ellipse">
            <a:avLst/>
          </a:prstGeom>
          <a:solidFill>
            <a:srgbClr val="FFFF00">
              <a:alpha val="20130"/>
            </a:srgbClr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          </a:t>
            </a:r>
            <a:r>
              <a:rPr lang="en-GB" sz="2400" b="1">
                <a:solidFill>
                  <a:srgbClr val="BF9000"/>
                </a:solidFill>
                <a:latin typeface="Charis SIL"/>
                <a:ea typeface="Charis SIL"/>
                <a:cs typeface="Charis SIL"/>
                <a:sym typeface="Charis SIL"/>
              </a:rPr>
              <a:t>Cause</a:t>
            </a:r>
            <a:endParaRPr sz="2400" b="1">
              <a:solidFill>
                <a:srgbClr val="BF9000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Endings</a:t>
            </a:r>
            <a:endParaRPr sz="1800" b="1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accent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e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ti</a:t>
            </a:r>
            <a:endParaRPr sz="1800">
              <a:solidFill>
                <a:schemeClr val="dk1"/>
              </a:solidFill>
              <a:highlight>
                <a:srgbClr val="00FF00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6D9EEB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śṛ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no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ti</a:t>
            </a:r>
            <a:endParaRPr sz="1800">
              <a:highlight>
                <a:srgbClr val="00FF00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6D9EEB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6D9EEB"/>
                </a:highlight>
                <a:latin typeface="Charis SIL"/>
                <a:ea typeface="Charis SIL"/>
                <a:cs typeface="Charis SIL"/>
                <a:sym typeface="Charis SIL"/>
              </a:rPr>
              <a:t>	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yu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na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k + </a:t>
            </a: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ti</a:t>
            </a:r>
            <a:endParaRPr sz="1800">
              <a:highlight>
                <a:srgbClr val="00FF00"/>
              </a:highlight>
              <a:latin typeface="Charis SIL"/>
              <a:ea typeface="Charis SIL"/>
              <a:cs typeface="Charis SIL"/>
              <a:sym typeface="Charis SI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530525" y="58500"/>
            <a:ext cx="5027400" cy="5027400"/>
          </a:xfrm>
          <a:prstGeom prst="ellipse">
            <a:avLst/>
          </a:prstGeom>
          <a:solidFill>
            <a:srgbClr val="0000FF">
              <a:alpha val="20130"/>
            </a:srgbClr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4A86E8"/>
                </a:solidFill>
                <a:latin typeface="Charis SIL"/>
                <a:ea typeface="Charis SIL"/>
                <a:cs typeface="Charis SIL"/>
                <a:sym typeface="Charis SIL"/>
              </a:rPr>
              <a:t>Undergo</a:t>
            </a:r>
            <a:endParaRPr sz="2400" b="1">
              <a:solidFill>
                <a:srgbClr val="4A86E8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Roots &amp; Prefixes</a:t>
            </a: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                        </a:t>
            </a: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vai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rāg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ya-</a:t>
            </a:r>
            <a:endParaRPr sz="1800">
              <a:highlight>
                <a:srgbClr val="D9EAD3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00FF00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vṛ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ta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-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</a:t>
            </a:r>
            <a:br>
              <a:rPr lang="en-GB" sz="1800"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var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i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ṣya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- 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 sz="1800"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vār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iṣ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-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1828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rgbClr val="D9EAD3"/>
              </a:highlight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		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3530525" y="1143000"/>
            <a:ext cx="1917300" cy="28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Suffixes</a:t>
            </a:r>
            <a:r>
              <a:rPr lang="en-GB" sz="1800" b="1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 sz="1800" b="1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</a:br>
            <a:endParaRPr sz="1800" b="1">
              <a:solidFill>
                <a:schemeClr val="accent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śṛ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nu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anti</a:t>
            </a:r>
            <a:endParaRPr sz="1800">
              <a:solidFill>
                <a:schemeClr val="dk1"/>
              </a:solidFill>
              <a:highlight>
                <a:srgbClr val="D9EAD3"/>
              </a:highlight>
              <a:latin typeface="Charis SIL"/>
              <a:ea typeface="Charis SIL"/>
              <a:cs typeface="Charis SIL"/>
              <a:sym typeface="Charis SIL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 sz="1800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śṛ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00FF00"/>
                </a:highlight>
                <a:latin typeface="Charis SIL"/>
                <a:ea typeface="Charis SIL"/>
                <a:cs typeface="Charis SIL"/>
                <a:sym typeface="Charis SIL"/>
              </a:rPr>
              <a:t>no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chemeClr val="dk1"/>
                </a:solidFill>
                <a:highlight>
                  <a:srgbClr val="D9EAD3"/>
                </a:highlight>
                <a:latin typeface="Charis SIL"/>
                <a:ea typeface="Charis SIL"/>
                <a:cs typeface="Charis SIL"/>
                <a:sym typeface="Charis SIL"/>
              </a:rPr>
              <a:t>ti</a:t>
            </a:r>
            <a:r>
              <a:rPr lang="en-GB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  <a:t/>
            </a:r>
            <a:br>
              <a:rPr lang="en-GB">
                <a:solidFill>
                  <a:schemeClr val="accent1"/>
                </a:solidFill>
                <a:latin typeface="Charis SIL"/>
                <a:ea typeface="Charis SIL"/>
                <a:cs typeface="Charis SIL"/>
                <a:sym typeface="Charis SIL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3" name="Google Shape;93;p15"/>
          <p:cNvCxnSpPr/>
          <p:nvPr/>
        </p:nvCxnSpPr>
        <p:spPr>
          <a:xfrm rot="5400000">
            <a:off x="4767914" y="2418825"/>
            <a:ext cx="600" cy="658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94;p15"/>
          <p:cNvCxnSpPr/>
          <p:nvPr/>
        </p:nvCxnSpPr>
        <p:spPr>
          <a:xfrm rot="5400000">
            <a:off x="4060914" y="2472825"/>
            <a:ext cx="600" cy="550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5"/>
          <p:cNvCxnSpPr/>
          <p:nvPr/>
        </p:nvCxnSpPr>
        <p:spPr>
          <a:xfrm rot="5400000">
            <a:off x="4801814" y="3152477"/>
            <a:ext cx="600" cy="514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5"/>
          <p:cNvCxnSpPr/>
          <p:nvPr/>
        </p:nvCxnSpPr>
        <p:spPr>
          <a:xfrm rot="5400000">
            <a:off x="4197764" y="3136647"/>
            <a:ext cx="600" cy="514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BF9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5"/>
          <p:cNvCxnSpPr/>
          <p:nvPr/>
        </p:nvCxnSpPr>
        <p:spPr>
          <a:xfrm rot="5400000">
            <a:off x="6574192" y="2806425"/>
            <a:ext cx="600" cy="550800"/>
          </a:xfrm>
          <a:prstGeom prst="curvedConnector3">
            <a:avLst>
              <a:gd name="adj1" fmla="val -27483333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5"/>
          <p:cNvCxnSpPr/>
          <p:nvPr/>
        </p:nvCxnSpPr>
        <p:spPr>
          <a:xfrm rot="5400000">
            <a:off x="6910064" y="3153425"/>
            <a:ext cx="600" cy="1126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99;p15"/>
          <p:cNvCxnSpPr/>
          <p:nvPr/>
        </p:nvCxnSpPr>
        <p:spPr>
          <a:xfrm rot="5400000">
            <a:off x="6640642" y="4021375"/>
            <a:ext cx="600" cy="622800"/>
          </a:xfrm>
          <a:prstGeom prst="curvedConnector3">
            <a:avLst>
              <a:gd name="adj1" fmla="val -28516667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Google Shape;100;p15"/>
          <p:cNvCxnSpPr/>
          <p:nvPr/>
        </p:nvCxnSpPr>
        <p:spPr>
          <a:xfrm rot="5400000">
            <a:off x="6859092" y="1810625"/>
            <a:ext cx="600" cy="1296000"/>
          </a:xfrm>
          <a:prstGeom prst="curvedConnector3">
            <a:avLst>
              <a:gd name="adj1" fmla="val -52004167"/>
            </a:avLst>
          </a:prstGeom>
          <a:noFill/>
          <a:ln w="2857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15"/>
          <p:cNvCxnSpPr/>
          <p:nvPr/>
        </p:nvCxnSpPr>
        <p:spPr>
          <a:xfrm rot="5400000">
            <a:off x="2007036" y="2145800"/>
            <a:ext cx="600" cy="478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5"/>
          <p:cNvCxnSpPr/>
          <p:nvPr/>
        </p:nvCxnSpPr>
        <p:spPr>
          <a:xfrm rot="5400000">
            <a:off x="2654242" y="2926275"/>
            <a:ext cx="600" cy="550800"/>
          </a:xfrm>
          <a:prstGeom prst="curvedConnector3">
            <a:avLst>
              <a:gd name="adj1" fmla="val -396875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5"/>
          <p:cNvCxnSpPr/>
          <p:nvPr/>
        </p:nvCxnSpPr>
        <p:spPr>
          <a:xfrm rot="5400000">
            <a:off x="2972015" y="3526450"/>
            <a:ext cx="600" cy="1018800"/>
          </a:xfrm>
          <a:prstGeom prst="curvedConnector3">
            <a:avLst>
              <a:gd name="adj1" fmla="val -51250000"/>
            </a:avLst>
          </a:prstGeom>
          <a:noFill/>
          <a:ln w="2857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708350" y="375899"/>
            <a:ext cx="799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Vowel: Conditions (Было)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08349" y="995075"/>
            <a:ext cx="7919100" cy="3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 could appear between morphemes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A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and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B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</a:t>
            </a:r>
            <a:endParaRPr sz="1100"/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if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A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is not ending in ā or zero grade alternation element; </a:t>
            </a:r>
            <a:endParaRPr sz="1800" b="1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254000" marR="0" lvl="0" indent="-254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if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B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has initial consonant (always except y and variable with v and m) and is not an aorist suffix.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Possible pairs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A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and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B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</a:t>
            </a:r>
            <a:endParaRPr sz="1100"/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case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verbal root 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+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suffix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– </a:t>
            </a: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i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appears if the general conditions are met and root is seṭ or some kind of veṭ; same for </a:t>
            </a: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ī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but with few roots as exceptions;</a:t>
            </a:r>
            <a:endParaRPr sz="1100"/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case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verbal root 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+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ending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– </a:t>
            </a: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i/ī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appears with the certain roots listed as exceptions by now (e.g. bravīti from {brū}, roditi from {rud});</a:t>
            </a:r>
            <a:endParaRPr sz="1100"/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case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suffix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suffix’ 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– </a:t>
            </a: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i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appears if the general conditions are met;</a:t>
            </a: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case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: </a:t>
            </a:r>
            <a:r>
              <a:rPr lang="en-GB" sz="1800">
                <a:solidFill>
                  <a:srgbClr val="C00000"/>
                </a:solidFill>
                <a:latin typeface="Charis SIL"/>
                <a:ea typeface="Charis SIL"/>
                <a:cs typeface="Charis SIL"/>
                <a:sym typeface="Charis SIL"/>
              </a:rPr>
              <a:t>suffix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+ </a:t>
            </a:r>
            <a:r>
              <a:rPr lang="en-GB" sz="1800">
                <a:solidFill>
                  <a:srgbClr val="7030A0"/>
                </a:solidFill>
                <a:latin typeface="Charis SIL"/>
                <a:ea typeface="Charis SIL"/>
                <a:cs typeface="Charis SIL"/>
                <a:sym typeface="Charis SIL"/>
              </a:rPr>
              <a:t>ending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– </a:t>
            </a:r>
            <a:r>
              <a:rPr lang="en-GB" sz="18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ī </a:t>
            </a: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only with aorist suffixes -s-, -siṣ-, -sa- before 2.sg.P -s and 3.sg.P -t.</a:t>
            </a:r>
            <a:endParaRPr sz="1100"/>
          </a:p>
        </p:txBody>
      </p:sp>
      <p:sp>
        <p:nvSpPr>
          <p:cNvPr id="110" name="Google Shape;110;p16"/>
          <p:cNvSpPr txBox="1">
            <a:spLocks noGrp="1"/>
          </p:cNvSpPr>
          <p:nvPr>
            <p:ph type="sldNum" idx="12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708350" y="375899"/>
            <a:ext cx="799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Vowel: Conditions (Стало)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graphicFrame>
        <p:nvGraphicFramePr>
          <p:cNvPr id="117" name="Google Shape;117;p17"/>
          <p:cNvGraphicFramePr/>
          <p:nvPr/>
        </p:nvGraphicFramePr>
        <p:xfrm>
          <a:off x="855900" y="2190750"/>
          <a:ext cx="7590550" cy="2834490"/>
        </p:xfrm>
        <a:graphic>
          <a:graphicData uri="http://schemas.openxmlformats.org/drawingml/2006/table">
            <a:tbl>
              <a:tblPr>
                <a:noFill/>
                <a:tableStyleId>{B6A7A534-1384-4590-B59E-C0ACCCD37873}</a:tableStyleId>
              </a:tblPr>
              <a:tblGrid>
                <a:gridCol w="22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Cases</a:t>
                      </a:r>
                      <a:endParaRPr sz="18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-i- </a:t>
                      </a:r>
                      <a:endParaRPr sz="18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-ī-</a:t>
                      </a:r>
                      <a:endParaRPr sz="18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Examples</a:t>
                      </a:r>
                      <a:endParaRPr sz="1800" b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1. root + suffix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rule + seṭ/veṭ*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?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2. root + ending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few cases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bravīti, roditi</a:t>
                      </a:r>
                      <a:endParaRPr sz="1800" i="1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3. suffix + suffix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rule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—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?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4. suffix + ending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—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Only in aorist: -</a:t>
                      </a: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-/-</a:t>
                      </a: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siṣ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-/-</a:t>
                      </a: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sa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- +2–3.sg.P -</a:t>
                      </a: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/-</a:t>
                      </a:r>
                      <a:r>
                        <a:rPr lang="en-GB" sz="1800" i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?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Google Shape;118;p17"/>
          <p:cNvSpPr txBox="1"/>
          <p:nvPr/>
        </p:nvSpPr>
        <p:spPr>
          <a:xfrm>
            <a:off x="708350" y="1022250"/>
            <a:ext cx="8133900" cy="9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haris SIL"/>
                <a:ea typeface="Charis SIL"/>
                <a:cs typeface="Charis SIL"/>
                <a:sym typeface="Charis SIL"/>
              </a:rPr>
              <a:t>General rule: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Connective vowel appears between morphemes A and B if: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aris SIL"/>
              <a:buChar char="●"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A doesn’t end in </a:t>
            </a:r>
            <a:r>
              <a:rPr lang="en-GB" sz="1800" i="1">
                <a:latin typeface="Charis SIL"/>
                <a:ea typeface="Charis SIL"/>
                <a:cs typeface="Charis SIL"/>
                <a:sym typeface="Charis SIL"/>
              </a:rPr>
              <a:t>ā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or zero grade; 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haris SIL"/>
              <a:buChar char="●"/>
            </a:pP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B starts with a consonant ≠</a:t>
            </a:r>
            <a:r>
              <a:rPr lang="en-GB" sz="1800" i="1">
                <a:latin typeface="Charis SIL"/>
                <a:ea typeface="Charis SIL"/>
                <a:cs typeface="Charis SIL"/>
                <a:sym typeface="Charis SIL"/>
              </a:rPr>
              <a:t>y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 (exc.: </a:t>
            </a:r>
            <a:r>
              <a:rPr lang="en-GB" sz="1800" i="1">
                <a:latin typeface="Charis SIL"/>
                <a:ea typeface="Charis SIL"/>
                <a:cs typeface="Charis SIL"/>
                <a:sym typeface="Charis SIL"/>
              </a:rPr>
              <a:t>v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, </a:t>
            </a:r>
            <a:r>
              <a:rPr lang="en-GB" sz="1800" i="1">
                <a:latin typeface="Charis SIL"/>
                <a:ea typeface="Charis SIL"/>
                <a:cs typeface="Charis SIL"/>
                <a:sym typeface="Charis SIL"/>
              </a:rPr>
              <a:t>m</a:t>
            </a:r>
            <a:r>
              <a:rPr lang="en-GB" sz="1800">
                <a:latin typeface="Charis SIL"/>
                <a:ea typeface="Charis SIL"/>
                <a:cs typeface="Charis SIL"/>
                <a:sym typeface="Charis SIL"/>
              </a:rPr>
              <a:t>) AND is not an aorist suffix.</a:t>
            </a:r>
            <a:endParaRPr sz="1800">
              <a:latin typeface="Charis SIL"/>
              <a:ea typeface="Charis SIL"/>
              <a:cs typeface="Charis SIL"/>
              <a:sym typeface="Charis SI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708350" y="375899"/>
            <a:ext cx="799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Charis SIL"/>
                <a:ea typeface="Charis SIL"/>
                <a:cs typeface="Charis SIL"/>
                <a:sym typeface="Charis SIL"/>
              </a:rPr>
              <a:t>Alternation Series: Verbal Roots (</a:t>
            </a:r>
            <a:r>
              <a:rPr lang="en-GB" sz="2400">
                <a:latin typeface="Charis SIL"/>
                <a:ea typeface="Charis SIL"/>
                <a:cs typeface="Charis SIL"/>
                <a:sym typeface="Charis SIL"/>
              </a:rPr>
              <a:t>Стало)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19"/>
          <p:cNvGraphicFramePr/>
          <p:nvPr/>
        </p:nvGraphicFramePr>
        <p:xfrm>
          <a:off x="1519078" y="864332"/>
          <a:ext cx="6181500" cy="4023600"/>
        </p:xfrm>
        <a:graphic>
          <a:graphicData uri="http://schemas.openxmlformats.org/drawingml/2006/table">
            <a:tbl>
              <a:tblPr firstRow="1" bandRow="1">
                <a:noFill/>
                <a:tableStyleId>{16F7EA1D-96C4-4584-A5A2-C6D3A5818DE7}</a:tableStyleId>
              </a:tblPr>
              <a:tblGrid>
                <a:gridCol w="1545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Series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Zero</a:t>
                      </a:r>
                      <a:endParaRPr sz="15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 Guṇa</a:t>
                      </a:r>
                      <a:endParaRPr sz="15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Vṛddhi</a:t>
                      </a:r>
                      <a:endParaRPr sz="15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95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ø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</a:t>
                      </a:r>
                      <a:endParaRPr sz="15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95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</a:t>
                      </a:r>
                      <a:endParaRPr sz="1500" i="1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95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</a:t>
                      </a:r>
                      <a:endParaRPr sz="1500" i="1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sth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ø̄ 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sth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sth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I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i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e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ai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I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ī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e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ai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U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u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o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st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au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U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bh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ū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bh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o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bh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au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R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ṛ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ar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ār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R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ṝ 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ar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ār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L</a:t>
                      </a:r>
                      <a:endParaRPr sz="15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7800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ḷ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endParaRPr sz="15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7800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al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endParaRPr sz="15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37800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k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āl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p</a:t>
                      </a:r>
                      <a:endParaRPr sz="15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g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m̥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g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am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g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ām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ś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m̥̄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ś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am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ś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ām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1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n̥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an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m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ān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8200">
                <a:tc>
                  <a:txBody>
                    <a:bodyPr/>
                    <a:lstStyle/>
                    <a:p>
                      <a:pPr marL="6120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</a:t>
                      </a:r>
                      <a:r>
                        <a:rPr lang="en-GB" sz="1500" baseline="-250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2</a:t>
                      </a:r>
                      <a:endParaRPr sz="1500" baseline="-25000">
                        <a:solidFill>
                          <a:schemeClr val="dk1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7030A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n̥̄</a:t>
                      </a:r>
                      <a:endParaRPr sz="1500">
                        <a:solidFill>
                          <a:srgbClr val="7030A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an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60000" marR="503999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j</a:t>
                      </a:r>
                      <a:r>
                        <a:rPr lang="en-GB" sz="1500">
                          <a:solidFill>
                            <a:srgbClr val="C00000"/>
                          </a:solidFill>
                          <a:latin typeface="Martian Mono Light"/>
                          <a:ea typeface="Martian Mono Light"/>
                          <a:cs typeface="Martian Mono Light"/>
                          <a:sym typeface="Martian Mono Light"/>
                        </a:rPr>
                        <a:t>ān</a:t>
                      </a:r>
                      <a:endParaRPr sz="1500">
                        <a:solidFill>
                          <a:srgbClr val="C00000"/>
                        </a:solidFill>
                        <a:latin typeface="Martian Mono Light"/>
                        <a:ea typeface="Martian Mono Light"/>
                        <a:cs typeface="Martian Mono Light"/>
                        <a:sym typeface="Martian Mono Light"/>
                      </a:endParaRPr>
                    </a:p>
                  </a:txBody>
                  <a:tcPr marL="58800" marR="58800" marT="29400" marB="294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708350" y="375899"/>
            <a:ext cx="799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Connective Vowel: Seṭ – Veṭ(s) - Aniṭ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>
            <a:spLocks noGrp="1"/>
          </p:cNvSpPr>
          <p:nvPr>
            <p:ph type="sldNum" idx="12"/>
          </p:nvPr>
        </p:nvSpPr>
        <p:spPr>
          <a:xfrm>
            <a:off x="6354343" y="3497413"/>
            <a:ext cx="411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graphicFrame>
        <p:nvGraphicFramePr>
          <p:cNvPr id="145" name="Google Shape;145;p21"/>
          <p:cNvGraphicFramePr/>
          <p:nvPr/>
        </p:nvGraphicFramePr>
        <p:xfrm>
          <a:off x="490999" y="1091314"/>
          <a:ext cx="8215375" cy="3617000"/>
        </p:xfrm>
        <a:graphic>
          <a:graphicData uri="http://schemas.openxmlformats.org/drawingml/2006/table">
            <a:tbl>
              <a:tblPr firstRow="1" bandRow="1">
                <a:noFill/>
                <a:tableStyleId>{24529070-D633-47B9-B9F9-59363F63FCFF}</a:tableStyleId>
              </a:tblPr>
              <a:tblGrid>
                <a:gridCol w="6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r</a:t>
                      </a: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oot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future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desiderative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haris SIL"/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ppp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elsewhere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seṭ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aṭiṭ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aṭ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aniṭ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pac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pakṣya-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pipakṣ-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pakta-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aniṭ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tapsya-</a:t>
                      </a:r>
                      <a:endParaRPr sz="18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baseline="300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?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titaps-</a:t>
                      </a:r>
                      <a:endParaRPr sz="18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tapta-</a:t>
                      </a:r>
                      <a:endParaRPr sz="18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veṭ1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takṣya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titakṣ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titakṣ-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taṣṭa-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veṭ2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lilap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ta-/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lapta-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veṭ3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titras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trasta-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veṭ4</a:t>
                      </a:r>
                      <a:endParaRPr sz="18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tyaj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tyaj</a:t>
                      </a:r>
                      <a:r>
                        <a:rPr lang="en-GB" sz="1800" b="1">
                          <a:solidFill>
                            <a:srgbClr val="C00000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</a:t>
                      </a: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ṣya-/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tyakṣya-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tityakṣ-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tyakta-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veṭ</a:t>
                      </a:r>
                      <a:endParaRPr sz="18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708350" y="375899"/>
            <a:ext cx="7998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Morphophonological Processes:</a:t>
            </a:r>
            <a:r>
              <a:rPr lang="en-GB" sz="2400" b="1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 </a:t>
            </a: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08350" y="1021201"/>
            <a:ext cx="78804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How to transform a chain of morphemes A+B+…+N into actual word AB…N (from AB…N to A+B+…+N backwards)?</a:t>
            </a: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</p:txBody>
      </p:sp>
      <p:graphicFrame>
        <p:nvGraphicFramePr>
          <p:cNvPr id="158" name="Google Shape;158;p23"/>
          <p:cNvGraphicFramePr/>
          <p:nvPr/>
        </p:nvGraphicFramePr>
        <p:xfrm>
          <a:off x="708349" y="1882914"/>
          <a:ext cx="7998000" cy="2684200"/>
        </p:xfrm>
        <a:graphic>
          <a:graphicData uri="http://schemas.openxmlformats.org/drawingml/2006/table">
            <a:tbl>
              <a:tblPr firstRow="1" bandRow="1">
                <a:noFill/>
                <a:tableStyleId>{24529070-D633-47B9-B9F9-59363F63FCFF}</a:tableStyleId>
              </a:tblPr>
              <a:tblGrid>
                <a:gridCol w="58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Step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Name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Comment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1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Inserting -i-/-ī-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rule + cases discussed on Slide ???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2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Alternation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Choice of the grade within alternation series acc. to morphological position and alternation type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3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Root reduplication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If required by suffix/ending</a:t>
                      </a:r>
                      <a:endParaRPr sz="1500" b="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4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Shift of the alternating element to another alternation series // Sandhi in verbal root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If required by following morpheme; see Zalizniak, 1975, Table 1</a:t>
                      </a:r>
                      <a:endParaRPr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5</a:t>
                      </a:r>
                      <a:endParaRPr sz="1500" b="1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General sandhi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Rules from Emenau 1968 + additional rules</a:t>
                      </a:r>
                      <a:endParaRPr sz="1500">
                        <a:solidFill>
                          <a:schemeClr val="dk1"/>
                        </a:solidFill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68600" marR="68600" marT="34300" marB="34300">
                    <a:lnL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24"/>
          <p:cNvGraphicFramePr/>
          <p:nvPr/>
        </p:nvGraphicFramePr>
        <p:xfrm>
          <a:off x="493575" y="1412250"/>
          <a:ext cx="8130550" cy="2925960"/>
        </p:xfrm>
        <a:graphic>
          <a:graphicData uri="http://schemas.openxmlformats.org/drawingml/2006/table">
            <a:tbl>
              <a:tblPr>
                <a:noFill/>
                <a:tableStyleId>{B6A7A534-1384-4590-B59E-C0ACCCD37873}</a:tableStyleId>
              </a:tblPr>
              <a:tblGrid>
                <a:gridCol w="193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Morphological position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Expected grade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Morpheme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MP1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zero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ppp. -(1)ta-: 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kṛta-, ita- BUT carita-, sevita-, dhāvita-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MP2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guṇa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future -(2)sya-: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kariṣya-, bhaviṣya- BUT jṛmbhiṣya-, dhāviṣya-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MP3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vṛddhi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aorist 4 -(1/2/3)s-:</a:t>
                      </a:r>
                      <a:endParaRPr sz="1800">
                        <a:latin typeface="Charis SIL"/>
                        <a:ea typeface="Charis SIL"/>
                        <a:cs typeface="Charis SIL"/>
                        <a:sym typeface="Charis SI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Charis SIL"/>
                          <a:ea typeface="Charis SIL"/>
                          <a:cs typeface="Charis SIL"/>
                          <a:sym typeface="Charis SIL"/>
                        </a:rPr>
                        <a:t>akārṣ-, anaiṣ- BUT many exceptions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Google Shape;164;p24"/>
          <p:cNvSpPr txBox="1"/>
          <p:nvPr/>
        </p:nvSpPr>
        <p:spPr>
          <a:xfrm>
            <a:off x="493575" y="446675"/>
            <a:ext cx="8130600" cy="6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haris SIL"/>
                <a:ea typeface="Charis SIL"/>
                <a:cs typeface="Charis SIL"/>
                <a:sym typeface="Charis SIL"/>
              </a:rPr>
              <a:t>Alternation: Morphological Position (2)</a:t>
            </a:r>
            <a:endParaRPr sz="2400">
              <a:solidFill>
                <a:schemeClr val="dk1"/>
              </a:solidFill>
              <a:latin typeface="Charis SIL"/>
              <a:ea typeface="Charis SIL"/>
              <a:cs typeface="Charis SIL"/>
              <a:sym typeface="Charis SI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659</Words>
  <Application>Microsoft Office PowerPoint</Application>
  <PresentationFormat>Экран (16:9)</PresentationFormat>
  <Paragraphs>260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Merriweather</vt:lpstr>
      <vt:lpstr>Calibri</vt:lpstr>
      <vt:lpstr>Helvetica Neue</vt:lpstr>
      <vt:lpstr>Charis SIL</vt:lpstr>
      <vt:lpstr>Martian Mono Light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Иван</cp:lastModifiedBy>
  <cp:revision>2</cp:revision>
  <dcterms:modified xsi:type="dcterms:W3CDTF">2025-06-21T10:56:13Z</dcterms:modified>
</cp:coreProperties>
</file>