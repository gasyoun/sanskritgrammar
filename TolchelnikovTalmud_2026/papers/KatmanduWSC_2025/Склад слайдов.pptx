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43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B5C16-6EC5-469F-A4F8-C35B2458CD0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B7C51-4EF7-4679-B493-7834DF2992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86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258e091cd_0_2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6258e091cd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96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258e091cd_0_4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6258e091cd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876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40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58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23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94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63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05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07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18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52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94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6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199DE-54A6-4963-97A8-26165096A33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1A97C-5F88-4788-B0B7-145CB7070B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41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Defining of Alternation Parameters</a:t>
            </a:r>
            <a:endParaRPr lang="ru-RU" sz="3200" b="1"/>
          </a:p>
        </p:txBody>
      </p:sp>
      <p:sp>
        <p:nvSpPr>
          <p:cNvPr id="32" name="Прямоугольник 31"/>
          <p:cNvSpPr/>
          <p:nvPr/>
        </p:nvSpPr>
        <p:spPr>
          <a:xfrm>
            <a:off x="944466" y="1225689"/>
            <a:ext cx="1066406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1. Morphemes that undergo alternation, do not affect alternation: 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roots; e.g. </a:t>
            </a:r>
            <a:r>
              <a:rPr lang="en-US" sz="2400" smtClean="0">
                <a:latin typeface="Courier New" panose="02070309020205020404" pitchFamily="49" charset="0"/>
                <a:ea typeface="Charis SIL" panose="02000500060000020004" pitchFamily="2" charset="-52"/>
                <a:cs typeface="Courier New" panose="02070309020205020404" pitchFamily="49" charset="0"/>
              </a:rPr>
              <a:t>vṛ(I,R1)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v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ta-, v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ar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iṣya-, v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ār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iṣ-;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prefixes; e.g. vi-√raj → v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ai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rāgya-;</a:t>
            </a:r>
          </a:p>
          <a:p>
            <a:pPr lvl="2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⇒ define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type, series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  <a:p>
            <a:pPr lvl="2"/>
            <a:endParaRPr lang="en-US" sz="2400" b="1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2. Morphemes that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undergo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 and affect alternation: 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most suffixes; e.g. present 5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ourier New" panose="02070309020205020404" pitchFamily="49" charset="0"/>
                <a:ea typeface="Charis SIL" panose="02000500060000020004" pitchFamily="2" charset="-52"/>
                <a:cs typeface="Courier New" panose="02070309020205020404" pitchFamily="49" charset="0"/>
              </a:rPr>
              <a:t>-(1)nu(I,U1)-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k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ṇ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anti, k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ṇ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infixes; e.g. present 7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ourier New" panose="02070309020205020404" pitchFamily="49" charset="0"/>
                <a:ea typeface="Charis SIL" panose="02000500060000020004" pitchFamily="2" charset="-52"/>
                <a:cs typeface="Courier New" panose="02070309020205020404" pitchFamily="49" charset="0"/>
              </a:rPr>
              <a:t>-(1)nø(I,A1)-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y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ṅ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ø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janti, y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kti;</a:t>
            </a:r>
          </a:p>
          <a:p>
            <a:pPr lvl="1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⇒ define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type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series, morphological position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  <a:p>
            <a:pPr lvl="1"/>
            <a:endParaRPr lang="en-US" sz="2400" b="1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3. Morphemes that do not undergo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alternation, affect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alternation: 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endings;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e.g.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3.sg.P.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ourier New" panose="02070309020205020404" pitchFamily="49" charset="0"/>
                <a:ea typeface="Charis SIL" panose="02000500060000020004" pitchFamily="2" charset="-52"/>
                <a:cs typeface="Courier New" panose="02070309020205020404" pitchFamily="49" charset="0"/>
              </a:rPr>
              <a:t>-(2/3)ti-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kṛn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ti, st</a:t>
            </a:r>
            <a:r>
              <a:rPr lang="en-US" sz="2400" b="1" smtClean="0">
                <a:solidFill>
                  <a:schemeClr val="accent4">
                    <a:lumMod val="50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au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ti;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absolutive suffixes;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e.g. </a:t>
            </a:r>
            <a:r>
              <a:rPr lang="en-US" sz="2400" smtClean="0">
                <a:latin typeface="Courier New" panose="02070309020205020404" pitchFamily="49" charset="0"/>
                <a:ea typeface="Charis SIL" panose="02000500060000020004" pitchFamily="2" charset="-52"/>
                <a:cs typeface="Courier New" panose="02070309020205020404" pitchFamily="49" charset="0"/>
              </a:rPr>
              <a:t>-(1/2)tvā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ktvā (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n̥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ktvā),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aṅ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ktvā;</a:t>
            </a:r>
          </a:p>
          <a:p>
            <a:pPr lvl="1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⇒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define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morphological position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9844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944467" y="501199"/>
            <a:ext cx="10664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2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Connective Vowel: </a:t>
            </a:r>
            <a:r>
              <a:rPr lang="en-GB" sz="3200" smtClean="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Conditions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8472457" y="4663217"/>
            <a:ext cx="548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2</a:t>
            </a:fld>
            <a:endParaRPr/>
          </a:p>
        </p:txBody>
      </p:sp>
      <p:graphicFrame>
        <p:nvGraphicFramePr>
          <p:cNvPr id="117" name="Google Shape;117;p17"/>
          <p:cNvGraphicFramePr/>
          <p:nvPr>
            <p:extLst/>
          </p:nvPr>
        </p:nvGraphicFramePr>
        <p:xfrm>
          <a:off x="944467" y="2936314"/>
          <a:ext cx="10368000" cy="37793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6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Cases</a:t>
                      </a:r>
                      <a:endParaRPr sz="2400" b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-i- </a:t>
                      </a:r>
                      <a:endParaRPr sz="2400" b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-ī-</a:t>
                      </a:r>
                      <a:endParaRPr sz="2400" b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6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1. root + suffix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General rule + seṭ/veṭ*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5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2. root + ending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mtClean="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irregular</a:t>
                      </a:r>
                      <a:r>
                        <a:rPr lang="en-GB" sz="2400" baseline="0" smtClean="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 appearance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smtClean="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(</a:t>
                      </a:r>
                      <a:r>
                        <a:rPr lang="en-GB" sz="2400" i="1" smtClean="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bravīti, roditi</a:t>
                      </a:r>
                      <a:r>
                        <a:rPr lang="en-GB" sz="2400" i="0" smtClean="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, etc.</a:t>
                      </a:r>
                      <a:r>
                        <a:rPr lang="en-US" sz="2400" smtClean="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)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6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3. suffix + suffix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General rule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—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15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4. suffix + ending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—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Only in aorist: -</a:t>
                      </a:r>
                      <a:r>
                        <a:rPr lang="en-GB" sz="24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-/-</a:t>
                      </a:r>
                      <a:r>
                        <a:rPr lang="en-GB" sz="24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siṣ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-/-</a:t>
                      </a:r>
                      <a:r>
                        <a:rPr lang="en-GB" sz="24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sa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 +2–3.sg.P -</a:t>
                      </a:r>
                      <a:r>
                        <a:rPr lang="en-GB" sz="24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/-</a:t>
                      </a:r>
                      <a:r>
                        <a:rPr lang="en-GB" sz="24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</a:t>
                      </a:r>
                      <a:endParaRPr sz="24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" name="Google Shape;118;p17"/>
          <p:cNvSpPr txBox="1"/>
          <p:nvPr/>
        </p:nvSpPr>
        <p:spPr>
          <a:xfrm>
            <a:off x="944467" y="1363000"/>
            <a:ext cx="10845200" cy="13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GB" sz="2400" b="1">
                <a:latin typeface="Charis SIL"/>
                <a:ea typeface="Charis SIL"/>
                <a:cs typeface="Charis SIL"/>
                <a:sym typeface="Charis SIL"/>
              </a:rPr>
              <a:t>General rule:</a:t>
            </a: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 Connective vowel appears between morphemes A and B if:</a:t>
            </a:r>
            <a:endParaRPr sz="2400">
              <a:latin typeface="Charis SIL"/>
              <a:ea typeface="Charis SIL"/>
              <a:cs typeface="Charis SIL"/>
              <a:sym typeface="Charis SIL"/>
            </a:endParaRPr>
          </a:p>
          <a:p>
            <a:pPr marL="609585" indent="-457189">
              <a:lnSpc>
                <a:spcPct val="115000"/>
              </a:lnSpc>
              <a:buSzPts val="1800"/>
              <a:buFont typeface="Charis SIL"/>
              <a:buChar char="●"/>
            </a:pP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A doesn’t end in </a:t>
            </a:r>
            <a:r>
              <a:rPr lang="en-GB" sz="2400" i="1">
                <a:latin typeface="Charis SIL"/>
                <a:ea typeface="Charis SIL"/>
                <a:cs typeface="Charis SIL"/>
                <a:sym typeface="Charis SIL"/>
              </a:rPr>
              <a:t>ā</a:t>
            </a: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 or zero grade; </a:t>
            </a:r>
            <a:endParaRPr sz="2400">
              <a:latin typeface="Charis SIL"/>
              <a:ea typeface="Charis SIL"/>
              <a:cs typeface="Charis SIL"/>
              <a:sym typeface="Charis SIL"/>
            </a:endParaRPr>
          </a:p>
          <a:p>
            <a:pPr marL="609585" indent="-457189">
              <a:lnSpc>
                <a:spcPct val="115000"/>
              </a:lnSpc>
              <a:buSzPts val="1800"/>
              <a:buFont typeface="Charis SIL"/>
              <a:buChar char="●"/>
            </a:pP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B starts with a consonant ≠</a:t>
            </a:r>
            <a:r>
              <a:rPr lang="en-GB" sz="2400" i="1">
                <a:latin typeface="Charis SIL"/>
                <a:ea typeface="Charis SIL"/>
                <a:cs typeface="Charis SIL"/>
                <a:sym typeface="Charis SIL"/>
              </a:rPr>
              <a:t>y</a:t>
            </a: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 (exc.: </a:t>
            </a:r>
            <a:r>
              <a:rPr lang="en-GB" sz="2400" i="1">
                <a:latin typeface="Charis SIL"/>
                <a:ea typeface="Charis SIL"/>
                <a:cs typeface="Charis SIL"/>
                <a:sym typeface="Charis SIL"/>
              </a:rPr>
              <a:t>v</a:t>
            </a: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, </a:t>
            </a:r>
            <a:r>
              <a:rPr lang="en-GB" sz="2400" i="1">
                <a:latin typeface="Charis SIL"/>
                <a:ea typeface="Charis SIL"/>
                <a:cs typeface="Charis SIL"/>
                <a:sym typeface="Charis SIL"/>
              </a:rPr>
              <a:t>m</a:t>
            </a: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) AND is not an aorist suffix.</a:t>
            </a:r>
            <a:endParaRPr sz="2400">
              <a:latin typeface="Charis SIL"/>
              <a:ea typeface="Charis SIL"/>
              <a:cs typeface="Charis SIL"/>
              <a:sym typeface="Charis SIL"/>
            </a:endParaRPr>
          </a:p>
        </p:txBody>
      </p:sp>
    </p:spTree>
    <p:extLst>
      <p:ext uri="{BB962C8B-B14F-4D97-AF65-F5344CB8AC3E}">
        <p14:creationId xmlns:p14="http://schemas.microsoft.com/office/powerpoint/2010/main" val="197960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/>
        </p:nvSpPr>
        <p:spPr>
          <a:xfrm>
            <a:off x="944467" y="501199"/>
            <a:ext cx="10664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2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Connective Vowel: Seṭ – Veṭ(s) - Aniṭ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472457" y="4663217"/>
            <a:ext cx="548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3</a:t>
            </a:fld>
            <a:endParaRPr/>
          </a:p>
        </p:txBody>
      </p:sp>
      <p:graphicFrame>
        <p:nvGraphicFramePr>
          <p:cNvPr id="145" name="Google Shape;145;p21"/>
          <p:cNvGraphicFramePr/>
          <p:nvPr>
            <p:extLst/>
          </p:nvPr>
        </p:nvGraphicFramePr>
        <p:xfrm>
          <a:off x="654666" y="1455085"/>
          <a:ext cx="10953833" cy="482266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63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1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28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r</a:t>
                      </a: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oot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future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desiderative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haris SIL"/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ppp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elsewhere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8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seṭ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aṭiṭ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seṭ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8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aniṭ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pac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pakṣya-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pipakṣ-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pakta-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aniṭ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8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ṣya-/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tapsya-</a:t>
                      </a:r>
                      <a:endParaRPr sz="24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baseline="300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?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titap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ṣ-/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titaps-</a:t>
                      </a:r>
                      <a:endParaRPr sz="24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ta-/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tapta-</a:t>
                      </a:r>
                      <a:endParaRPr sz="24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8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veṭ1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takṣ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takṣ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ṣya-/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takṣya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titakṣ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ṣ-/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titakṣ-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taṣṭa-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8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veṭ2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lilap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ta-/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lapta-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8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veṭ3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tras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tras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titras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trasta-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E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28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veṭ4</a:t>
                      </a:r>
                      <a:endParaRPr sz="24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tyaj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tyaj</a:t>
                      </a:r>
                      <a:r>
                        <a:rPr lang="en-GB" sz="24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24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ṣya-/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tyakṣya-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9E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tityakṣ-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tyakta-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6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24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67" marR="91467" marT="45733" marB="45733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9E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04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44466" y="501199"/>
            <a:ext cx="10874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Nomenclature Issue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44466" y="1455306"/>
            <a:ext cx="1057125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1:</a:t>
            </a: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uc/oc – </a:t>
            </a:r>
            <a:r>
              <a:rPr lang="en-US" sz="2400" baseline="300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?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auc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be pleased’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√uc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;</a:t>
            </a:r>
          </a:p>
          <a:p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vac – vāc ‘to speak’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√vac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  <a:p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2:</a:t>
            </a:r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shine’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baseline="300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?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√us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but not distinguished from √uc-type;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clothe’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but not distinguished from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√vac-type.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en-US" sz="2400" b="1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Minimal task: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define for all morphemes their classificatory parameters regulating alternation, seṭ/aniṭ, reduplication (for verbal roots), etc.</a:t>
            </a:r>
          </a:p>
          <a:p>
            <a:pPr lvl="0"/>
            <a:endParaRPr lang="de-DE" sz="2400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Maximal task: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develop nomenclature system that includes all that parameters into morpheme name. </a:t>
            </a:r>
            <a:endParaRPr lang="de-DE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3294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44466" y="501199"/>
            <a:ext cx="10874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Nomenclature Issue</a:t>
            </a:r>
            <a:r>
              <a:rPr lang="ru-RU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Solution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44466" y="1455306"/>
            <a:ext cx="1057125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1:</a:t>
            </a: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uc/oc – </a:t>
            </a:r>
            <a:r>
              <a:rPr lang="en-US" sz="2400" baseline="300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?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auc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be pleased’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√uc(I)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//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√uc(III)</a:t>
            </a:r>
            <a:r>
              <a:rPr lang="ru-RU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variants;</a:t>
            </a:r>
          </a:p>
          <a:p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vac – vāc ‘to speak’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√uøc(I)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guṇa: uac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vac (general sandhi).</a:t>
            </a:r>
          </a:p>
          <a:p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2:</a:t>
            </a:r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shine’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√uøs(I)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distinguished from √uc-type;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clothe’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vas(II)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distinguished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from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√uøc-type.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en-US" sz="2400" b="1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Morpheme nomenclature rule:</a:t>
            </a:r>
          </a:p>
          <a:p>
            <a:pPr lvl="0"/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name of morpheme is equal to its form in </a:t>
            </a:r>
            <a:r>
              <a:rPr lang="de-DE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1st morphological position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without sandhi.</a:t>
            </a:r>
            <a:endParaRPr lang="de-DE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0675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487</Words>
  <Application>Microsoft Office PowerPoint</Application>
  <PresentationFormat>Широкоэкранный</PresentationFormat>
  <Paragraphs>108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Charis SIL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Иван</dc:creator>
  <cp:lastModifiedBy>Иван</cp:lastModifiedBy>
  <cp:revision>2</cp:revision>
  <dcterms:created xsi:type="dcterms:W3CDTF">2025-06-22T18:23:20Z</dcterms:created>
  <dcterms:modified xsi:type="dcterms:W3CDTF">2025-06-22T18:26:07Z</dcterms:modified>
</cp:coreProperties>
</file>