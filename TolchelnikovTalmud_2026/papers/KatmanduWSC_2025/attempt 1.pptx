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25"/>
  </p:notesMasterIdLst>
  <p:sldIdLst>
    <p:sldId id="256" r:id="rId2"/>
    <p:sldId id="330" r:id="rId3"/>
    <p:sldId id="331" r:id="rId4"/>
    <p:sldId id="334" r:id="rId5"/>
    <p:sldId id="338" r:id="rId6"/>
    <p:sldId id="339" r:id="rId7"/>
    <p:sldId id="336" r:id="rId8"/>
    <p:sldId id="257" r:id="rId9"/>
    <p:sldId id="323" r:id="rId10"/>
    <p:sldId id="319" r:id="rId11"/>
    <p:sldId id="340" r:id="rId12"/>
    <p:sldId id="321" r:id="rId13"/>
    <p:sldId id="278" r:id="rId14"/>
    <p:sldId id="322" r:id="rId15"/>
    <p:sldId id="342" r:id="rId16"/>
    <p:sldId id="341" r:id="rId17"/>
    <p:sldId id="320" r:id="rId18"/>
    <p:sldId id="325" r:id="rId19"/>
    <p:sldId id="326" r:id="rId20"/>
    <p:sldId id="327" r:id="rId21"/>
    <p:sldId id="343" r:id="rId22"/>
    <p:sldId id="344" r:id="rId23"/>
    <p:sldId id="283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5332" autoAdjust="0"/>
  </p:normalViewPr>
  <p:slideViewPr>
    <p:cSldViewPr snapToGrid="0">
      <p:cViewPr varScale="1">
        <p:scale>
          <a:sx n="84" d="100"/>
          <a:sy n="84" d="100"/>
        </p:scale>
        <p:origin x="44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53C81-7778-48FE-A129-AFC9CC005553}" type="datetimeFigureOut">
              <a:rPr lang="ru-RU" smtClean="0"/>
              <a:t>18.06.2025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D6D296-9ED9-42F7-B9E0-593B959751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748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D6D296-9ED9-42F7-B9E0-593B959751DB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854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C2FA-0DF0-4557-BA66-CE579EF6E45C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1768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8D96-6BDA-4DAB-9367-8F81FB46761D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3943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56AF0-67B9-441F-8031-9A1A24359B5B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935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A488C-38F9-48A1-AD35-43C81109C60D}" type="datetime1">
              <a:rPr lang="ru-RU" smtClean="0"/>
              <a:t>18.06.2025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6904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4CB89-FA66-42D0-8856-FA55E7496BE2}" type="datetime1">
              <a:rPr lang="ru-RU" smtClean="0"/>
              <a:t>18.06.2025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837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B7FEF-D577-435D-9731-334512995DC4}" type="datetime1">
              <a:rPr lang="ru-RU" smtClean="0"/>
              <a:t>18.06.2025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 smtClean="0"/>
              <a:t>Слайд </a:t>
            </a:r>
            <a:fld id="{3C564653-E189-4219-B3EA-844503865102}" type="slidenum">
              <a:rPr lang="ru-RU" smtClean="0"/>
              <a:pPr/>
              <a:t>‹#›</a:t>
            </a:fld>
            <a:r>
              <a:rPr lang="ru-RU" dirty="0" smtClean="0"/>
              <a:t> из 20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021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F514C-F0CA-4178-BF10-B0EC16BCC15C}" type="datetime1">
              <a:rPr lang="ru-RU" smtClean="0"/>
              <a:t>18.06.2025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436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0C2C-9B30-4B3D-A40F-9AE79F136AF3}" type="datetime1">
              <a:rPr lang="ru-RU" smtClean="0"/>
              <a:t>18.06.2025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428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C182C-634B-48A5-87BD-0CEC3F5AB75F}" type="datetime1">
              <a:rPr lang="ru-RU" smtClean="0"/>
              <a:t>18.06.2025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998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2A7C2-1AB5-42EE-8299-1F3BEA4B33C5}" type="datetime1">
              <a:rPr lang="ru-RU" smtClean="0"/>
              <a:t>18.06.2025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15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F6F7C-8029-4F65-ABC6-8787BC014F9A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4224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23FCE-6661-40E0-8510-5930030859F2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0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F514C-F0CA-4178-BF10-B0EC16BCC15C}" type="datetime1">
              <a:rPr lang="ru-RU" smtClean="0"/>
              <a:t>18.06.2025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64653-E189-4219-B3EA-8445038651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231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4708" y="1496832"/>
            <a:ext cx="11933382" cy="2387600"/>
          </a:xfrm>
        </p:spPr>
        <p:txBody>
          <a:bodyPr>
            <a:normAutofit/>
          </a:bodyPr>
          <a:lstStyle/>
          <a:p>
            <a:r>
              <a:rPr lang="en-US" sz="4800" dirty="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 </a:t>
            </a:r>
            <a:r>
              <a:rPr lang="en-US" sz="4800" dirty="0" err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NonPaninian</a:t>
            </a:r>
            <a:r>
              <a:rPr lang="en-US" sz="4800" dirty="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Approach to </a:t>
            </a:r>
            <a:r>
              <a:rPr lang="en-US" sz="48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Sanskrit Morphophonology</a:t>
            </a:r>
            <a:endParaRPr lang="ru-RU" sz="4800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08394" y="3657600"/>
            <a:ext cx="11086011" cy="2647814"/>
          </a:xfrm>
        </p:spPr>
        <p:txBody>
          <a:bodyPr>
            <a:normAutofit lnSpcReduction="10000"/>
          </a:bodyPr>
          <a:lstStyle/>
          <a:p>
            <a:endParaRPr lang="en-US" sz="26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algn="r"/>
            <a:r>
              <a:rPr lang="ru-RU" sz="26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ru-RU" sz="26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32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Ivan Tolchelnikov</a:t>
            </a:r>
            <a:endParaRPr lang="en-US" sz="32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algn="r"/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MSU, SZS, SRI</a:t>
            </a:r>
            <a:endParaRPr lang="ru-RU" sz="32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en-US" sz="2600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6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19th </a:t>
            </a:r>
            <a:r>
              <a:rPr lang="en-US" sz="26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WSC, 2025</a:t>
            </a:r>
            <a:endParaRPr lang="en-US" sz="26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452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2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44465" y="501199"/>
            <a:ext cx="108748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Table of Contents</a:t>
            </a:r>
            <a:br>
              <a:rPr lang="en-US" sz="3200" dirty="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944464" y="1455306"/>
            <a:ext cx="997118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1. Introducing Ourselves</a:t>
            </a:r>
            <a:endParaRPr lang="ru-RU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endParaRPr lang="ru-RU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ru-RU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2. 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Issues in the Traditional European Approaches</a:t>
            </a:r>
          </a:p>
          <a:p>
            <a:pPr lvl="0"/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3. Phonological Processes: Classification</a:t>
            </a:r>
            <a:b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4. Core Concepts: Morphological Position and Alternation Type</a:t>
            </a:r>
            <a:b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5. Goals and Achievements</a:t>
            </a:r>
            <a:endParaRPr lang="ru-R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25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3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44466" y="501199"/>
            <a:ext cx="1087482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Tasks and Issues</a:t>
            </a:r>
            <a:b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44466" y="1455306"/>
            <a:ext cx="1067276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1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Didactical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how to teach adult person precise Sanskrit grammar?</a:t>
            </a:r>
            <a:endParaRPr lang="ru-RU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endParaRPr lang="ru-RU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ru-RU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2.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Scientifical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how to verify corpus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tagging?</a:t>
            </a:r>
            <a:endParaRPr lang="ru-RU" sz="2400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endParaRPr lang="ru-RU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ru-RU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3.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Practical: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how to spellcheck scanned documents?</a:t>
            </a:r>
            <a:endParaRPr lang="ru-RU" sz="2400" dirty="0">
              <a:solidFill>
                <a:prstClr val="black"/>
              </a:solidFill>
            </a:endParaRPr>
          </a:p>
          <a:p>
            <a:pPr lvl="0"/>
            <a:endParaRPr lang="en-US" sz="2400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endParaRPr lang="ru-RU" sz="2400" dirty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⇒ Same issues 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in western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grammars:</a:t>
            </a:r>
          </a:p>
          <a:p>
            <a:pPr lvl="0"/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1.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Ambiguous nomenclature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;</a:t>
            </a:r>
          </a:p>
          <a:p>
            <a:pPr lvl="0"/>
            <a:endParaRPr lang="en-US" sz="2400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2.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Vague rules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  <a:endParaRPr lang="ru-RU" sz="2400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7535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4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44466" y="501199"/>
            <a:ext cx="10874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Nomenclature Issue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44466" y="1455306"/>
            <a:ext cx="1057125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 1:</a:t>
            </a: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uc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uc/oc – </a:t>
            </a:r>
            <a:r>
              <a:rPr lang="en-US" sz="2400" baseline="300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?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auc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be pleased’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√uc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;</a:t>
            </a:r>
          </a:p>
          <a:p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uc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vac – vāc ‘to speak’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√vac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</a:p>
          <a:p>
            <a:endParaRPr lang="en-US" sz="2400" b="1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2:</a:t>
            </a:r>
            <a:endParaRPr lang="en-US" sz="2400" b="1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vās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shine’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baseline="300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?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√us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but not distinguished from √uc-type;</a:t>
            </a:r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vas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vās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clothe’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but not distinguished from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√vac-type.</a:t>
            </a:r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en-US" sz="2400" b="1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de-DE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Minimal task: </a:t>
            </a:r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define for all morphemes their classificatory parameters regulating alternation, seṭ/aniṭ, reduplication (for verbal roots), etc.</a:t>
            </a:r>
          </a:p>
          <a:p>
            <a:pPr lvl="0"/>
            <a:endParaRPr lang="de-DE" sz="2400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de-DE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Maximal task: </a:t>
            </a:r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develop nomenclature system that includes all that parameters into morpheme name. </a:t>
            </a:r>
            <a:endParaRPr lang="de-DE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1428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44466" y="501199"/>
            <a:ext cx="1086856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Rule Issue (1)</a:t>
            </a:r>
            <a:r>
              <a:rPr lang="en-US" sz="3200" dirty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3200" dirty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endParaRPr lang="en-US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ru-RU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z="1600" smtClean="0">
                <a:solidFill>
                  <a:schemeClr val="tx1"/>
                </a:solidFill>
              </a:rPr>
              <a:t>5</a:t>
            </a:fld>
            <a:endParaRPr lang="ru-RU" sz="1600" dirty="0"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456217"/>
              </p:ext>
            </p:extLst>
          </p:nvPr>
        </p:nvGraphicFramePr>
        <p:xfrm>
          <a:off x="1825080" y="4170174"/>
          <a:ext cx="8683172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96309">
                  <a:extLst>
                    <a:ext uri="{9D8B030D-6E8A-4147-A177-3AD203B41FA5}">
                      <a16:colId xmlns:a16="http://schemas.microsoft.com/office/drawing/2014/main" val="853765172"/>
                    </a:ext>
                  </a:extLst>
                </a:gridCol>
                <a:gridCol w="591457">
                  <a:extLst>
                    <a:ext uri="{9D8B030D-6E8A-4147-A177-3AD203B41FA5}">
                      <a16:colId xmlns:a16="http://schemas.microsoft.com/office/drawing/2014/main" val="407130635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972072418"/>
                    </a:ext>
                  </a:extLst>
                </a:gridCol>
                <a:gridCol w="522515">
                  <a:extLst>
                    <a:ext uri="{9D8B030D-6E8A-4147-A177-3AD203B41FA5}">
                      <a16:colId xmlns:a16="http://schemas.microsoft.com/office/drawing/2014/main" val="889006194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1973149064"/>
                    </a:ext>
                  </a:extLst>
                </a:gridCol>
                <a:gridCol w="1515291">
                  <a:extLst>
                    <a:ext uri="{9D8B030D-6E8A-4147-A177-3AD203B41FA5}">
                      <a16:colId xmlns:a16="http://schemas.microsoft.com/office/drawing/2014/main" val="135735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</a:t>
                      </a:r>
                      <a:endParaRPr lang="ru-RU" sz="2400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</a:t>
                      </a:r>
                      <a:endParaRPr lang="ru-RU" sz="2400" dirty="0">
                        <a:solidFill>
                          <a:srgbClr val="7030A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√ji “to win”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</a:t>
                      </a:r>
                      <a:r>
                        <a:rPr lang="en-US" sz="2400" b="1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e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</a:t>
                      </a:r>
                      <a:endParaRPr lang="ru-RU"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52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√kṛ “to make”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</a:t>
                      </a:r>
                      <a:r>
                        <a:rPr lang="en-US" sz="2400" b="1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ar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 / 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</a:t>
                      </a:r>
                      <a:r>
                        <a:rPr lang="en-US" sz="2400" b="1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ar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</a:t>
                      </a:r>
                      <a:endParaRPr lang="ru-RU"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29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√bhū “to be”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bh</a:t>
                      </a:r>
                      <a:r>
                        <a:rPr lang="en-US" sz="2400" b="1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av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</a:t>
                      </a:r>
                      <a:endParaRPr lang="ru-RU"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97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uøc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“to speak”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</a:t>
                      </a:r>
                      <a:r>
                        <a:rPr lang="en-US" sz="2400" b="1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kṣya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</a:t>
                      </a:r>
                      <a:endParaRPr lang="ru-RU"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68411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944466" y="1455306"/>
            <a:ext cx="1117133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Whitney 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W.D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., 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Sanskrit Grammar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(1896)</a:t>
            </a:r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932. The tense-sign of this future &lt;…&gt;The root has the 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guṇa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-strengthening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In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the pair of morphemes “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+</a:t>
            </a:r>
            <a:r>
              <a:rPr lang="en-US" sz="2400">
                <a:solidFill>
                  <a:srgbClr val="7030A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B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”:</a:t>
            </a:r>
          </a:p>
          <a:p>
            <a:pPr lvl="0"/>
            <a:r>
              <a:rPr lang="en-US" sz="2400">
                <a:solidFill>
                  <a:srgbClr val="FF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if 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= verbal root;</a:t>
            </a:r>
          </a:p>
          <a:p>
            <a:pPr lvl="0"/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if </a:t>
            </a:r>
            <a:r>
              <a:rPr lang="en-US" sz="2400">
                <a:solidFill>
                  <a:srgbClr val="7030A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B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= -sya-;</a:t>
            </a:r>
          </a:p>
          <a:p>
            <a:pPr lvl="0"/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turns </a:t>
            </a:r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guṇa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grade.</a:t>
            </a:r>
            <a:endParaRPr lang="en-US" sz="2400" dirty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82689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z="1600" smtClean="0">
                <a:solidFill>
                  <a:schemeClr val="tx1"/>
                </a:solidFill>
              </a:rPr>
              <a:t>6</a:t>
            </a:fld>
            <a:endParaRPr lang="ru-RU" sz="1600" dirty="0"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129444"/>
              </p:ext>
            </p:extLst>
          </p:nvPr>
        </p:nvGraphicFramePr>
        <p:xfrm>
          <a:off x="1685645" y="1119145"/>
          <a:ext cx="8683172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4558">
                  <a:extLst>
                    <a:ext uri="{9D8B030D-6E8A-4147-A177-3AD203B41FA5}">
                      <a16:colId xmlns:a16="http://schemas.microsoft.com/office/drawing/2014/main" val="853765172"/>
                    </a:ext>
                  </a:extLst>
                </a:gridCol>
                <a:gridCol w="353208">
                  <a:extLst>
                    <a:ext uri="{9D8B030D-6E8A-4147-A177-3AD203B41FA5}">
                      <a16:colId xmlns:a16="http://schemas.microsoft.com/office/drawing/2014/main" val="4071306353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3972072418"/>
                    </a:ext>
                  </a:extLst>
                </a:gridCol>
                <a:gridCol w="522515">
                  <a:extLst>
                    <a:ext uri="{9D8B030D-6E8A-4147-A177-3AD203B41FA5}">
                      <a16:colId xmlns:a16="http://schemas.microsoft.com/office/drawing/2014/main" val="889006194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1973149064"/>
                    </a:ext>
                  </a:extLst>
                </a:gridCol>
                <a:gridCol w="1515291">
                  <a:extLst>
                    <a:ext uri="{9D8B030D-6E8A-4147-A177-3AD203B41FA5}">
                      <a16:colId xmlns:a16="http://schemas.microsoft.com/office/drawing/2014/main" val="135735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</a:t>
                      </a:r>
                      <a:endParaRPr lang="ru-RU" sz="2400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</a:t>
                      </a:r>
                      <a:endParaRPr lang="ru-RU" sz="2400" dirty="0">
                        <a:solidFill>
                          <a:srgbClr val="7030A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√dhau “to run”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dh</a:t>
                      </a:r>
                      <a:r>
                        <a:rPr lang="en-US" sz="2400" b="1" dirty="0" err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āv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</a:t>
                      </a:r>
                      <a:endParaRPr lang="ru-RU" sz="24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52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tai</a:t>
                      </a:r>
                      <a:r>
                        <a:rPr lang="en-US" sz="2400" b="1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“to stretch”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</a:t>
                      </a:r>
                      <a:r>
                        <a:rPr lang="en-US" sz="2400" b="1" dirty="0" err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āy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</a:t>
                      </a:r>
                      <a:endParaRPr lang="ru-RU" sz="24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3299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√hiṃs “to injure”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h</a:t>
                      </a:r>
                      <a: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ṃsiṣya-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zero</a:t>
                      </a:r>
                      <a:endParaRPr lang="ru-RU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97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jṛmbh “to gape”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</a:t>
                      </a:r>
                      <a:r>
                        <a:rPr lang="en-US" sz="2400" b="1" dirty="0" err="1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ṛ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mbhiṣya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zero</a:t>
                      </a:r>
                      <a:endParaRPr lang="ru-RU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6841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944466" y="3621885"/>
                <a:ext cx="10868560" cy="28419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400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from:</a:t>
                </a:r>
                <a:endParaRPr lang="en-US" sz="2400" b="1" dirty="0">
                  <a:solidFill>
                    <a:prstClr val="black"/>
                  </a:solidFill>
                  <a:latin typeface="Charis SIL" panose="02000500060000020004" pitchFamily="2" charset="-52"/>
                  <a:ea typeface="Charis SIL" panose="02000500060000020004" pitchFamily="2" charset="-52"/>
                  <a:cs typeface="Charis SIL" panose="02000500060000020004" pitchFamily="2" charset="-52"/>
                </a:endParaRPr>
              </a:p>
              <a:p>
                <a:pPr lvl="0"/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Whitney W.D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., </a:t>
                </a:r>
                <a:r>
                  <a:rPr lang="en-US" sz="2400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The Roots, Verb-Forms and Primary Derivatives of the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Sanskrit Language (1885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):</a:t>
                </a:r>
                <a:endParaRPr lang="ru-RU" sz="2400" dirty="0">
                  <a:solidFill>
                    <a:prstClr val="black"/>
                  </a:solidFill>
                  <a:latin typeface="Charis SIL" panose="02000500060000020004" pitchFamily="2" charset="-52"/>
                  <a:ea typeface="Charis SIL" panose="02000500060000020004" pitchFamily="2" charset="-52"/>
                  <a:cs typeface="Charis SIL" panose="02000500060000020004" pitchFamily="2" charset="-52"/>
                </a:endParaRPr>
              </a:p>
              <a:p>
                <a:pPr lvl="0"/>
                <a:r>
                  <a:rPr lang="en-US" sz="2400" b="1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≈820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verbal 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roots;</a:t>
                </a:r>
                <a:r>
                  <a:rPr lang="en-US" sz="2400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/>
                </a:r>
                <a:br>
                  <a:rPr lang="en-US" sz="2400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</a:br>
                <a:r>
                  <a:rPr lang="en-US" sz="2400" b="1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≈110 </a:t>
                </a:r>
                <a:r>
                  <a:rPr lang="en-US" sz="2400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do not have guṇa-grade </a:t>
                </a:r>
                <a:r>
                  <a:rPr lang="en-US" sz="2400" b="1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→ </a:t>
                </a:r>
                <a:r>
                  <a:rPr lang="en-US" sz="2400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110 exceptions in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the 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rule;</a:t>
                </a:r>
                <a:endParaRPr lang="en-US" sz="2400" dirty="0">
                  <a:solidFill>
                    <a:prstClr val="black"/>
                  </a:solidFill>
                  <a:latin typeface="Charis SIL" panose="02000500060000020004" pitchFamily="2" charset="-52"/>
                  <a:ea typeface="Charis SIL" panose="02000500060000020004" pitchFamily="2" charset="-52"/>
                  <a:cs typeface="Charis SIL" panose="02000500060000020004" pitchFamily="2" charset="-52"/>
                </a:endParaRPr>
              </a:p>
              <a:p>
                <a:pPr lvl="0"/>
                <a:endParaRPr lang="en-US" sz="2400" b="1" dirty="0">
                  <a:solidFill>
                    <a:prstClr val="black"/>
                  </a:solidFill>
                  <a:latin typeface="Charis SIL" panose="02000500060000020004" pitchFamily="2" charset="-52"/>
                  <a:ea typeface="Charis SIL" panose="02000500060000020004" pitchFamily="2" charset="-52"/>
                  <a:cs typeface="Charis SIL" panose="02000500060000020004" pitchFamily="2" charset="-52"/>
                </a:endParaRP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haris SIL" panose="02000500060000020004" pitchFamily="2" charset="-52"/>
                            <a:cs typeface="Charis SIL" panose="02000500060000020004" pitchFamily="2" charset="-52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haris SIL" panose="02000500060000020004" pitchFamily="2" charset="-52"/>
                            <a:cs typeface="Charis SIL" panose="02000500060000020004" pitchFamily="2" charset="-52"/>
                          </a:rPr>
                          <m:t>𝟖𝟐𝟎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haris SIL" panose="02000500060000020004" pitchFamily="2" charset="-52"/>
                            <a:cs typeface="Charis SIL" panose="02000500060000020004" pitchFamily="2" charset="-52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haris SIL" panose="02000500060000020004" pitchFamily="2" charset="-52"/>
                            <a:cs typeface="Charis SIL" panose="02000500060000020004" pitchFamily="2" charset="-52"/>
                          </a:rPr>
                          <m:t>𝟏𝟏𝟎</m:t>
                        </m:r>
                      </m:num>
                      <m:den>
                        <m:r>
                          <a:rPr lang="en-US" sz="24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haris SIL" panose="02000500060000020004" pitchFamily="2" charset="-52"/>
                            <a:cs typeface="Charis SIL" panose="02000500060000020004" pitchFamily="2" charset="-52"/>
                          </a:rPr>
                          <m:t>𝟖𝟐𝟎</m:t>
                        </m:r>
                      </m:den>
                    </m:f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haris SIL" panose="02000500060000020004" pitchFamily="2" charset="-52"/>
                      </a:rPr>
                      <m:t>×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haris SIL" panose="02000500060000020004" pitchFamily="2" charset="-52"/>
                      </a:rPr>
                      <m:t>𝟏𝟎𝟎</m:t>
                    </m:r>
                    <m:r>
                      <a:rPr lang="en-US" sz="24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haris SIL" panose="02000500060000020004" pitchFamily="2" charset="-52"/>
                      </a:rPr>
                      <m:t>%</m:t>
                    </m:r>
                  </m:oMath>
                </a14:m>
                <a:r>
                  <a:rPr lang="en-US" sz="2400" b="1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 ≈ </a:t>
                </a:r>
                <a:r>
                  <a:rPr lang="en-US" sz="2400" b="1" dirty="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8</a:t>
                </a:r>
                <a:r>
                  <a:rPr lang="ru-RU" sz="2400" b="1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7</a:t>
                </a:r>
                <a:r>
                  <a:rPr lang="en-US" sz="2400" b="1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% 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efficiency.</a:t>
                </a:r>
                <a:endParaRPr lang="en-US" sz="2400" dirty="0">
                  <a:solidFill>
                    <a:prstClr val="black"/>
                  </a:solidFill>
                  <a:latin typeface="Charis SIL" panose="02000500060000020004" pitchFamily="2" charset="-52"/>
                  <a:ea typeface="Charis SIL" panose="02000500060000020004" pitchFamily="2" charset="-52"/>
                  <a:cs typeface="Charis SIL" panose="02000500060000020004" pitchFamily="2" charset="-52"/>
                </a:endParaRPr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66" y="3621885"/>
                <a:ext cx="10868560" cy="2841932"/>
              </a:xfrm>
              <a:prstGeom prst="rect">
                <a:avLst/>
              </a:prstGeom>
              <a:blipFill>
                <a:blip r:embed="rId2"/>
                <a:stretch>
                  <a:fillRect l="-897" t="-1717" r="-617" b="-193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944466" y="501199"/>
            <a:ext cx="1086856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Rule Issue (2)</a:t>
            </a:r>
            <a:r>
              <a:rPr lang="en-US" sz="3200" dirty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3200" dirty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endParaRPr lang="en-US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ru-RU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3721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7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44465" y="1455306"/>
            <a:ext cx="1015896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de-DE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Collections of empyrical data: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Whitney W.D., The roots, verb-forms, and primary derivatives of the Sanskrit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language (1885);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Digital Corpus of Sanskrit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by O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Hellwig (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2010-2021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);</a:t>
            </a: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etc.</a:t>
            </a:r>
          </a:p>
          <a:p>
            <a:pPr lvl="0"/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de-DE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Minimal task: </a:t>
            </a:r>
            <a:r>
              <a:rPr lang="de-DE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develop a grammar with minimal number of exceptions and their </a:t>
            </a:r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comprehensive</a:t>
            </a:r>
            <a:r>
              <a:rPr lang="ru-RU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lists as generalization of that data for Classical Sanskrit using morpheme classificatory parameters.</a:t>
            </a:r>
            <a:endParaRPr lang="de-DE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endParaRPr lang="de-DE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de-DE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Maximal task: </a:t>
            </a:r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also generalizing ārṣa/archaic forms (Vedic Sanskrit etc.).</a:t>
            </a:r>
            <a:endParaRPr lang="de-DE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44466" y="501199"/>
            <a:ext cx="108685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Rule Issue (</a:t>
            </a:r>
            <a:r>
              <a:rPr lang="ru-RU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)</a:t>
            </a:r>
            <a:endParaRPr lang="ru-RU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1746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57435" y="1387736"/>
            <a:ext cx="669636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«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Morphophonological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Classification of the Ancient Indian Language Verbal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Roots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»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(1975)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</a:t>
            </a:r>
          </a:p>
          <a:p>
            <a:endParaRPr lang="ru-RU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Critical analysis of Whitney’s and Vaiyākaraṇas’ principles for verbal root nomemclature and rule formulation;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Original morpheme classification regarding alternation parameters;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Sketch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of seṭ-veṭ-aniṭ parameters.</a:t>
            </a:r>
            <a:endParaRPr lang="ru-RU" sz="2400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2" name="AutoShape 2" descr="Зализняк Андрей Анатольевич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66" y="1155203"/>
            <a:ext cx="3368328" cy="4799480"/>
          </a:xfrm>
          <a:prstGeom prst="rect">
            <a:avLst/>
          </a:prstGeom>
        </p:spPr>
      </p:pic>
      <p:sp>
        <p:nvSpPr>
          <p:cNvPr id="8" name="AutoShape 4" descr="Зализняк, Андрей Анатольевич — Википедия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z="1600" smtClean="0">
                <a:solidFill>
                  <a:schemeClr val="tx1"/>
                </a:solidFill>
              </a:rPr>
              <a:t>8</a:t>
            </a:fld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4466" y="501199"/>
            <a:ext cx="916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Andrei Zalizniak: Structuralism in Sanskritology</a:t>
            </a:r>
            <a:endParaRPr lang="ru-RU" sz="3200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0998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Morphophonological Processes</a:t>
            </a:r>
            <a:endParaRPr lang="ru-RU" sz="3200" b="1"/>
          </a:p>
        </p:txBody>
      </p:sp>
      <p:sp>
        <p:nvSpPr>
          <p:cNvPr id="32" name="Прямоугольник 31"/>
          <p:cNvSpPr/>
          <p:nvPr/>
        </p:nvSpPr>
        <p:spPr>
          <a:xfrm>
            <a:off x="944464" y="1361601"/>
            <a:ext cx="1078598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How to transform a chain of morphemes A+B+…+N into actual word AB…N?</a:t>
            </a:r>
          </a:p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E.g., √yuj + -ay- + -s- + -ta- + -m  → yuyojayiṣitam;</a:t>
            </a:r>
          </a:p>
          <a:p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caus. desid. ppp. n. N. sg. 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“desired to make connected/used”. 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ru-RU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rocesses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that can occur during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this transformation: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(Which phoneme is alternated in morpheme?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How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many grades does it have? Which grade is expected in a morpheme preceding this morpheme?);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Appearance of the connective vowel i/ī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Reduplication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(for verbal roots);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Shift of the alternating element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; e.g., atypical guṇa in stheya-, while sthi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sthā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sthā expected, but not *sthi </a:t>
            </a:r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sthe </a:t>
            </a:r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sthai;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+ purely phonological changes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sandhi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0534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 Series: Verbal Roots</a:t>
            </a:r>
            <a:endParaRPr lang="ru-RU" sz="320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064970"/>
              </p:ext>
            </p:extLst>
          </p:nvPr>
        </p:nvGraphicFramePr>
        <p:xfrm>
          <a:off x="2025437" y="1152443"/>
          <a:ext cx="7920000" cy="536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89915958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61813279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0836706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969557523"/>
                    </a:ext>
                  </a:extLst>
                </a:gridCol>
              </a:tblGrid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Series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Zero</a:t>
                      </a:r>
                      <a:r>
                        <a:rPr lang="en-US" sz="20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000" b="0" baseline="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</a:t>
                      </a:r>
                      <a:r>
                        <a:rPr lang="en-US" sz="2000" b="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rade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 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rade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 </a:t>
                      </a:r>
                      <a:r>
                        <a:rPr lang="en-US" sz="2000" b="0" baseline="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</a:t>
                      </a:r>
                      <a:r>
                        <a:rPr lang="en-US" sz="2000" b="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rade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3551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ø</a:t>
                      </a:r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</a:t>
                      </a:r>
                      <a:endParaRPr lang="en-US" sz="2000" dirty="0" smtClean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</a:t>
                      </a:r>
                      <a:endParaRPr lang="ru-RU" sz="2000" i="1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</a:t>
                      </a:r>
                      <a:endParaRPr lang="ru-RU" sz="2000" b="0" i="1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70484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sth</a:t>
                      </a:r>
                      <a:r>
                        <a:rPr lang="en-US" sz="2000" b="1" baseline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ø̄</a:t>
                      </a:r>
                      <a:endParaRPr lang="ru-RU" sz="2000" b="1" dirty="0">
                        <a:solidFill>
                          <a:srgbClr val="7030A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sth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sth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36950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e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ai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59783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ī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e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ai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20945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U1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st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u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st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o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st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au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570628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U2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bh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ū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bh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o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bh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au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720776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ṛ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ar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ār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023082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</a:t>
                      </a:r>
                      <a:r>
                        <a:rPr lang="en-US" sz="2000" b="1" dirty="0" err="1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ṝ</a:t>
                      </a:r>
                      <a:endParaRPr lang="ru-RU" sz="2000" b="1" dirty="0">
                        <a:solidFill>
                          <a:srgbClr val="7030A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ar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ār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48710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L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ḷ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al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āl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44363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</a:t>
                      </a:r>
                      <a:r>
                        <a:rPr lang="en-US" sz="2000" b="1" baseline="0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</a:t>
                      </a:r>
                      <a:r>
                        <a:rPr lang="en-US" sz="2000" baseline="0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̥</a:t>
                      </a:r>
                      <a:endParaRPr lang="ru-RU" sz="2000" dirty="0">
                        <a:solidFill>
                          <a:srgbClr val="7030A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am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ām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22693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ś</a:t>
                      </a:r>
                      <a:r>
                        <a:rPr lang="en-US" sz="2000" b="1" baseline="0" dirty="0" err="1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</a:t>
                      </a:r>
                      <a:r>
                        <a:rPr lang="en-US" sz="2000" baseline="0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̥̄</a:t>
                      </a:r>
                      <a:endParaRPr lang="ru-RU" sz="2000" dirty="0">
                        <a:solidFill>
                          <a:srgbClr val="7030A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ś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am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ś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ām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264883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</a:t>
                      </a:r>
                      <a:r>
                        <a:rPr lang="en-US" sz="2000" b="1" baseline="0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</a:t>
                      </a:r>
                      <a:r>
                        <a:rPr lang="en-US" sz="2000" baseline="0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̥</a:t>
                      </a:r>
                      <a:endParaRPr lang="ru-RU" sz="2000" dirty="0">
                        <a:solidFill>
                          <a:srgbClr val="7030A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an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ān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276487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</a:t>
                      </a:r>
                      <a:r>
                        <a:rPr lang="en-US" sz="2000" b="1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</a:t>
                      </a:r>
                      <a:r>
                        <a:rPr lang="en-US" sz="2000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̥̄</a:t>
                      </a:r>
                      <a:endParaRPr lang="ru-RU" sz="2000" dirty="0">
                        <a:solidFill>
                          <a:srgbClr val="7030A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</a:t>
                      </a:r>
                      <a:r>
                        <a:rPr lang="en-US" sz="2000" b="1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an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</a:t>
                      </a:r>
                      <a:r>
                        <a:rPr lang="en-US" sz="2000" b="1" dirty="0" err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ān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276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16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 Series: Affixes</a:t>
            </a:r>
            <a:endParaRPr lang="ru-RU" sz="320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62141"/>
              </p:ext>
            </p:extLst>
          </p:nvPr>
        </p:nvGraphicFramePr>
        <p:xfrm>
          <a:off x="2025437" y="1152443"/>
          <a:ext cx="7920000" cy="5364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899159583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618132790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08367062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3969557523"/>
                    </a:ext>
                  </a:extLst>
                </a:gridCol>
              </a:tblGrid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Series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Zero</a:t>
                      </a:r>
                      <a:r>
                        <a:rPr lang="en-US" sz="20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000" b="0" baseline="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</a:t>
                      </a:r>
                      <a:r>
                        <a:rPr lang="en-US" sz="2000" b="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rade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0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 </a:t>
                      </a: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rade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 </a:t>
                      </a:r>
                      <a:r>
                        <a:rPr lang="en-US" sz="2000" b="0" baseline="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</a:t>
                      </a:r>
                      <a:r>
                        <a:rPr lang="en-US" sz="2000" b="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rade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3551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yuñ</a:t>
                      </a:r>
                      <a:r>
                        <a:rPr lang="en-US" sz="2000" b="1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ø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janti</a:t>
                      </a:r>
                      <a:endParaRPr lang="en-US" sz="2000" b="0" dirty="0" smtClean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yun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kti</a:t>
                      </a:r>
                      <a:endParaRPr lang="ru-RU" sz="2000" b="0" i="1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i="1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770484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jān</a:t>
                      </a:r>
                      <a:r>
                        <a:rPr lang="en-US" sz="2000" b="1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ø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̄anti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jān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ti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36950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buddh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ḥ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buddh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e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ḥ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ai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rāgyam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59783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bhagavat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ī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209459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U1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kṛṇ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anti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kṛṇ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o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ti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au</a:t>
                      </a:r>
                      <a:r>
                        <a:rPr lang="en-US" sz="20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paniṣadaḥ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570628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U2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tan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ū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ḥ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720776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kart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ṛ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bhis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kart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ar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kart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ār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am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023082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48710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L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44363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522693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264883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N1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rāj</a:t>
                      </a:r>
                      <a:r>
                        <a:rPr lang="en-US" sz="2000" b="1" baseline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</a:t>
                      </a:r>
                      <a:r>
                        <a:rPr lang="en-US" sz="2000" b="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̥ā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he rāj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an</a:t>
                      </a:r>
                      <a:endParaRPr lang="ru-RU" sz="2000" b="1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rāj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ān</a:t>
                      </a:r>
                      <a:r>
                        <a:rPr lang="en-US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am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276487"/>
                  </a:ext>
                </a:extLst>
              </a:tr>
              <a:tr h="3442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N2</a:t>
                      </a:r>
                      <a:endParaRPr lang="ru-RU" sz="200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–</a:t>
                      </a:r>
                      <a:endParaRPr lang="ru-RU" sz="2000" b="0" dirty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 marL="78404" marR="78404" marT="39202" marB="39202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276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55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Alternation: </a:t>
            </a:r>
            <a:r>
              <a:rPr lang="en-US" sz="32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Morphological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Position (1)</a:t>
            </a:r>
            <a:endParaRPr lang="en-US" sz="3200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32" name="Прямоугольник 31"/>
          <p:cNvSpPr/>
          <p:nvPr/>
        </p:nvSpPr>
        <p:spPr>
          <a:xfrm>
            <a:off x="944464" y="1640275"/>
            <a:ext cx="1054214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44466" y="1361600"/>
            <a:ext cx="1072502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Cf.:</a:t>
            </a:r>
          </a:p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√i + -ti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ti;</a:t>
            </a:r>
          </a:p>
          <a:p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√i + -anti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y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anti;</a:t>
            </a:r>
          </a:p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√kṛ+-nu-+-ti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kṛṇ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ti;</a:t>
            </a:r>
          </a:p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√kṛ+-nu-+-te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kṛṇ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anti;</a:t>
            </a:r>
          </a:p>
          <a:p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⇒ -ti makes preceding morpheme guṇa, -anti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zero.</a:t>
            </a:r>
          </a:p>
          <a:p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Morphological position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the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expectation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of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some grade in every preceding morpheme with the certain following morpheme.</a:t>
            </a:r>
          </a:p>
          <a:p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/>
            </a:r>
            <a:b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</a:b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The expectation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may 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not be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met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</a:t>
            </a:r>
          </a:p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√as (øs) + -anti → 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ø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santi;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ad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+ -anti → 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danti, not *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ø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danti as expected.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39317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944466" y="1379897"/>
            <a:ext cx="1021992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1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dirty="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expectation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of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zero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grade:</a:t>
            </a:r>
            <a:endParaRPr lang="en-US" sz="2400" b="1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ppp. -(1)ta-; e.g., k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ṛ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ta-, 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ta-, but c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ar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ita-, s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vita-, dh</a:t>
            </a:r>
            <a:r>
              <a:rPr lang="en-US" sz="2400" b="1" smtClean="0">
                <a:solidFill>
                  <a:schemeClr val="accent4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āv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ita-;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3.pl.P. -(1)anti-;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e.g., 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ø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santi, 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y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anti, but 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danti, bh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ā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nti;</a:t>
            </a:r>
            <a:endParaRPr lang="en-US" sz="2400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1"/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etc</a:t>
            </a:r>
            <a:r>
              <a:rPr lang="en-US" sz="2400" dirty="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</a:p>
          <a:p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dirty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expectation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of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guṇa grade:</a:t>
            </a:r>
            <a:endParaRPr lang="en-US" sz="2400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future -(2)sya-;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e.g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., k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ar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iṣya-, bh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av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iṣya-, but j</a:t>
            </a:r>
            <a:r>
              <a:rPr lang="en-US" sz="2400" b="1" smtClean="0">
                <a:solidFill>
                  <a:schemeClr val="accent1">
                    <a:lumMod val="50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ṛ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mbhiṣya-, dh</a:t>
            </a:r>
            <a:r>
              <a:rPr lang="en-US" sz="2400" b="1" smtClean="0">
                <a:solidFill>
                  <a:schemeClr val="accent4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āv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iṣya-;</a:t>
            </a:r>
            <a:endParaRPr lang="en-US" sz="2400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3.sg.P. -(2)ti;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e.g., 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sti, 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tti, 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ti, but 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ī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ṭṭi,</a:t>
            </a:r>
          </a:p>
          <a:p>
            <a:pPr lvl="1"/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except U1 series: cf. st</a:t>
            </a:r>
            <a:r>
              <a:rPr lang="en-US" sz="2400" b="1" smtClean="0">
                <a:solidFill>
                  <a:schemeClr val="accent4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au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ti, so it is actually -(2/3)ti;</a:t>
            </a:r>
            <a:endParaRPr lang="en-US" sz="2400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1"/>
            <a:r>
              <a:rPr lang="en-US" sz="2400" dirty="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etc.</a:t>
            </a:r>
          </a:p>
          <a:p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expectation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of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vṛddhi grade:</a:t>
            </a:r>
            <a:endParaRPr lang="en-US" sz="2400" b="1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aorist 4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⇔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-(3)s-;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e.g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., ak</a:t>
            </a:r>
            <a:r>
              <a:rPr lang="en-US" sz="2400" b="1" smtClean="0">
                <a:solidFill>
                  <a:schemeClr val="accent4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ār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ṣ-, a</a:t>
            </a:r>
            <a:r>
              <a:rPr lang="en-US" sz="2400" b="1" smtClean="0">
                <a:solidFill>
                  <a:schemeClr val="accent4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nai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ṣ-,</a:t>
            </a:r>
          </a:p>
          <a:p>
            <a:pPr lvl="1"/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with many exceptions, so it is actually -(1/2/3)s-;</a:t>
            </a:r>
          </a:p>
          <a:p>
            <a:pPr lvl="1"/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etc.</a:t>
            </a:r>
            <a:endParaRPr lang="en-US" sz="2400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z="1600" smtClean="0">
                <a:solidFill>
                  <a:schemeClr val="tx1"/>
                </a:solidFill>
              </a:rPr>
              <a:t>13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Alternation: </a:t>
            </a:r>
            <a:r>
              <a:rPr lang="en-US" sz="32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Morphological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Position (2)</a:t>
            </a:r>
            <a:endParaRPr lang="en-US" sz="3200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7214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944466" y="507846"/>
            <a:ext cx="111277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Types</a:t>
            </a:r>
            <a:endParaRPr lang="ru-RU" sz="2400" dirty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951077"/>
              </p:ext>
            </p:extLst>
          </p:nvPr>
        </p:nvGraphicFramePr>
        <p:xfrm>
          <a:off x="1096900" y="2101578"/>
          <a:ext cx="10444127" cy="448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4127">
                  <a:extLst>
                    <a:ext uri="{9D8B030D-6E8A-4147-A177-3AD203B41FA5}">
                      <a16:colId xmlns:a16="http://schemas.microsoft.com/office/drawing/2014/main" val="3460390914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188704736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257614615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023461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MP</a:t>
                      </a:r>
                    </a:p>
                    <a:p>
                      <a:pPr algn="l"/>
                      <a:r>
                        <a:rPr lang="en-US" sz="2400" b="1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Type</a:t>
                      </a:r>
                      <a:endParaRPr lang="ru-RU" sz="2400" b="1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1</a:t>
                      </a:r>
                    </a:p>
                    <a:p>
                      <a:pPr algn="ctr"/>
                      <a:r>
                        <a:rPr lang="en-US" sz="24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ppp. -(1)</a:t>
                      </a:r>
                      <a:r>
                        <a:rPr lang="en-US" sz="2400" b="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ta-</a:t>
                      </a:r>
                      <a:endParaRPr lang="ru-RU" sz="2400" b="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2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future -(2)</a:t>
                      </a:r>
                      <a:r>
                        <a:rPr lang="en-US" sz="2400" b="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sya-</a:t>
                      </a:r>
                      <a:endParaRPr lang="ru-RU" sz="2400" b="0" kern="1200" smtClean="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3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aorist</a:t>
                      </a:r>
                      <a:r>
                        <a:rPr lang="en-US" sz="2400" b="0" baseline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5</a:t>
                      </a:r>
                      <a:r>
                        <a:rPr lang="en-US" sz="24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ru-RU" sz="24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⇔</a:t>
                      </a:r>
                      <a:r>
                        <a:rPr lang="en-US" sz="24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400" b="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-(/3)is-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7890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endParaRPr lang="ru-RU" sz="2400" b="1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zero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</a:t>
                      </a:r>
                      <a:endParaRPr lang="ru-RU" sz="2400" b="1" kern="120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</a:t>
                      </a:r>
                      <a:endParaRPr lang="ru-RU" sz="2400" b="1" kern="1200">
                        <a:solidFill>
                          <a:schemeClr val="accent4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6111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√vṛ(I)</a:t>
                      </a:r>
                      <a:endParaRPr lang="ru-RU" sz="2400" kern="1200" smtClean="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</a:t>
                      </a:r>
                      <a:r>
                        <a:rPr lang="en-US" sz="2400" b="1" kern="12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ṛ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ta-</a:t>
                      </a:r>
                      <a:endParaRPr lang="ru-RU" sz="2400" kern="1200" smtClean="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</a:t>
                      </a:r>
                      <a:r>
                        <a:rPr lang="en-US" sz="24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ar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iṣya-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</a:t>
                      </a:r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ār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8830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II</a:t>
                      </a:r>
                      <a:endParaRPr lang="ru-RU" sz="2400" b="1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</a:t>
                      </a:r>
                      <a:endParaRPr lang="ru-RU" sz="2400" b="1" kern="1200">
                        <a:solidFill>
                          <a:schemeClr val="accent6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</a:t>
                      </a:r>
                      <a:endParaRPr lang="ru-RU" sz="2400" b="1" kern="120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</a:t>
                      </a:r>
                      <a:endParaRPr lang="ru-RU" sz="2400" b="1" kern="1200">
                        <a:solidFill>
                          <a:schemeClr val="accent4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92014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√car(II)</a:t>
                      </a:r>
                      <a:endParaRPr lang="ru-RU" sz="2400" kern="1200" smtClean="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c</a:t>
                      </a:r>
                      <a:r>
                        <a:rPr lang="en-US" sz="24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ar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ita-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c</a:t>
                      </a:r>
                      <a:r>
                        <a:rPr lang="en-US" sz="2400" b="1" kern="120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ar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iṣya-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c</a:t>
                      </a:r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ār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16260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III</a:t>
                      </a:r>
                      <a:endParaRPr lang="ru-RU" sz="2400" b="1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zero</a:t>
                      </a:r>
                      <a:endParaRPr lang="ru-RU" sz="2400" b="1" kern="1200">
                        <a:solidFill>
                          <a:schemeClr val="accent5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zero</a:t>
                      </a:r>
                      <a:endParaRPr lang="ru-RU" sz="2400" b="1" kern="1200">
                        <a:solidFill>
                          <a:schemeClr val="accent5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</a:t>
                      </a:r>
                      <a:endParaRPr lang="ru-RU" sz="2400" b="1" kern="1200">
                        <a:solidFill>
                          <a:schemeClr val="accent4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9775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√īḍ(III)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ī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ṭṭa-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ī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ḍiṣya-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ai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ḍiṣ-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8374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400" b="1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IV</a:t>
                      </a:r>
                      <a:endParaRPr lang="ru-RU" sz="2400" b="1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</a:t>
                      </a:r>
                      <a:endParaRPr lang="ru-RU" sz="2400" b="1" kern="1200">
                        <a:solidFill>
                          <a:schemeClr val="accent4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</a:t>
                      </a:r>
                      <a:endParaRPr lang="ru-RU" sz="2400" b="1" kern="1200">
                        <a:solidFill>
                          <a:schemeClr val="accent4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</a:t>
                      </a:r>
                      <a:endParaRPr lang="ru-RU" sz="2400" b="1" kern="1200">
                        <a:solidFill>
                          <a:schemeClr val="accent4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7498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baseline="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√cai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(IV)</a:t>
                      </a:r>
                      <a:endParaRPr lang="ru-RU" sz="2400" kern="1200" smtClean="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c</a:t>
                      </a:r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āy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ita-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c</a:t>
                      </a:r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āy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iṣya-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c</a:t>
                      </a:r>
                      <a:r>
                        <a:rPr lang="en-US" sz="2400" b="1" kern="120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āy</a:t>
                      </a:r>
                      <a:r>
                        <a:rPr lang="en-US" sz="2400" kern="1200" smtClean="0">
                          <a:solidFill>
                            <a:prstClr val="black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iṣ-</a:t>
                      </a:r>
                      <a:endParaRPr lang="ru-RU" sz="2400" kern="1200">
                        <a:solidFill>
                          <a:prstClr val="black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23053156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944466" y="1398803"/>
            <a:ext cx="109971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 type 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alternation pattern of a morpheme in three morphological positions.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56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mtClean="0"/>
              <a:t>15</a:t>
            </a:fld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944466" y="501199"/>
            <a:ext cx="1087482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Nomenclature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Issue</a:t>
            </a:r>
            <a:r>
              <a:rPr lang="ru-RU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Solution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944466" y="1455306"/>
            <a:ext cx="1057125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 1:</a:t>
            </a: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uc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uc/oc – </a:t>
            </a:r>
            <a:r>
              <a:rPr lang="en-US" sz="2400" baseline="300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?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auc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be pleased’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uc(I)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//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√uc(III)</a:t>
            </a:r>
            <a:r>
              <a:rPr lang="ru-RU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variants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;</a:t>
            </a:r>
            <a:endParaRPr lang="en-US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uc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vac – vāc ‘to speak’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√uøc(I)</a:t>
            </a:r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guṇa: uac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vac (general sandhi)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  <a:endParaRPr lang="en-US" sz="2400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en-US" sz="2400" b="1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 </a:t>
            </a:r>
            <a:r>
              <a:rPr lang="en-US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2:</a:t>
            </a:r>
            <a:endParaRPr lang="en-US" sz="2400" b="1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vās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shine’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√uøs(I)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distinguished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from √uc-type;</a:t>
            </a:r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vas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vās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‘to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clothe’ </a:t>
            </a:r>
            <a:r>
              <a:rPr lang="en-US" sz="2400" b="1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→ 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vas(II)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distinguished </a:t>
            </a:r>
            <a:r>
              <a:rPr lang="en-US" sz="240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from 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√uøc-type</a:t>
            </a:r>
            <a:r>
              <a:rPr lang="en-US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  <a:endParaRPr lang="en-US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en-US" sz="2400" b="1" smtClean="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lvl="0"/>
            <a:r>
              <a:rPr lang="de-DE" sz="2400" b="1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Morpheme nomenclature rule:</a:t>
            </a:r>
          </a:p>
          <a:p>
            <a:pPr lvl="0"/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The name of morpheme is equal to its form in </a:t>
            </a:r>
            <a:r>
              <a:rPr lang="de-DE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1st morphological position </a:t>
            </a:r>
            <a:r>
              <a:rPr lang="de-DE" sz="2400" smtClean="0">
                <a:solidFill>
                  <a:prstClr val="black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without sandhi.</a:t>
            </a:r>
            <a:endParaRPr lang="de-DE" sz="2400">
              <a:solidFill>
                <a:prstClr val="black"/>
              </a:solidFill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0711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64653-E189-4219-B3EA-844503865102}" type="slidenum">
              <a:rPr lang="ru-RU" sz="1600" smtClean="0">
                <a:solidFill>
                  <a:schemeClr val="tx1"/>
                </a:solidFill>
              </a:rPr>
              <a:t>16</a:t>
            </a:fld>
            <a:endParaRPr lang="ru-RU" sz="1600" dirty="0">
              <a:solidFill>
                <a:schemeClr val="tx1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466441"/>
              </p:ext>
            </p:extLst>
          </p:nvPr>
        </p:nvGraphicFramePr>
        <p:xfrm>
          <a:off x="1329028" y="1111653"/>
          <a:ext cx="9737323" cy="228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6000">
                  <a:extLst>
                    <a:ext uri="{9D8B030D-6E8A-4147-A177-3AD203B41FA5}">
                      <a16:colId xmlns:a16="http://schemas.microsoft.com/office/drawing/2014/main" val="853765172"/>
                    </a:ext>
                  </a:extLst>
                </a:gridCol>
                <a:gridCol w="387819">
                  <a:extLst>
                    <a:ext uri="{9D8B030D-6E8A-4147-A177-3AD203B41FA5}">
                      <a16:colId xmlns:a16="http://schemas.microsoft.com/office/drawing/2014/main" val="4071306353"/>
                    </a:ext>
                  </a:extLst>
                </a:gridCol>
                <a:gridCol w="1137870">
                  <a:extLst>
                    <a:ext uri="{9D8B030D-6E8A-4147-A177-3AD203B41FA5}">
                      <a16:colId xmlns:a16="http://schemas.microsoft.com/office/drawing/2014/main" val="3972072418"/>
                    </a:ext>
                  </a:extLst>
                </a:gridCol>
                <a:gridCol w="573717">
                  <a:extLst>
                    <a:ext uri="{9D8B030D-6E8A-4147-A177-3AD203B41FA5}">
                      <a16:colId xmlns:a16="http://schemas.microsoft.com/office/drawing/2014/main" val="889006194"/>
                    </a:ext>
                  </a:extLst>
                </a:gridCol>
                <a:gridCol w="2878141">
                  <a:extLst>
                    <a:ext uri="{9D8B030D-6E8A-4147-A177-3AD203B41FA5}">
                      <a16:colId xmlns:a16="http://schemas.microsoft.com/office/drawing/2014/main" val="1973149064"/>
                    </a:ext>
                  </a:extLst>
                </a:gridCol>
                <a:gridCol w="1663776">
                  <a:extLst>
                    <a:ext uri="{9D8B030D-6E8A-4147-A177-3AD203B41FA5}">
                      <a16:colId xmlns:a16="http://schemas.microsoft.com/office/drawing/2014/main" val="1357350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</a:t>
                      </a:r>
                      <a:endParaRPr lang="ru-RU" sz="2400" dirty="0">
                        <a:solidFill>
                          <a:srgbClr val="C0000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solidFill>
                            <a:srgbClr val="7030A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B</a:t>
                      </a:r>
                      <a:endParaRPr lang="ru-RU" sz="2400" dirty="0">
                        <a:solidFill>
                          <a:srgbClr val="7030A0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7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</a:t>
                      </a:r>
                      <a:r>
                        <a:rPr lang="en-US" sz="24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ji(I) 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“to win”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j</a:t>
                      </a:r>
                      <a:r>
                        <a:rPr lang="en-US" sz="2400" b="1" dirty="0" err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e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</a:t>
                      </a:r>
                      <a:endParaRPr lang="ru-RU"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5392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√car(II) 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“</a:t>
                      </a:r>
                      <a:r>
                        <a:rPr lang="en-US" sz="24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to </a:t>
                      </a:r>
                      <a:r>
                        <a:rPr lang="en-US" sz="24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move”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c</a:t>
                      </a:r>
                      <a:r>
                        <a:rPr lang="en-US" sz="2400" b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ar</a:t>
                      </a:r>
                      <a:r>
                        <a:rPr lang="en-US" sz="24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iṣya-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guṇa</a:t>
                      </a:r>
                      <a:endParaRPr lang="ru-RU" sz="2400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679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</a:t>
                      </a:r>
                      <a:r>
                        <a:rPr lang="en-US" sz="24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hiṃs(III) 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“to injure”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h</a:t>
                      </a:r>
                      <a:r>
                        <a:rPr lang="en-US" sz="2400" b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ṃsiṣya-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zero</a:t>
                      </a:r>
                      <a:endParaRPr lang="ru-RU" sz="2400" dirty="0">
                        <a:solidFill>
                          <a:schemeClr val="accent5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097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√dhau(IV) 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“to run”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+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-sya- 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=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dh</a:t>
                      </a:r>
                      <a:r>
                        <a:rPr lang="en-US" sz="2400" b="1" dirty="0" err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āv</a:t>
                      </a:r>
                      <a:r>
                        <a:rPr lang="en-US" sz="2400" dirty="0" err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iṣya</a:t>
                      </a:r>
                      <a:r>
                        <a:rPr lang="en-US" sz="2400" dirty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</a:t>
                      </a:r>
                      <a:endParaRPr lang="ru-RU" sz="2400" dirty="0"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vṛddhi</a:t>
                      </a:r>
                      <a:endParaRPr lang="ru-RU" sz="2400" dirty="0">
                        <a:solidFill>
                          <a:schemeClr val="accent4">
                            <a:lumMod val="75000"/>
                          </a:schemeClr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26841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Прямоугольник 4"/>
              <p:cNvSpPr/>
              <p:nvPr/>
            </p:nvSpPr>
            <p:spPr>
              <a:xfrm>
                <a:off x="944466" y="3621885"/>
                <a:ext cx="10868560" cy="28419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2400" b="1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Rule </a:t>
                </a:r>
                <a:r>
                  <a:rPr lang="en-US" sz="2400" b="1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in Whitney: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The root has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the </a:t>
                </a:r>
                <a:r>
                  <a:rPr lang="en-US" sz="2400" b="1" smtClean="0">
                    <a:solidFill>
                      <a:schemeClr val="accent6">
                        <a:lumMod val="75000"/>
                      </a:schemeClr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guṇa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-strengthening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;</a:t>
                </a:r>
                <a:endParaRPr lang="en-US" sz="2400" smtClean="0">
                  <a:solidFill>
                    <a:prstClr val="black"/>
                  </a:solidFill>
                  <a:latin typeface="Charis SIL" panose="02000500060000020004" pitchFamily="2" charset="-52"/>
                  <a:ea typeface="Charis SIL" panose="02000500060000020004" pitchFamily="2" charset="-52"/>
                  <a:cs typeface="Charis SIL" panose="02000500060000020004" pitchFamily="2" charset="-52"/>
                </a:endParaRPr>
              </a:p>
              <a:p>
                <a:pPr lvl="0"/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⇒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≈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110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exceptions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, </a:t>
                </a:r>
                <a:r>
                  <a:rPr lang="en-US" sz="2400" smtClean="0">
                    <a:solidFill>
                      <a:srgbClr val="7030A0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≈87</a:t>
                </a:r>
                <a:r>
                  <a:rPr lang="en-US" sz="2400">
                    <a:solidFill>
                      <a:srgbClr val="7030A0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% 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efficiency</a:t>
                </a:r>
              </a:p>
              <a:p>
                <a:pPr lvl="0"/>
                <a:endParaRPr lang="en-US" sz="2400">
                  <a:solidFill>
                    <a:prstClr val="black"/>
                  </a:solidFill>
                  <a:latin typeface="Charis SIL" panose="02000500060000020004" pitchFamily="2" charset="-52"/>
                  <a:ea typeface="Charis SIL" panose="02000500060000020004" pitchFamily="2" charset="-52"/>
                  <a:cs typeface="Charis SIL" panose="02000500060000020004" pitchFamily="2" charset="-52"/>
                </a:endParaRPr>
              </a:p>
              <a:p>
                <a:pPr lvl="0"/>
                <a:r>
                  <a:rPr lang="en-US" sz="2400" b="1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Rule </a:t>
                </a:r>
                <a:r>
                  <a:rPr lang="en-US" sz="2400" b="1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with </a:t>
                </a:r>
                <a:r>
                  <a:rPr lang="en-US" sz="2400" b="1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Zalizniak’s </a:t>
                </a:r>
                <a:r>
                  <a:rPr lang="en-US" sz="2400" b="1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parameters: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The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root 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is set in the </a:t>
                </a:r>
                <a:r>
                  <a:rPr lang="en-US" sz="2400" smtClean="0">
                    <a:solidFill>
                      <a:srgbClr val="C00000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2nd morphological position</a:t>
                </a:r>
                <a:r>
                  <a:rPr lang="en-US" sz="2400" smtClean="0"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;</a:t>
                </a:r>
              </a:p>
              <a:p>
                <a:pPr lvl="0"/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⇒ 1 exception (√mṛj ‘to wipe’ </a:t>
                </a:r>
                <a:r>
                  <a:rPr lang="en-US" sz="2400" smtClean="0"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→ mārkṣya-, mārjiṣya-</a:t>
                </a:r>
                <a:r>
                  <a:rPr lang="en-US" sz="2400" smtClean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); </a:t>
                </a:r>
              </a:p>
              <a:p>
                <a:pPr lvl="0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haris SIL" panose="02000500060000020004" pitchFamily="2" charset="-52"/>
                            <a:cs typeface="Charis SIL" panose="02000500060000020004" pitchFamily="2" charset="-52"/>
                          </a:rPr>
                        </m:ctrlPr>
                      </m:fPr>
                      <m:num>
                        <m:r>
                          <a:rPr lang="en-US" sz="24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haris SIL" panose="02000500060000020004" pitchFamily="2" charset="-52"/>
                            <a:cs typeface="Charis SIL" panose="02000500060000020004" pitchFamily="2" charset="-52"/>
                          </a:rPr>
                          <m:t>820−</m:t>
                        </m:r>
                        <m:r>
                          <a:rPr lang="en-US" sz="24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haris SIL" panose="02000500060000020004" pitchFamily="2" charset="-52"/>
                            <a:cs typeface="Charis SIL" panose="02000500060000020004" pitchFamily="2" charset="-52"/>
                          </a:rPr>
                          <m:t>1</m:t>
                        </m:r>
                      </m:num>
                      <m:den>
                        <m:r>
                          <a:rPr lang="en-US" sz="24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haris SIL" panose="02000500060000020004" pitchFamily="2" charset="-52"/>
                            <a:cs typeface="Charis SIL" panose="02000500060000020004" pitchFamily="2" charset="-52"/>
                          </a:rPr>
                          <m:t>820</m:t>
                        </m:r>
                      </m:den>
                    </m:f>
                    <m:r>
                      <a:rPr lang="en-US" sz="2400" b="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haris SIL" panose="02000500060000020004" pitchFamily="2" charset="-52"/>
                      </a:rPr>
                      <m:t>×100%</m:t>
                    </m:r>
                  </m:oMath>
                </a14:m>
                <a:r>
                  <a:rPr lang="en-US" sz="2400" dirty="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 </a:t>
                </a:r>
                <a:r>
                  <a:rPr lang="en-US" sz="2400">
                    <a:solidFill>
                      <a:srgbClr val="7030A0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≈ </a:t>
                </a:r>
                <a:r>
                  <a:rPr lang="ru-RU" sz="2400" smtClean="0">
                    <a:solidFill>
                      <a:srgbClr val="7030A0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99.9</a:t>
                </a:r>
                <a:r>
                  <a:rPr lang="en-US" sz="2400" smtClean="0">
                    <a:solidFill>
                      <a:srgbClr val="7030A0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% </a:t>
                </a:r>
                <a:r>
                  <a:rPr lang="en-US" sz="2400">
                    <a:solidFill>
                      <a:prstClr val="black"/>
                    </a:solidFill>
                    <a:latin typeface="Charis SIL" panose="02000500060000020004" pitchFamily="2" charset="-52"/>
                    <a:ea typeface="Charis SIL" panose="02000500060000020004" pitchFamily="2" charset="-52"/>
                    <a:cs typeface="Charis SIL" panose="02000500060000020004" pitchFamily="2" charset="-52"/>
                  </a:rPr>
                  <a:t>efficiency</a:t>
                </a:r>
                <a:endParaRPr lang="en-US" sz="2400">
                  <a:latin typeface="Charis SIL" panose="02000500060000020004" pitchFamily="2" charset="-52"/>
                  <a:ea typeface="Charis SIL" panose="02000500060000020004" pitchFamily="2" charset="-52"/>
                  <a:cs typeface="Charis SIL" panose="02000500060000020004" pitchFamily="2" charset="-52"/>
                </a:endParaRPr>
              </a:p>
            </p:txBody>
          </p:sp>
        </mc:Choice>
        <mc:Fallback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66" y="3621885"/>
                <a:ext cx="10868560" cy="2841932"/>
              </a:xfrm>
              <a:prstGeom prst="rect">
                <a:avLst/>
              </a:prstGeom>
              <a:blipFill>
                <a:blip r:embed="rId2"/>
                <a:stretch>
                  <a:fillRect l="-897" t="-1717" b="-17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944466" y="501199"/>
            <a:ext cx="108685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Rule Issue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Solution</a:t>
            </a:r>
            <a:endParaRPr lang="en-US" dirty="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747302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Defining of Alternation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Parameters</a:t>
            </a:r>
            <a:endParaRPr lang="ru-RU" sz="3200" b="1"/>
          </a:p>
        </p:txBody>
      </p:sp>
      <p:sp>
        <p:nvSpPr>
          <p:cNvPr id="32" name="Прямоугольник 31"/>
          <p:cNvSpPr/>
          <p:nvPr/>
        </p:nvSpPr>
        <p:spPr>
          <a:xfrm>
            <a:off x="944466" y="1326767"/>
            <a:ext cx="1054214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Morphemes of the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1st class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undergo alternation, do not affect alternation: 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roots; e.g. vṛ(I,R1): v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ṛ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ta-, v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ar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iṣya-, v</a:t>
            </a:r>
            <a:r>
              <a:rPr lang="en-US" sz="2400" b="1" smtClean="0">
                <a:solidFill>
                  <a:schemeClr val="accent4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ār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iṣ-;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prefixes in secondary nominal derivation; e.g. vi-√raj → v</a:t>
            </a:r>
            <a:r>
              <a:rPr lang="en-US" sz="2400" b="1" smtClean="0">
                <a:solidFill>
                  <a:schemeClr val="accent4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ai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rāgya-;</a:t>
            </a:r>
          </a:p>
          <a:p>
            <a:pPr lvl="2"/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⇒ define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type, series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</a:p>
          <a:p>
            <a:pPr lvl="2"/>
            <a:endParaRPr lang="en-US" sz="2400" b="1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Morphemes of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the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2nd class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undergo alternation,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affect alternation: 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most suffixes; e.g. present 5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-(1)nu(I,U1)-: k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ṛ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ṇ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anti, k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ṛ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ṇ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ti;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infixes; e.g. present 7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-(1)nø(I,A1)-: y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ṅ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ø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janti, y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kti;</a:t>
            </a:r>
          </a:p>
          <a:p>
            <a:pPr lvl="1"/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⇒ define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type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,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series, morphological position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</a:p>
          <a:p>
            <a:pPr lvl="1"/>
            <a:endParaRPr lang="en-US" sz="2400" b="1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Morphemes of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the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3rd class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do not undergo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alternation, affect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alternation: 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endings;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e.g.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3.sg.P.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-(2/3)ti-: kṛn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ti, st</a:t>
            </a:r>
            <a:r>
              <a:rPr lang="en-US" sz="2400" b="1" smtClean="0">
                <a:solidFill>
                  <a:schemeClr val="accent4">
                    <a:lumMod val="50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au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ti;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absolutive suffixes;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e.g.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-(1/2)tvā: 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ktvā (</a:t>
            </a:r>
            <a:r>
              <a:rPr lang="en-US" sz="2400" b="1" smtClean="0">
                <a:solidFill>
                  <a:schemeClr val="accent5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n̥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ktvā), </a:t>
            </a:r>
            <a:r>
              <a:rPr lang="en-US" sz="2400" b="1" smtClean="0">
                <a:solidFill>
                  <a:schemeClr val="accent6">
                    <a:lumMod val="75000"/>
                  </a:schemeClr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aṅ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ktvā;</a:t>
            </a:r>
          </a:p>
          <a:p>
            <a:pPr lvl="1"/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	⇒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define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morphological position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16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61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Connective Vowel</a:t>
            </a:r>
            <a:r>
              <a:rPr lang="ru-RU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Conditions</a:t>
            </a:r>
            <a:endParaRPr lang="ru-RU" sz="3200" b="1"/>
          </a:p>
        </p:txBody>
      </p:sp>
      <p:sp>
        <p:nvSpPr>
          <p:cNvPr id="32" name="Прямоугольник 31"/>
          <p:cNvSpPr/>
          <p:nvPr/>
        </p:nvSpPr>
        <p:spPr>
          <a:xfrm>
            <a:off x="944465" y="1326767"/>
            <a:ext cx="10558687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onnective vowel could appear between morphemes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and </a:t>
            </a:r>
            <a:r>
              <a:rPr lang="en-US" sz="2400" smtClean="0">
                <a:solidFill>
                  <a:srgbClr val="7030A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B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if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is not ending in ā or zero grade alternation element; </a:t>
            </a:r>
            <a:endParaRPr lang="en-US" sz="2400" b="1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if </a:t>
            </a:r>
            <a:r>
              <a:rPr lang="en-US" sz="2400" smtClean="0">
                <a:solidFill>
                  <a:srgbClr val="7030A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B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has initial consonant (always except y and variable with v and m) and is not an aorist suffix.</a:t>
            </a:r>
          </a:p>
          <a:p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Possible pairs </a:t>
            </a:r>
            <a:r>
              <a:rPr lang="en-US" sz="240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and </a:t>
            </a:r>
            <a:r>
              <a:rPr lang="en-US" sz="2400" smtClean="0">
                <a:solidFill>
                  <a:srgbClr val="7030A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B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</a:t>
            </a:r>
          </a:p>
          <a:p>
            <a:pPr marL="274638" indent="-274638">
              <a:buFont typeface="+mj-lt"/>
              <a:buAutoNum type="arabicPeriod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verbal root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+</a:t>
            </a:r>
            <a:r>
              <a:rPr lang="en-US" sz="2400" smtClean="0">
                <a:solidFill>
                  <a:srgbClr val="7030A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suffix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appears if the general conditions are met and root is seṭ or some kind of veṭ; same for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ī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but with few roots as exceptions;</a:t>
            </a:r>
          </a:p>
          <a:p>
            <a:pPr marL="274638" indent="-274638">
              <a:buFont typeface="+mj-lt"/>
              <a:buAutoNum type="arabicPeriod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verbal root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+ </a:t>
            </a:r>
            <a:r>
              <a:rPr lang="en-US" sz="2400" smtClean="0">
                <a:solidFill>
                  <a:srgbClr val="7030A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ending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i/ī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appears with the certain roots listed as exceptions by now (e.g. bravīti from {brū}, roditi from {rud});</a:t>
            </a:r>
          </a:p>
          <a:p>
            <a:pPr marL="274638" indent="-274638">
              <a:buFont typeface="+mj-lt"/>
              <a:buAutoNum type="arabicPeriod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suffix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+ </a:t>
            </a:r>
            <a:r>
              <a:rPr lang="en-US" sz="2400" smtClean="0">
                <a:solidFill>
                  <a:srgbClr val="7030A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suffix’ </a:t>
            </a:r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b="1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appears if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the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general conditions are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met;</a:t>
            </a:r>
            <a:endParaRPr lang="ru-RU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274638" indent="-274638">
              <a:buFont typeface="+mj-lt"/>
              <a:buAutoNum type="arabicPeriod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case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suffix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+ </a:t>
            </a:r>
            <a:r>
              <a:rPr lang="en-US" sz="2400" smtClean="0">
                <a:solidFill>
                  <a:srgbClr val="7030A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ending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ru-RU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–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ī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only with aorist suffixes -s-, -siṣ-, -sa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-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before 2.sg.P -s and 3.sg.P -t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16</a:t>
            </a:r>
            <a:endParaRPr lang="ru-RU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50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Connective Vowel</a:t>
            </a:r>
            <a:r>
              <a:rPr lang="ru-RU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Seṭ</a:t>
            </a:r>
            <a:r>
              <a:rPr lang="ru-RU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–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Veṭ(s) - Aniṭ</a:t>
            </a:r>
            <a:r>
              <a:rPr lang="ru-RU" sz="32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endParaRPr lang="ru-RU" sz="3200" b="1"/>
          </a:p>
        </p:txBody>
      </p:sp>
      <p:sp>
        <p:nvSpPr>
          <p:cNvPr id="32" name="Прямоугольник 31"/>
          <p:cNvSpPr/>
          <p:nvPr/>
        </p:nvSpPr>
        <p:spPr>
          <a:xfrm>
            <a:off x="944465" y="1326767"/>
            <a:ext cx="1066406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“Seṭ”-parameter</a:t>
            </a:r>
            <a:r>
              <a:rPr lang="ru-RU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is actually required </a:t>
            </a:r>
            <a:r>
              <a:rPr lang="en-US" sz="2400" smtClean="0">
                <a:solidFill>
                  <a:srgbClr val="C00000"/>
                </a:solidFill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only for verbal roots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(case 1, and possibly for case 2, since cases 3 and 4 with suffixes show full regularity):</a:t>
            </a:r>
          </a:p>
        </p:txBody>
      </p:sp>
      <p:sp>
        <p:nvSpPr>
          <p:cNvPr id="5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/>
          <a:lstStyle/>
          <a:p>
            <a:r>
              <a:rPr lang="en-US" sz="1600">
                <a:solidFill>
                  <a:schemeClr val="tx1"/>
                </a:solidFill>
              </a:rPr>
              <a:t>16</a:t>
            </a:r>
            <a:endParaRPr lang="ru-RU" sz="1600" dirty="0">
              <a:solidFill>
                <a:schemeClr val="tx1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382306"/>
              </p:ext>
            </p:extLst>
          </p:nvPr>
        </p:nvGraphicFramePr>
        <p:xfrm>
          <a:off x="944465" y="2510552"/>
          <a:ext cx="10044000" cy="374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1351451407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3814488523"/>
                    </a:ext>
                  </a:extLst>
                </a:gridCol>
                <a:gridCol w="2484000">
                  <a:extLst>
                    <a:ext uri="{9D8B030D-6E8A-4147-A177-3AD203B41FA5}">
                      <a16:colId xmlns:a16="http://schemas.microsoft.com/office/drawing/2014/main" val="2581217396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30745006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1489043016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3664199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Root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future -</a:t>
                      </a:r>
                      <a:r>
                        <a:rPr lang="en-US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sya-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desiderative</a:t>
                      </a:r>
                      <a:r>
                        <a:rPr lang="en-US" sz="2000" b="1" kern="12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-</a:t>
                      </a:r>
                      <a:r>
                        <a:rPr lang="en-US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s-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ppp.</a:t>
                      </a:r>
                      <a:r>
                        <a:rPr lang="ru-RU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-ta-</a:t>
                      </a:r>
                      <a:endParaRPr lang="ru-RU" sz="2000" b="1" kern="1200" smtClean="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Others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67476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seṭ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√aṭ(s)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aṭ</a:t>
                      </a:r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ṣya-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aṭiṭ</a:t>
                      </a:r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aṭ</a:t>
                      </a:r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seṭ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7431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aniṭ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√pac(a)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pakṣya-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pipakṣ-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pakta-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aniṭ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65840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√tap(v)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tapsya- </a:t>
                      </a:r>
                      <a:r>
                        <a:rPr lang="ru-RU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⇔</a:t>
                      </a:r>
                      <a:r>
                        <a:rPr lang="en-US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0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tap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ṣya-</a:t>
                      </a:r>
                      <a:endParaRPr lang="ru-RU" sz="2000" b="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titaps- </a:t>
                      </a:r>
                      <a:r>
                        <a:rPr lang="ru-RU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⇔</a:t>
                      </a:r>
                      <a:r>
                        <a:rPr lang="en-US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000" b="1" baseline="3000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?</a:t>
                      </a:r>
                      <a:r>
                        <a:rPr lang="en-US" sz="20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titap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ṣ-</a:t>
                      </a:r>
                      <a:endParaRPr lang="ru-RU" sz="2000" b="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tapta- </a:t>
                      </a:r>
                      <a:r>
                        <a:rPr lang="ru-RU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⇔</a:t>
                      </a:r>
                      <a:r>
                        <a:rPr lang="en-US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en-US" sz="20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tap</a:t>
                      </a:r>
                      <a:r>
                        <a:rPr lang="en-US" sz="2000" b="1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b="0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ta-</a:t>
                      </a:r>
                      <a:endParaRPr lang="ru-RU" sz="2000" b="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73693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veṭ1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√tras(v1)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takṣya </a:t>
                      </a:r>
                      <a:r>
                        <a:rPr lang="ru-RU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⇔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takṣ</a:t>
                      </a:r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ṣya-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titakṣ- </a:t>
                      </a:r>
                      <a:r>
                        <a:rPr lang="ru-RU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⇔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titakṣ</a:t>
                      </a:r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taṣṭa-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337384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veṭ2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√lap(v2)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lap</a:t>
                      </a:r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ṣya-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lilap</a:t>
                      </a:r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lapta-</a:t>
                      </a:r>
                      <a:r>
                        <a:rPr lang="en-US" sz="2000" kern="12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ru-RU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⇔</a:t>
                      </a:r>
                      <a:r>
                        <a:rPr lang="en-US" sz="2000" kern="12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lap</a:t>
                      </a:r>
                      <a:r>
                        <a:rPr lang="en-US" sz="2000" b="1" kern="1200" baseline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22549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veṭ3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√tras(v3)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tras</a:t>
                      </a:r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ṣya-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titras</a:t>
                      </a:r>
                      <a:r>
                        <a:rPr lang="en-US" sz="2000" b="1" kern="120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trasta-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4098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2000" b="1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veṭ4</a:t>
                      </a:r>
                      <a:endParaRPr lang="ru-RU" sz="2000" b="1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√tyaj(v4)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tyakṣya-</a:t>
                      </a:r>
                      <a:r>
                        <a:rPr lang="en-US" sz="2000" kern="12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</a:t>
                      </a:r>
                      <a:r>
                        <a:rPr lang="ru-RU" sz="2000" b="1" smtClean="0"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⇔</a:t>
                      </a:r>
                      <a:r>
                        <a:rPr lang="en-US" sz="2000" kern="12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 tyaj</a:t>
                      </a:r>
                      <a:r>
                        <a:rPr lang="en-US" sz="2000" b="1" kern="1200" baseline="0" smtClean="0">
                          <a:solidFill>
                            <a:srgbClr val="C00000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i</a:t>
                      </a:r>
                      <a:r>
                        <a:rPr lang="en-US" sz="2000" kern="1200" baseline="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ṣya-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tityakṣ-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tyakta-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smtClean="0">
                          <a:solidFill>
                            <a:schemeClr val="tx1"/>
                          </a:solidFill>
                          <a:latin typeface="Charis SIL" panose="02000500060000020004" pitchFamily="2" charset="-52"/>
                          <a:ea typeface="Charis SIL" panose="02000500060000020004" pitchFamily="2" charset="-52"/>
                          <a:cs typeface="Charis SIL" panose="02000500060000020004" pitchFamily="2" charset="-52"/>
                        </a:rPr>
                        <a:t>veṭ</a:t>
                      </a:r>
                      <a:endParaRPr lang="ru-RU" sz="2000" kern="1200">
                        <a:solidFill>
                          <a:schemeClr val="tx1"/>
                        </a:solidFill>
                        <a:latin typeface="Charis SIL" panose="02000500060000020004" pitchFamily="2" charset="-52"/>
                        <a:ea typeface="Charis SIL" panose="02000500060000020004" pitchFamily="2" charset="-52"/>
                        <a:cs typeface="Charis SIL" panose="02000500060000020004" pitchFamily="2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996018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937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Morphophonological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Processes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</a:t>
            </a:r>
            <a:r>
              <a:rPr lang="en-US" sz="32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Algorithm</a:t>
            </a:r>
            <a:endParaRPr lang="ru-RU" sz="3200"/>
          </a:p>
        </p:txBody>
      </p:sp>
      <p:sp>
        <p:nvSpPr>
          <p:cNvPr id="32" name="Прямоугольник 31"/>
          <p:cNvSpPr/>
          <p:nvPr/>
        </p:nvSpPr>
        <p:spPr>
          <a:xfrm>
            <a:off x="944465" y="1361601"/>
            <a:ext cx="1050730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How to transform a chain of morphemes A+B+…+N into actual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word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AB…N (from AB…N to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A+B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+…+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N backwards)?</a:t>
            </a:r>
            <a:endParaRPr lang="en-US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en-US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Inserting connective vowel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i/ī if required by pair of morphemes;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Alternation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: placement the alternation element of the morpheme according to its type and morphological position provided by following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morpheme;</a:t>
            </a:r>
            <a:endParaRPr lang="en-US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Root reduplication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if required by suffix;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Shift of the alternating element 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to the same grade of another series if reguired by following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morpheme</a:t>
            </a:r>
            <a:r>
              <a:rPr lang="en-US" sz="24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// </a:t>
            </a: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Sandhi in the verbal root alternating element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(see Zalizniak, 1975, Table 1);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General sandhi 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(see Emenau, 1968)</a:t>
            </a:r>
            <a:endParaRPr lang="ru-RU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5687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Morphophonological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Generator</a:t>
            </a:r>
            <a:endParaRPr lang="ru-RU" sz="3200"/>
          </a:p>
        </p:txBody>
      </p:sp>
      <p:sp>
        <p:nvSpPr>
          <p:cNvPr id="32" name="Прямоугольник 31"/>
          <p:cNvSpPr/>
          <p:nvPr/>
        </p:nvSpPr>
        <p:spPr>
          <a:xfrm>
            <a:off x="944465" y="1361601"/>
            <a:ext cx="105073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здесь будет перфект от √</a:t>
            </a:r>
            <a:r>
              <a:rPr lang="en-US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uøc</a:t>
            </a:r>
            <a:endParaRPr lang="ru-RU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2593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4466" y="501199"/>
            <a:ext cx="10664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Spellchecking Scanned Documents</a:t>
            </a:r>
            <a:endParaRPr lang="ru-RU" sz="3200"/>
          </a:p>
        </p:txBody>
      </p:sp>
      <p:sp>
        <p:nvSpPr>
          <p:cNvPr id="32" name="Прямоугольник 31"/>
          <p:cNvSpPr/>
          <p:nvPr/>
        </p:nvSpPr>
        <p:spPr>
          <a:xfrm>
            <a:off x="944465" y="1361601"/>
            <a:ext cx="105073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здесь будет про Брахма-упанишаду</a:t>
            </a:r>
            <a:endParaRPr lang="ru-RU" sz="240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ru-RU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endParaRPr lang="ru-RU" sz="24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52596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2768" y="697012"/>
            <a:ext cx="99538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Thank you for </a:t>
            </a:r>
            <a:r>
              <a:rPr lang="en-US" sz="32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attention!</a:t>
            </a:r>
            <a:endParaRPr lang="ru-RU" sz="3200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132" y="2158517"/>
            <a:ext cx="48162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Morphological tools</a:t>
            </a:r>
          </a:p>
          <a:p>
            <a:pPr algn="ctr"/>
            <a:r>
              <a:rPr lang="en-US" sz="28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based on this approach</a:t>
            </a:r>
          </a:p>
          <a:p>
            <a:pPr algn="ctr"/>
            <a:r>
              <a:rPr lang="en-US" sz="28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(A. Shirobokov)</a:t>
            </a:r>
            <a:endParaRPr lang="ru-RU" sz="2800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29086" y="1966928"/>
            <a:ext cx="57752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«</a:t>
            </a:r>
            <a:r>
              <a:rPr lang="en-US" sz="28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Morphophonological Classification of the Ancient Indian Language Verbal Roots</a:t>
            </a:r>
            <a:r>
              <a:rPr lang="ru-RU" sz="28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»</a:t>
            </a:r>
            <a:endParaRPr lang="en-US" sz="2800" smtClean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  <a:p>
            <a:pPr algn="ctr"/>
            <a:r>
              <a:rPr lang="en-US" sz="28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A</a:t>
            </a:r>
            <a:r>
              <a:rPr lang="en-US" sz="28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. </a:t>
            </a:r>
            <a:r>
              <a:rPr lang="en-US" sz="28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Zalizniak</a:t>
            </a:r>
            <a:r>
              <a:rPr lang="en-US" sz="280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 </a:t>
            </a:r>
            <a:r>
              <a:rPr lang="en-US" sz="2800" smtClean="0">
                <a:latin typeface="Charis SIL" panose="02000500060000020004" pitchFamily="2" charset="-52"/>
                <a:ea typeface="Charis SIL" panose="02000500060000020004" pitchFamily="2" charset="-52"/>
                <a:cs typeface="Charis SIL" panose="02000500060000020004" pitchFamily="2" charset="-52"/>
              </a:rPr>
              <a:t>(english) </a:t>
            </a:r>
            <a:endParaRPr lang="ru-RU" sz="2800" dirty="0">
              <a:latin typeface="Charis SIL" panose="02000500060000020004" pitchFamily="2" charset="-52"/>
              <a:ea typeface="Charis SIL" panose="02000500060000020004" pitchFamily="2" charset="-52"/>
              <a:cs typeface="Charis SIL" panose="0200050006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29357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8420</TotalTime>
  <Words>1600</Words>
  <Application>Microsoft Office PowerPoint</Application>
  <PresentationFormat>Широкоэкранный</PresentationFormat>
  <Paragraphs>460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Charis SIL</vt:lpstr>
      <vt:lpstr>Тема Office</vt:lpstr>
      <vt:lpstr>A NonPaninian Approach to Sanskrit Morphophonology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Расширение морфологического метода А.А. Зализняка</dc:title>
  <dc:creator>Иван</dc:creator>
  <cp:lastModifiedBy>Иван</cp:lastModifiedBy>
  <cp:revision>652</cp:revision>
  <dcterms:created xsi:type="dcterms:W3CDTF">2023-12-13T06:12:42Z</dcterms:created>
  <dcterms:modified xsi:type="dcterms:W3CDTF">2025-06-18T14:32:16Z</dcterms:modified>
</cp:coreProperties>
</file>